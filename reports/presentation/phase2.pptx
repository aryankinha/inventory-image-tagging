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mn-lt"/>
              </a:defRPr>
            </a:pPr>
            <a:r>
              <a:rPr sz="1400" b="0" i="0" u="none" strike="noStrike">
                <a:solidFill>
                  <a:srgbClr val="1B2A41"/>
                </a:solidFill>
                <a:latin typeface="+mn-lt"/>
              </a:rPr>
              <a:t>Validation macro F1</a:t>
            </a:r>
          </a:p>
        </c:rich>
      </c:tx>
      <c:layout/>
      <c:overlay val="0"/>
    </c:title>
    <c:autoTitleDeleted val="0"/>
    <c:plotArea>
      <c:layout/>
      <c:barChart>
        <c:barDir val="bar"/>
        <c:grouping val="clustered"/>
        <c:varyColors val="0"/>
        <c:ser>
          <c:idx val="0"/>
          <c:order val="0"/>
          <c:tx>
            <c:strRef>
              <c:f>Sheet1!$B$1</c:f>
              <c:strCache>
                <c:ptCount val="1"/>
                <c:pt idx="0">
                  <c:v>Validation macro F1</c:v>
                </c:pt>
              </c:strCache>
            </c:strRef>
          </c:tx>
          <c:spPr>
            <a:solidFill>
              <a:srgbClr val="2A9D8F"/>
            </a:solidFill>
            <a:effectLst/>
          </c:spPr>
          <c:invertIfNegative val="0"/>
          <c:dLbls>
            <c:numFmt formatCode="0.0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cat>
            <c:multiLvlStrRef>
              <c:f>Sheet1!$A$2:$A$5</c:f>
              <c:multiLvlStrCache>
                <c:ptCount val="4"/>
                <c:lvl>
                  <c:pt idx="0">
                    <c:v>Untrained CNN features + RF</c:v>
                  </c:pt>
                  <c:pt idx="1">
                    <c:v>CNN last layer</c:v>
                  </c:pt>
                  <c:pt idx="2">
                    <c:v>CNN features + Logistic Reg.</c:v>
                  </c:pt>
                  <c:pt idx="3">
                    <c:v>CNN features + Random Forest</c:v>
                  </c:pt>
                </c:lvl>
              </c:multiLvlStrCache>
            </c:multiLvlStrRef>
          </c:cat>
          <c:val>
            <c:numRef>
              <c:f>Sheet1!$B$2:$B$5</c:f>
              <c:numCache>
                <c:formatCode>General</c:formatCode>
                <c:ptCount val="4"/>
                <c:pt idx="0">
                  <c:v>0.7944</c:v>
                </c:pt>
                <c:pt idx="1">
                  <c:v>0.9264</c:v>
                </c:pt>
                <c:pt idx="2">
                  <c:v>0.9316</c:v>
                </c:pt>
                <c:pt idx="3">
                  <c:v>0.9324</c:v>
                </c:pt>
              </c:numCache>
            </c:numRef>
          </c:val>
        </c:ser>
        <c:dLbls>
          <c:numFmt formatCode="0.0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1"/>
          <c:min val="0.7"/>
        </c:scaling>
        <c:delete val="0"/>
        <c:axPos val="b"/>
        <c:majorGridlines>
          <c:spPr>
            <a:ln w="6350" cap="flat">
              <a:solidFill>
                <a:srgbClr val="D5DCE4"/>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B"/>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mn-lt"/>
              </a:defRPr>
            </a:pPr>
            <a:r>
              <a:rPr sz="1400" b="0" i="0" u="none" strike="noStrike">
                <a:solidFill>
                  <a:srgbClr val="1B2A41"/>
                </a:solidFill>
                <a:latin typeface="+mn-lt"/>
              </a:rPr>
              <a:t>Test accuracy (%)</a:t>
            </a:r>
          </a:p>
        </c:rich>
      </c:tx>
      <c:layout/>
      <c:overlay val="0"/>
    </c:title>
    <c:autoTitleDeleted val="0"/>
    <c:plotArea>
      <c:layout/>
      <c:barChart>
        <c:barDir val="col"/>
        <c:grouping val="clustered"/>
        <c:varyColors val="0"/>
        <c:ser>
          <c:idx val="0"/>
          <c:order val="0"/>
          <c:tx>
            <c:strRef>
              <c:f>Sheet1!$B$1</c:f>
              <c:strCache>
                <c:ptCount val="1"/>
                <c:pt idx="0">
                  <c:v>Test accuracy (%)</c:v>
                </c:pt>
              </c:strCache>
            </c:strRef>
          </c:tx>
          <c:spPr>
            <a:solidFill>
              <a:srgbClr val="9AA5B1"/>
            </a:solidFill>
            <a:effectLst/>
          </c:spPr>
          <c:invertIfNegative val="0"/>
          <c:dLbls>
            <c:numFmt formatCode="0.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9AA5B1"/>
              </a:solidFill>
              <a:effectLst/>
            </c:spPr>
          </c:dPt>
          <c:dPt>
            <c:idx val="1"/>
            <c:invertIfNegative val="0"/>
            <c:bubble3D val="0"/>
            <c:spPr>
              <a:solidFill>
                <a:srgbClr val="2A9D8F"/>
              </a:solidFill>
              <a:effectLst/>
            </c:spPr>
          </c:dPt>
          <c:dPt>
            <c:idx val="2"/>
            <c:invertIfNegative val="0"/>
            <c:bubble3D val="0"/>
            <c:spPr>
              <a:solidFill>
                <a:srgbClr val="2A9D8F"/>
              </a:solidFill>
              <a:effectLst/>
            </c:spPr>
          </c:dPt>
          <c:cat>
            <c:multiLvlStrRef>
              <c:f>Sheet1!$A$2:$A$4</c:f>
              <c:multiLvlStrCache>
                <c:ptCount val="3"/>
                <c:lvl>
                  <c:pt idx="0">
                    <c:v>Phase 1: Pixels + RF</c:v>
                  </c:pt>
                  <c:pt idx="1">
                    <c:v>CNN</c:v>
                  </c:pt>
                  <c:pt idx="2">
                    <c:v>Hybrid</c:v>
                  </c:pt>
                </c:lvl>
              </c:multiLvlStrCache>
            </c:multiLvlStrRef>
          </c:cat>
          <c:val>
            <c:numRef>
              <c:f>Sheet1!$B$2:$B$4</c:f>
              <c:numCache>
                <c:formatCode>General</c:formatCode>
                <c:ptCount val="3"/>
                <c:pt idx="0">
                  <c:v>87.61</c:v>
                </c:pt>
                <c:pt idx="1">
                  <c:v>91.98</c:v>
                </c:pt>
                <c:pt idx="2">
                  <c:v>92.49</c:v>
                </c:pt>
              </c:numCache>
            </c:numRef>
          </c:val>
        </c:ser>
        <c:dLbls>
          <c:numFmt formatCode="0.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95"/>
          <c:min val="80"/>
        </c:scaling>
        <c:delete val="0"/>
        <c:axPos val="l"/>
        <c:majorGridlines>
          <c:spPr>
            <a:ln w="6350" cap="flat">
              <a:solidFill>
                <a:srgbClr val="D5DC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adds a small CNN to the Phase 1 project. Same 48,000 training, 12,000 validation and 10,000 official test pictures. All three accuracies are on the official test set, scored once after the choices were frozen. CNN and hybrid are means of three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whether a CNN resolves visually similar categories better than fixed image descriptors. In Phase 1 the best model found only 59.2 percent of shirts, confusing them with T-shirts, pullovers and coats. A convolution looks at neighbourhoods directly and learns its own filters.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Convolution with 3 by 3 filters, batch normalisation, ReLU and max pooling, twice. Pictures shrink from 28 to 14 to 7. Two dense layers give a 64-number summary of each picture. The CNN head is one linear layer. The hybrid keeps the trained network and fits a Phase 1 classifier on those 64 numbers. We used two blocks because a third pooling would leave a 3 by 3 map; the ablation tests a third block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removed one ingredient at a time from the full model and trained each version with three seeds. Validation macro F1 ranges from 0.9195 to 0.9282. Differences are about the size of the seed spread, so we rank loosely. Dropout of 0.4 hurt by 0.8 points. We added dropout 0.2 after seeing that, judged on validation data only. The brief asks for dropout, so the final model is the best version that uses it: light dropout at 0.9264. The best overall, no dropout, is 0.0018 higher, less than one standard deviation.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justification: the final layer is one linear map, while a forest or margin classifier may draw a better boundary around the same 64 learned numbers. Two checks keep the claim honest. The comparison is the CNN own last layer at 0.9264. The control uses an untrained CNN of the same shape at 0.7944, so training, not shape alone, makes the features useful. Logistic regression, linear SVM and Random Forest land within 0.15 points of each other, so the gain comes from refitting on the learned features rather than from the forest. Note the bar axis starts at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10,000 test pictures, scored once after the choices were saved in frozen.json. CNN is 91.98 plus or minus 0.24 over three seeds; hybrid 92.49 plus or minus 0.19. The bootstrap resamples the same test pictures 2,000 times for the seed 42 models. Shirt remains the hardest category, with about one in four still wrong. Cost: the CNN takes 0.17 ms per picture on the CPU, the Phase 1 forest 24.98 ms, and the hybrid 25.88 ms because its 400-tree forest dominates.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limits yourself before being asked. The hybrid classifier is fitted on training-picture features from a network that saw those pictures, which can make them look cleaner than features of new pictures. Light dropout and the final-model rule were decided after seeing validation results; the test set played no part. Everything is in the repository: report, notebook, tests, saved predictions and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804672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8046720" cy="1188720"/>
          </a:xfrm>
          <a:prstGeom prst="rect">
            <a:avLst/>
          </a:prstGeom>
          <a:noFill/>
          <a:ln/>
        </p:spPr>
        <p:txBody>
          <a:bodyPr wrap="square" lIns="0" tIns="0" rIns="0" bIns="0" rtlCol="0" anchor="t"/>
          <a:lstStyle/>
          <a:p>
            <a:pPr algn="l" indent="0" marL="0">
              <a:buNone/>
            </a:pPr>
            <a:r>
              <a:rPr lang="en-US" sz="4000" b="1" dirty="0">
                <a:solidFill>
                  <a:schemeClr val="bg1"/>
                </a:solidFill>
              </a:rPr>
              <a:t>Inventory Image Tagging, Phase 2</a:t>
            </a:r>
            <a:endParaRPr lang="en-US" sz="4000" dirty="0"/>
          </a:p>
        </p:txBody>
      </p:sp>
      <p:sp>
        <p:nvSpPr>
          <p:cNvPr id="3" name="Text 1"/>
          <p:cNvSpPr txBox="1"/>
          <p:nvPr/>
        </p:nvSpPr>
        <p:spPr>
          <a:xfrm>
            <a:off x="548640" y="2011680"/>
            <a:ext cx="7680960" cy="640080"/>
          </a:xfrm>
          <a:prstGeom prst="rect">
            <a:avLst/>
          </a:prstGeom>
          <a:noFill/>
          <a:ln/>
        </p:spPr>
        <p:txBody>
          <a:bodyPr wrap="square" lIns="0" tIns="0" rIns="0" bIns="0" rtlCol="0" anchor="t"/>
          <a:lstStyle/>
          <a:p>
            <a:pPr indent="0" marL="0">
              <a:buNone/>
            </a:pPr>
            <a:r>
              <a:rPr lang="en-US" sz="1800" dirty="0">
                <a:solidFill>
                  <a:schemeClr val="accent6"/>
                </a:solidFill>
              </a:rPr>
              <a:t>A small CNN, an ablation study and a hybrid. Same data and the same fair test as Phase 1.</a:t>
            </a:r>
            <a:endParaRPr lang="en-US" sz="1800" dirty="0"/>
          </a:p>
        </p:txBody>
      </p:sp>
      <p:sp>
        <p:nvSpPr>
          <p:cNvPr id="4" name="Stat card 1"/>
          <p:cNvSpPr/>
          <p:nvPr/>
        </p:nvSpPr>
        <p:spPr>
          <a:xfrm>
            <a:off x="548640" y="2926080"/>
            <a:ext cx="2606040" cy="1554480"/>
          </a:xfrm>
          <a:prstGeom prst="roundRect">
            <a:avLst>
              <a:gd name="adj" fmla="val 4706"/>
            </a:avLst>
          </a:prstGeom>
          <a:solidFill>
            <a:schemeClr val="tx2"/>
          </a:solidFill>
          <a:ln w="12700">
            <a:solidFill>
              <a:schemeClr val="tx2"/>
            </a:solidFill>
            <a:prstDash val="solid"/>
          </a:ln>
        </p:spPr>
      </p:sp>
      <p:sp>
        <p:nvSpPr>
          <p:cNvPr id="5" name="Stat 1"/>
          <p:cNvSpPr txBox="1"/>
          <p:nvPr/>
        </p:nvSpPr>
        <p:spPr>
          <a:xfrm>
            <a:off x="685800" y="3017520"/>
            <a:ext cx="2331720" cy="731520"/>
          </a:xfrm>
          <a:prstGeom prst="rect">
            <a:avLst/>
          </a:prstGeom>
          <a:noFill/>
          <a:ln/>
        </p:spPr>
        <p:txBody>
          <a:bodyPr wrap="square" lIns="0" tIns="0" rIns="0" bIns="0" rtlCol="0" anchor="ctr"/>
          <a:lstStyle/>
          <a:p>
            <a:pPr indent="0" marL="0">
              <a:buNone/>
            </a:pPr>
            <a:r>
              <a:rPr lang="en-US" sz="4000" b="1" dirty="0">
                <a:solidFill>
                  <a:schemeClr val="accent6"/>
                </a:solidFill>
              </a:rPr>
              <a:t>87.61%</a:t>
            </a:r>
            <a:endParaRPr lang="en-US" sz="4000" dirty="0"/>
          </a:p>
        </p:txBody>
      </p:sp>
      <p:sp>
        <p:nvSpPr>
          <p:cNvPr id="6" name="Stat label 1"/>
          <p:cNvSpPr txBox="1"/>
          <p:nvPr/>
        </p:nvSpPr>
        <p:spPr>
          <a:xfrm>
            <a:off x="685800" y="3794760"/>
            <a:ext cx="2331720" cy="594360"/>
          </a:xfrm>
          <a:prstGeom prst="rect">
            <a:avLst/>
          </a:prstGeom>
          <a:noFill/>
          <a:ln/>
        </p:spPr>
        <p:txBody>
          <a:bodyPr wrap="square" lIns="0" tIns="0" rIns="0" bIns="0" rtlCol="0" anchor="ctr"/>
          <a:lstStyle/>
          <a:p>
            <a:pPr indent="0" marL="0">
              <a:buNone/>
            </a:pPr>
            <a:r>
              <a:rPr lang="en-US" sz="1400" dirty="0">
                <a:solidFill>
                  <a:schemeClr val="bg1"/>
                </a:solidFill>
              </a:rPr>
              <a:t>Phase 1 best</a:t>
            </a:r>
            <a:endParaRPr lang="en-US" sz="1400" dirty="0"/>
          </a:p>
          <a:p>
            <a:pPr indent="0" marL="0">
              <a:buNone/>
            </a:pPr>
            <a:r>
              <a:rPr lang="en-US" sz="1400" dirty="0">
                <a:solidFill>
                  <a:schemeClr val="bg1"/>
                </a:solidFill>
              </a:rPr>
              <a:t>(Pixels + Random Forest)</a:t>
            </a:r>
            <a:endParaRPr lang="en-US" sz="1400" dirty="0"/>
          </a:p>
        </p:txBody>
      </p:sp>
      <p:sp>
        <p:nvSpPr>
          <p:cNvPr id="7" name="Stat card 2"/>
          <p:cNvSpPr/>
          <p:nvPr/>
        </p:nvSpPr>
        <p:spPr>
          <a:xfrm>
            <a:off x="3337560" y="2926080"/>
            <a:ext cx="2606040" cy="1554480"/>
          </a:xfrm>
          <a:prstGeom prst="roundRect">
            <a:avLst>
              <a:gd name="adj" fmla="val 4706"/>
            </a:avLst>
          </a:prstGeom>
          <a:solidFill>
            <a:schemeClr val="tx2"/>
          </a:solidFill>
          <a:ln w="12700">
            <a:solidFill>
              <a:schemeClr val="tx2"/>
            </a:solidFill>
            <a:prstDash val="solid"/>
          </a:ln>
        </p:spPr>
      </p:sp>
      <p:sp>
        <p:nvSpPr>
          <p:cNvPr id="8" name="Stat 2"/>
          <p:cNvSpPr txBox="1"/>
          <p:nvPr/>
        </p:nvSpPr>
        <p:spPr>
          <a:xfrm>
            <a:off x="3474720" y="3017520"/>
            <a:ext cx="2331720" cy="731520"/>
          </a:xfrm>
          <a:prstGeom prst="rect">
            <a:avLst/>
          </a:prstGeom>
          <a:noFill/>
          <a:ln/>
        </p:spPr>
        <p:txBody>
          <a:bodyPr wrap="square" lIns="0" tIns="0" rIns="0" bIns="0" rtlCol="0" anchor="ctr"/>
          <a:lstStyle/>
          <a:p>
            <a:pPr indent="0" marL="0">
              <a:buNone/>
            </a:pPr>
            <a:r>
              <a:rPr lang="en-US" sz="4000" b="1" dirty="0">
                <a:solidFill>
                  <a:schemeClr val="accent1"/>
                </a:solidFill>
              </a:rPr>
              <a:t>91.98%</a:t>
            </a:r>
            <a:endParaRPr lang="en-US" sz="4000" dirty="0"/>
          </a:p>
        </p:txBody>
      </p:sp>
      <p:sp>
        <p:nvSpPr>
          <p:cNvPr id="9" name="Stat label 2"/>
          <p:cNvSpPr txBox="1"/>
          <p:nvPr/>
        </p:nvSpPr>
        <p:spPr>
          <a:xfrm>
            <a:off x="3474720" y="3794760"/>
            <a:ext cx="2331720" cy="594360"/>
          </a:xfrm>
          <a:prstGeom prst="rect">
            <a:avLst/>
          </a:prstGeom>
          <a:noFill/>
          <a:ln/>
        </p:spPr>
        <p:txBody>
          <a:bodyPr wrap="square" lIns="0" tIns="0" rIns="0" bIns="0" rtlCol="0" anchor="ctr"/>
          <a:lstStyle/>
          <a:p>
            <a:pPr indent="0" marL="0">
              <a:buNone/>
            </a:pPr>
            <a:r>
              <a:rPr lang="en-US" sz="1400" dirty="0">
                <a:solidFill>
                  <a:schemeClr val="bg1"/>
                </a:solidFill>
              </a:rPr>
              <a:t>Small CNN</a:t>
            </a:r>
            <a:endParaRPr lang="en-US" sz="1400" dirty="0"/>
          </a:p>
          <a:p>
            <a:pPr indent="0" marL="0">
              <a:buNone/>
            </a:pPr>
            <a:r>
              <a:rPr lang="en-US" sz="1400" dirty="0">
                <a:solidFill>
                  <a:schemeClr val="bg1"/>
                </a:solidFill>
              </a:rPr>
              <a:t>(mean of 3 seeds)</a:t>
            </a:r>
            <a:endParaRPr lang="en-US" sz="1400" dirty="0"/>
          </a:p>
        </p:txBody>
      </p:sp>
      <p:sp>
        <p:nvSpPr>
          <p:cNvPr id="10" name="Stat card 3"/>
          <p:cNvSpPr/>
          <p:nvPr/>
        </p:nvSpPr>
        <p:spPr>
          <a:xfrm>
            <a:off x="6126480" y="2926080"/>
            <a:ext cx="2606040" cy="1554480"/>
          </a:xfrm>
          <a:prstGeom prst="roundRect">
            <a:avLst>
              <a:gd name="adj" fmla="val 4706"/>
            </a:avLst>
          </a:prstGeom>
          <a:solidFill>
            <a:schemeClr val="tx2"/>
          </a:solidFill>
          <a:ln w="12700">
            <a:solidFill>
              <a:schemeClr val="tx2"/>
            </a:solidFill>
            <a:prstDash val="solid"/>
          </a:ln>
        </p:spPr>
      </p:sp>
      <p:sp>
        <p:nvSpPr>
          <p:cNvPr id="11" name="Stat 3"/>
          <p:cNvSpPr txBox="1"/>
          <p:nvPr/>
        </p:nvSpPr>
        <p:spPr>
          <a:xfrm>
            <a:off x="6263640" y="3017520"/>
            <a:ext cx="2331720" cy="731520"/>
          </a:xfrm>
          <a:prstGeom prst="rect">
            <a:avLst/>
          </a:prstGeom>
          <a:noFill/>
          <a:ln/>
        </p:spPr>
        <p:txBody>
          <a:bodyPr wrap="square" lIns="0" tIns="0" rIns="0" bIns="0" rtlCol="0" anchor="ctr"/>
          <a:lstStyle/>
          <a:p>
            <a:pPr indent="0" marL="0">
              <a:buNone/>
            </a:pPr>
            <a:r>
              <a:rPr lang="en-US" sz="4000" b="1" dirty="0">
                <a:solidFill>
                  <a:schemeClr val="accent4"/>
                </a:solidFill>
              </a:rPr>
              <a:t>92.49%</a:t>
            </a:r>
            <a:endParaRPr lang="en-US" sz="4000" dirty="0"/>
          </a:p>
        </p:txBody>
      </p:sp>
      <p:sp>
        <p:nvSpPr>
          <p:cNvPr id="12" name="Stat label 3"/>
          <p:cNvSpPr txBox="1"/>
          <p:nvPr/>
        </p:nvSpPr>
        <p:spPr>
          <a:xfrm>
            <a:off x="6263640" y="3794760"/>
            <a:ext cx="2331720" cy="594360"/>
          </a:xfrm>
          <a:prstGeom prst="rect">
            <a:avLst/>
          </a:prstGeom>
          <a:noFill/>
          <a:ln/>
        </p:spPr>
        <p:txBody>
          <a:bodyPr wrap="square" lIns="0" tIns="0" rIns="0" bIns="0" rtlCol="0" anchor="ctr"/>
          <a:lstStyle/>
          <a:p>
            <a:pPr indent="0" marL="0">
              <a:buNone/>
            </a:pPr>
            <a:r>
              <a:rPr lang="en-US" sz="1400" dirty="0">
                <a:solidFill>
                  <a:schemeClr val="bg1"/>
                </a:solidFill>
              </a:rPr>
              <a:t>Hybrid: CNN features</a:t>
            </a:r>
            <a:endParaRPr lang="en-US" sz="1400" dirty="0"/>
          </a:p>
          <a:p>
            <a:pPr indent="0" marL="0">
              <a:buNone/>
            </a:pPr>
            <a:r>
              <a:rPr lang="en-US" sz="1400" dirty="0">
                <a:solidFill>
                  <a:schemeClr val="bg1"/>
                </a:solidFill>
              </a:rPr>
              <a:t>+ Random Forest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chemeClr val="tx1"/>
                </a:solidFill>
              </a:rPr>
              <a:t>Phase 1 mixed up shirts, pullovers and coats</a:t>
            </a:r>
            <a:endParaRPr lang="en-US" sz="2800" dirty="0"/>
          </a:p>
        </p:txBody>
      </p:sp>
      <p:sp>
        <p:nvSpPr>
          <p:cNvPr id="3" name="Phase 1 card"/>
          <p:cNvSpPr/>
          <p:nvPr/>
        </p:nvSpPr>
        <p:spPr>
          <a:xfrm>
            <a:off x="457200" y="1280160"/>
            <a:ext cx="3931920" cy="2651760"/>
          </a:xfrm>
          <a:prstGeom prst="roundRect">
            <a:avLst>
              <a:gd name="adj" fmla="val 2759"/>
            </a:avLst>
          </a:prstGeom>
          <a:solidFill>
            <a:schemeClr val="bg2"/>
          </a:solidFill>
          <a:ln w="12700">
            <a:solidFill>
              <a:schemeClr val="bg2"/>
            </a:solidFill>
            <a:prstDash val="solid"/>
          </a:ln>
        </p:spPr>
      </p:sp>
      <p:sp>
        <p:nvSpPr>
          <p:cNvPr id="4" name="CNN card"/>
          <p:cNvSpPr/>
          <p:nvPr/>
        </p:nvSpPr>
        <p:spPr>
          <a:xfrm>
            <a:off x="4754880" y="1280160"/>
            <a:ext cx="3931920" cy="2651760"/>
          </a:xfrm>
          <a:prstGeom prst="roundRect">
            <a:avLst>
              <a:gd name="adj" fmla="val 2759"/>
            </a:avLst>
          </a:prstGeom>
          <a:solidFill>
            <a:schemeClr val="bg2"/>
          </a:solidFill>
          <a:ln w="12700">
            <a:solidFill>
              <a:schemeClr val="bg2"/>
            </a:solidFill>
            <a:prstDash val="solid"/>
          </a:ln>
        </p:spPr>
      </p:sp>
      <p:sp>
        <p:nvSpPr>
          <p:cNvPr id="5" name="Text 3"/>
          <p:cNvSpPr txBox="1"/>
          <p:nvPr/>
        </p:nvSpPr>
        <p:spPr>
          <a:xfrm>
            <a:off x="685800" y="1463040"/>
            <a:ext cx="3474720" cy="365760"/>
          </a:xfrm>
          <a:prstGeom prst="rect">
            <a:avLst/>
          </a:prstGeom>
          <a:noFill/>
          <a:ln/>
        </p:spPr>
        <p:txBody>
          <a:bodyPr wrap="square" lIns="0" tIns="0" rIns="0" bIns="0" rtlCol="0" anchor="t"/>
          <a:lstStyle/>
          <a:p>
            <a:pPr indent="0" marL="0">
              <a:buNone/>
            </a:pPr>
            <a:r>
              <a:rPr lang="en-US" sz="2000" b="1" dirty="0">
                <a:solidFill>
                  <a:schemeClr val="accent2"/>
                </a:solidFill>
              </a:rPr>
              <a:t>Phase 1: fixed description</a:t>
            </a:r>
            <a:endParaRPr lang="en-US" sz="2000" dirty="0"/>
          </a:p>
        </p:txBody>
      </p:sp>
      <p:sp>
        <p:nvSpPr>
          <p:cNvPr id="6" name="Text 4"/>
          <p:cNvSpPr txBox="1"/>
          <p:nvPr/>
        </p:nvSpPr>
        <p:spPr>
          <a:xfrm>
            <a:off x="685800" y="1965960"/>
            <a:ext cx="352044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Pixels or HOG edges, chosen before the model sees any data</a:t>
            </a:r>
            <a:endParaRPr lang="en-US" sz="1600" dirty="0"/>
          </a:p>
          <a:p>
            <a:pPr marL="342900" indent="-342900">
              <a:spcAft>
                <a:spcPts val="800"/>
              </a:spcAft>
              <a:buSzPct val="100000"/>
              <a:buChar char="•"/>
            </a:pPr>
            <a:r>
              <a:rPr lang="en-US" sz="1600" dirty="0">
                <a:solidFill>
                  <a:schemeClr val="tx1"/>
                </a:solidFill>
              </a:rPr>
              <a:t>Flattened pixels lose which pixels are neighbours</a:t>
            </a:r>
            <a:endParaRPr lang="en-US" sz="1600" dirty="0"/>
          </a:p>
          <a:p>
            <a:pPr marL="342900" indent="-342900">
              <a:spcAft>
                <a:spcPts val="800"/>
              </a:spcAft>
              <a:buSzPct val="100000"/>
              <a:buChar char="•"/>
            </a:pPr>
            <a:r>
              <a:rPr lang="en-US" sz="1600" dirty="0">
                <a:solidFill>
                  <a:schemeClr val="tx1"/>
                </a:solidFill>
              </a:rPr>
              <a:t>Only 59.2% of shirts found</a:t>
            </a:r>
            <a:endParaRPr lang="en-US" sz="1600" dirty="0"/>
          </a:p>
        </p:txBody>
      </p:sp>
      <p:sp>
        <p:nvSpPr>
          <p:cNvPr id="7" name="Text 5"/>
          <p:cNvSpPr txBox="1"/>
          <p:nvPr/>
        </p:nvSpPr>
        <p:spPr>
          <a:xfrm>
            <a:off x="4983480" y="1463040"/>
            <a:ext cx="3474720" cy="365760"/>
          </a:xfrm>
          <a:prstGeom prst="rect">
            <a:avLst/>
          </a:prstGeom>
          <a:noFill/>
          <a:ln/>
        </p:spPr>
        <p:txBody>
          <a:bodyPr wrap="square" lIns="0" tIns="0" rIns="0" bIns="0" rtlCol="0" anchor="t"/>
          <a:lstStyle/>
          <a:p>
            <a:pPr indent="0" marL="0">
              <a:buNone/>
            </a:pPr>
            <a:r>
              <a:rPr lang="en-US" sz="2000" b="1" dirty="0">
                <a:solidFill>
                  <a:schemeClr val="accent1"/>
                </a:solidFill>
              </a:rPr>
              <a:t>Phase 2: learned description</a:t>
            </a:r>
            <a:endParaRPr lang="en-US" sz="2000" dirty="0"/>
          </a:p>
        </p:txBody>
      </p:sp>
      <p:sp>
        <p:nvSpPr>
          <p:cNvPr id="8" name="Text 6"/>
          <p:cNvSpPr txBox="1"/>
          <p:nvPr/>
        </p:nvSpPr>
        <p:spPr>
          <a:xfrm>
            <a:off x="4983480" y="1965960"/>
            <a:ext cx="352044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Small filters learn edges and shapes from the pictures themselves</a:t>
            </a:r>
            <a:endParaRPr lang="en-US" sz="1600" dirty="0"/>
          </a:p>
          <a:p>
            <a:pPr marL="342900" indent="-342900">
              <a:spcAft>
                <a:spcPts val="800"/>
              </a:spcAft>
              <a:buSzPct val="100000"/>
              <a:buChar char="•"/>
            </a:pPr>
            <a:r>
              <a:rPr lang="en-US" sz="1600" dirty="0">
                <a:solidFill>
                  <a:schemeClr val="tx1"/>
                </a:solidFill>
              </a:rPr>
              <a:t>Same filter is used everywhere, so few weights are needed</a:t>
            </a:r>
            <a:endParaRPr lang="en-US" sz="1600" dirty="0"/>
          </a:p>
          <a:p>
            <a:pPr marL="342900" indent="-342900">
              <a:spcAft>
                <a:spcPts val="800"/>
              </a:spcAft>
              <a:buSzPct val="100000"/>
              <a:buChar char="•"/>
            </a:pPr>
            <a:r>
              <a:rPr lang="en-US" sz="1600" dirty="0">
                <a:solidFill>
                  <a:schemeClr val="tx1"/>
                </a:solidFill>
              </a:rPr>
              <a:t>Question: does that fix the similar categories?</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chemeClr val="tx1"/>
                </a:solidFill>
              </a:rPr>
              <a:t>Two conv blocks, then 64 learned numbers</a:t>
            </a:r>
            <a:endParaRPr lang="en-US" sz="2800" dirty="0"/>
          </a:p>
        </p:txBody>
      </p:sp>
      <p:pic>
        <p:nvPicPr>
          <p:cNvPr id="3" name="Architecture diagram" descr="Network diagram: two convolution blocks, two dense layers, then either the CNN last layer or a Random Forest">    </p:cNvPr>
          <p:cNvPicPr>
            <a:picLocks noChangeAspect="1"/>
          </p:cNvPicPr>
          <p:nvPr/>
        </p:nvPicPr>
        <p:blipFill>
          <a:blip r:embed="rId1"/>
          <a:stretch>
            <a:fillRect/>
          </a:stretch>
        </p:blipFill>
        <p:spPr>
          <a:xfrm>
            <a:off x="457200" y="1051560"/>
            <a:ext cx="8229600" cy="3017520"/>
          </a:xfrm>
          <a:prstGeom prst="rect">
            <a:avLst/>
          </a:prstGeom>
        </p:spPr>
      </p:pic>
      <p:sp>
        <p:nvSpPr>
          <p:cNvPr id="4" name="Fact card 1"/>
          <p:cNvSpPr/>
          <p:nvPr/>
        </p:nvSpPr>
        <p:spPr>
          <a:xfrm>
            <a:off x="457200" y="4160520"/>
            <a:ext cx="2651760" cy="640080"/>
          </a:xfrm>
          <a:prstGeom prst="roundRect">
            <a:avLst>
              <a:gd name="adj" fmla="val 11429"/>
            </a:avLst>
          </a:prstGeom>
          <a:solidFill>
            <a:schemeClr val="bg2"/>
          </a:solidFill>
          <a:ln w="12700">
            <a:solidFill>
              <a:schemeClr val="bg2"/>
            </a:solidFill>
            <a:prstDash val="solid"/>
          </a:ln>
        </p:spPr>
      </p:sp>
      <p:sp>
        <p:nvSpPr>
          <p:cNvPr id="5" name="Fact 1"/>
          <p:cNvSpPr txBox="1"/>
          <p:nvPr/>
        </p:nvSpPr>
        <p:spPr>
          <a:xfrm>
            <a:off x="594360" y="4178808"/>
            <a:ext cx="2377440" cy="603504"/>
          </a:xfrm>
          <a:prstGeom prst="rect">
            <a:avLst/>
          </a:prstGeom>
          <a:noFill/>
          <a:ln/>
        </p:spPr>
        <p:txBody>
          <a:bodyPr wrap="square" lIns="0" tIns="0" rIns="0" bIns="0" rtlCol="0" anchor="ctr"/>
          <a:lstStyle/>
          <a:p>
            <a:pPr indent="0" marL="0">
              <a:buNone/>
            </a:pPr>
            <a:r>
              <a:rPr lang="en-US" sz="1800" b="1" dirty="0">
                <a:solidFill>
                  <a:schemeClr val="accent1"/>
                </a:solidFill>
              </a:rPr>
              <a:t>429,450</a:t>
            </a:r>
            <a:endParaRPr lang="en-US" sz="1800" dirty="0"/>
          </a:p>
          <a:p>
            <a:pPr indent="0" marL="0">
              <a:buNone/>
            </a:pPr>
            <a:r>
              <a:rPr lang="en-US" sz="1200" dirty="0">
                <a:solidFill>
                  <a:schemeClr val="tx1"/>
                </a:solidFill>
              </a:rPr>
              <a:t>trainable weights</a:t>
            </a:r>
            <a:endParaRPr lang="en-US" sz="1800" dirty="0"/>
          </a:p>
        </p:txBody>
      </p:sp>
      <p:sp>
        <p:nvSpPr>
          <p:cNvPr id="6" name="Fact card 2"/>
          <p:cNvSpPr/>
          <p:nvPr/>
        </p:nvSpPr>
        <p:spPr>
          <a:xfrm>
            <a:off x="3246120" y="4160520"/>
            <a:ext cx="2651760" cy="640080"/>
          </a:xfrm>
          <a:prstGeom prst="roundRect">
            <a:avLst>
              <a:gd name="adj" fmla="val 11429"/>
            </a:avLst>
          </a:prstGeom>
          <a:solidFill>
            <a:schemeClr val="bg2"/>
          </a:solidFill>
          <a:ln w="12700">
            <a:solidFill>
              <a:schemeClr val="bg2"/>
            </a:solidFill>
            <a:prstDash val="solid"/>
          </a:ln>
        </p:spPr>
      </p:sp>
      <p:sp>
        <p:nvSpPr>
          <p:cNvPr id="7" name="Fact 2"/>
          <p:cNvSpPr txBox="1"/>
          <p:nvPr/>
        </p:nvSpPr>
        <p:spPr>
          <a:xfrm>
            <a:off x="3383280" y="4178808"/>
            <a:ext cx="2377440" cy="603504"/>
          </a:xfrm>
          <a:prstGeom prst="rect">
            <a:avLst/>
          </a:prstGeom>
          <a:noFill/>
          <a:ln/>
        </p:spPr>
        <p:txBody>
          <a:bodyPr wrap="square" lIns="0" tIns="0" rIns="0" bIns="0" rtlCol="0" anchor="ctr"/>
          <a:lstStyle/>
          <a:p>
            <a:pPr indent="0" marL="0">
              <a:buNone/>
            </a:pPr>
            <a:r>
              <a:rPr lang="en-US" sz="1800" b="1" dirty="0">
                <a:solidFill>
                  <a:schemeClr val="accent1"/>
                </a:solidFill>
              </a:rPr>
              <a:t>28 → 14 → 7</a:t>
            </a:r>
            <a:endParaRPr lang="en-US" sz="1800" dirty="0"/>
          </a:p>
          <a:p>
            <a:pPr indent="0" marL="0">
              <a:buNone/>
            </a:pPr>
            <a:r>
              <a:rPr lang="en-US" sz="1200" dirty="0">
                <a:solidFill>
                  <a:schemeClr val="tx1"/>
                </a:solidFill>
              </a:rPr>
              <a:t>size after each pooling</a:t>
            </a:r>
            <a:endParaRPr lang="en-US" sz="1800" dirty="0"/>
          </a:p>
        </p:txBody>
      </p:sp>
      <p:sp>
        <p:nvSpPr>
          <p:cNvPr id="8" name="Fact card 3"/>
          <p:cNvSpPr/>
          <p:nvPr/>
        </p:nvSpPr>
        <p:spPr>
          <a:xfrm>
            <a:off x="6035040" y="4160520"/>
            <a:ext cx="2651760" cy="640080"/>
          </a:xfrm>
          <a:prstGeom prst="roundRect">
            <a:avLst>
              <a:gd name="adj" fmla="val 11429"/>
            </a:avLst>
          </a:prstGeom>
          <a:solidFill>
            <a:schemeClr val="bg2"/>
          </a:solidFill>
          <a:ln w="12700">
            <a:solidFill>
              <a:schemeClr val="bg2"/>
            </a:solidFill>
            <a:prstDash val="solid"/>
          </a:ln>
        </p:spPr>
      </p:sp>
      <p:sp>
        <p:nvSpPr>
          <p:cNvPr id="9" name="Fact 3"/>
          <p:cNvSpPr txBox="1"/>
          <p:nvPr/>
        </p:nvSpPr>
        <p:spPr>
          <a:xfrm>
            <a:off x="6172200" y="4178808"/>
            <a:ext cx="2377440" cy="603504"/>
          </a:xfrm>
          <a:prstGeom prst="rect">
            <a:avLst/>
          </a:prstGeom>
          <a:noFill/>
          <a:ln/>
        </p:spPr>
        <p:txBody>
          <a:bodyPr wrap="square" lIns="0" tIns="0" rIns="0" bIns="0" rtlCol="0" anchor="ctr"/>
          <a:lstStyle/>
          <a:p>
            <a:pPr indent="0" marL="0">
              <a:buNone/>
            </a:pPr>
            <a:r>
              <a:rPr lang="en-US" sz="1800" b="1" dirty="0">
                <a:solidFill>
                  <a:schemeClr val="accent1"/>
                </a:solidFill>
              </a:rPr>
              <a:t>64</a:t>
            </a:r>
            <a:endParaRPr lang="en-US" sz="1800" dirty="0"/>
          </a:p>
          <a:p>
            <a:pPr indent="0" marL="0">
              <a:buNone/>
            </a:pPr>
            <a:r>
              <a:rPr lang="en-US" sz="1200" dirty="0">
                <a:solidFill>
                  <a:schemeClr val="tx1"/>
                </a:solidFill>
              </a:rPr>
              <a:t>numbers the hybrid reuses</a:t>
            </a:r>
            <a:endParaRPr lang="en-US" sz="18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chemeClr val="tx1"/>
                </a:solidFill>
              </a:rPr>
              <a:t>Ablation: most choices sit within the noise</a:t>
            </a:r>
            <a:endParaRPr lang="en-US" sz="2800" dirty="0"/>
          </a:p>
        </p:txBody>
      </p:sp>
      <p:pic>
        <p:nvPicPr>
          <p:cNvPr id="3" name="Ablation chart" descr="Bar chart of validation macro F1 for seven CNN versions with seed spread">    </p:cNvPr>
          <p:cNvPicPr>
            <a:picLocks noChangeAspect="1"/>
          </p:cNvPicPr>
          <p:nvPr/>
        </p:nvPicPr>
        <p:blipFill>
          <a:blip r:embed="rId1"/>
          <a:stretch>
            <a:fillRect/>
          </a:stretch>
        </p:blipFill>
        <p:spPr>
          <a:xfrm>
            <a:off x="457200" y="1188720"/>
            <a:ext cx="4937760" cy="2395728"/>
          </a:xfrm>
          <a:prstGeom prst="rect">
            <a:avLst/>
          </a:prstGeom>
        </p:spPr>
      </p:pic>
      <p:sp>
        <p:nvSpPr>
          <p:cNvPr id="4" name="Text 1"/>
          <p:cNvSpPr txBox="1"/>
          <p:nvPr/>
        </p:nvSpPr>
        <p:spPr>
          <a:xfrm>
            <a:off x="457200" y="3703320"/>
            <a:ext cx="4937760" cy="548640"/>
          </a:xfrm>
          <a:prstGeom prst="rect">
            <a:avLst/>
          </a:prstGeom>
          <a:noFill/>
          <a:ln/>
        </p:spPr>
        <p:txBody>
          <a:bodyPr wrap="square" lIns="0" tIns="0" rIns="0" bIns="0" rtlCol="0" anchor="t"/>
          <a:lstStyle/>
          <a:p>
            <a:pPr indent="0" marL="0">
              <a:buNone/>
            </a:pPr>
            <a:r>
              <a:rPr lang="en-US" sz="1400" dirty="0">
                <a:solidFill>
                  <a:schemeClr val="tx2"/>
                </a:solidFill>
              </a:rPr>
              <a:t>Each version trained with 3 seeds. Bars show the mean and the spread.</a:t>
            </a:r>
            <a:endParaRPr lang="en-US" sz="1400" dirty="0"/>
          </a:p>
        </p:txBody>
      </p:sp>
      <p:sp>
        <p:nvSpPr>
          <p:cNvPr id="5" name="Text 2"/>
          <p:cNvSpPr txBox="1"/>
          <p:nvPr/>
        </p:nvSpPr>
        <p:spPr>
          <a:xfrm>
            <a:off x="5669280" y="1280160"/>
            <a:ext cx="3017520" cy="31089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All seven within 0.9 points</a:t>
            </a:r>
            <a:endParaRPr lang="en-US" sz="1600" dirty="0"/>
          </a:p>
          <a:p>
            <a:pPr marL="342900" indent="-342900">
              <a:spcAft>
                <a:spcPts val="800"/>
              </a:spcAft>
              <a:buSzPct val="100000"/>
              <a:buChar char="•"/>
            </a:pPr>
            <a:r>
              <a:rPr lang="en-US" sz="1600" dirty="0">
                <a:solidFill>
                  <a:schemeClr val="tx1"/>
                </a:solidFill>
              </a:rPr>
              <a:t>Dropout 0.4 hurt; 0.2 is about the same as none</a:t>
            </a:r>
            <a:endParaRPr lang="en-US" sz="1600" dirty="0"/>
          </a:p>
          <a:p>
            <a:pPr marL="342900" indent="-342900">
              <a:spcAft>
                <a:spcPts val="800"/>
              </a:spcAft>
              <a:buSzPct val="100000"/>
              <a:buChar char="•"/>
            </a:pPr>
            <a:r>
              <a:rPr lang="en-US" sz="1600" dirty="0">
                <a:solidFill>
                  <a:schemeClr val="tx1"/>
                </a:solidFill>
              </a:rPr>
              <a:t>Batch norm, augmentation and a third block gave no clear gain</a:t>
            </a:r>
            <a:endParaRPr lang="en-US" sz="1600" dirty="0"/>
          </a:p>
          <a:p>
            <a:pPr marL="342900" indent="-342900">
              <a:spcAft>
                <a:spcPts val="800"/>
              </a:spcAft>
              <a:buSzPct val="100000"/>
              <a:buChar char="•"/>
            </a:pPr>
            <a:r>
              <a:rPr lang="en-US" sz="1600" dirty="0">
                <a:solidFill>
                  <a:schemeClr val="tx1"/>
                </a:solidFill>
              </a:rPr>
              <a:t>Final CNN: best version with dropout, as the brief asks</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chemeClr val="tx1"/>
                </a:solidFill>
              </a:rPr>
              <a:t>Hybrid: a classifier on the CNN features</a:t>
            </a:r>
            <a:endParaRPr lang="en-US" sz="2800" dirty="0"/>
          </a:p>
        </p:txBody>
      </p:sp>
      <p:graphicFrame>
        <p:nvGraphicFramePr>
          <p:cNvPr id="3" name="Chart 0" descr=""/>
          <p:cNvGraphicFramePr/>
          <p:nvPr/>
        </p:nvGraphicFramePr>
        <p:xfrm>
          <a:off x="457200" y="1097280"/>
          <a:ext cx="5120640" cy="32004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4343400"/>
            <a:ext cx="5120640" cy="274320"/>
          </a:xfrm>
          <a:prstGeom prst="rect">
            <a:avLst/>
          </a:prstGeom>
          <a:noFill/>
          <a:ln/>
        </p:spPr>
        <p:txBody>
          <a:bodyPr wrap="square" lIns="0" tIns="0" rIns="0" bIns="0" rtlCol="0" anchor="t"/>
          <a:lstStyle/>
          <a:p>
            <a:pPr indent="0" marL="0">
              <a:buNone/>
            </a:pPr>
            <a:r>
              <a:rPr lang="en-US" sz="1200" dirty="0">
                <a:solidFill>
                  <a:schemeClr val="tx2"/>
                </a:solidFill>
              </a:rPr>
              <a:t>The chart axis starts at 0.7.</a:t>
            </a:r>
            <a:endParaRPr lang="en-US" sz="1200" dirty="0"/>
          </a:p>
        </p:txBody>
      </p:sp>
      <p:sp>
        <p:nvSpPr>
          <p:cNvPr id="5" name="Text 2"/>
          <p:cNvSpPr txBox="1"/>
          <p:nvPr/>
        </p:nvSpPr>
        <p:spPr>
          <a:xfrm>
            <a:off x="5852160" y="1280160"/>
            <a:ext cx="2834640" cy="3200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The CNN is trained first. A Phase 1 classifier is then fitted on its 64 numbers.</a:t>
            </a:r>
            <a:endParaRPr lang="en-US" sz="1500" dirty="0"/>
          </a:p>
          <a:p>
            <a:pPr marL="342900" indent="-342900">
              <a:spcAft>
                <a:spcPts val="800"/>
              </a:spcAft>
              <a:buSzPct val="100000"/>
              <a:buChar char="•"/>
            </a:pPr>
            <a:r>
              <a:rPr lang="en-US" sz="1500" dirty="0">
                <a:solidFill>
                  <a:schemeClr val="tx1"/>
                </a:solidFill>
              </a:rPr>
              <a:t>Untrained features score far lower, so training makes them useful</a:t>
            </a:r>
            <a:endParaRPr lang="en-US" sz="1500" dirty="0"/>
          </a:p>
          <a:p>
            <a:pPr marL="342900" indent="-342900">
              <a:spcAft>
                <a:spcPts val="800"/>
              </a:spcAft>
              <a:buSzPct val="100000"/>
              <a:buChar char="•"/>
            </a:pPr>
            <a:r>
              <a:rPr lang="en-US" sz="1500" dirty="0">
                <a:solidFill>
                  <a:schemeClr val="tx1"/>
                </a:solidFill>
              </a:rPr>
              <a:t>Every classifier gains about half a point: the gain is small but real</a:t>
            </a:r>
            <a:endParaRPr lang="en-US" sz="15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chemeClr val="tx1"/>
                </a:solidFill>
              </a:rPr>
              <a:t>The CNN beats Phase 1 by about 4 points</a:t>
            </a:r>
            <a:endParaRPr lang="en-US" sz="2800" dirty="0"/>
          </a:p>
        </p:txBody>
      </p:sp>
      <p:graphicFrame>
        <p:nvGraphicFramePr>
          <p:cNvPr id="3" name="Chart 0" descr=""/>
          <p:cNvGraphicFramePr/>
          <p:nvPr/>
        </p:nvGraphicFramePr>
        <p:xfrm>
          <a:off x="457200" y="1097280"/>
          <a:ext cx="3931920" cy="31089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4297680"/>
            <a:ext cx="3931920" cy="274320"/>
          </a:xfrm>
          <a:prstGeom prst="rect">
            <a:avLst/>
          </a:prstGeom>
          <a:noFill/>
          <a:ln/>
        </p:spPr>
        <p:txBody>
          <a:bodyPr wrap="square" lIns="0" tIns="0" rIns="0" bIns="0" rtlCol="0" anchor="t"/>
          <a:lstStyle/>
          <a:p>
            <a:pPr indent="0" marL="0">
              <a:buNone/>
            </a:pPr>
            <a:r>
              <a:rPr lang="en-US" sz="1200" dirty="0">
                <a:solidFill>
                  <a:schemeClr val="tx2"/>
                </a:solidFill>
              </a:rPr>
              <a:t>The chart axis starts at 80%.</a:t>
            </a:r>
            <a:endParaRPr lang="en-US" sz="1200" dirty="0"/>
          </a:p>
        </p:txBody>
      </p:sp>
      <p:graphicFrame>
        <p:nvGraphicFramePr>
          <p:cNvPr id="7" name="Recall table"/>
          <p:cNvGraphicFramePr>
            <a:graphicFrameLocks noGrp="1"/>
          </p:cNvGraphicFramePr>
          <p:nvPr>
            <p:extLst>
              <p:ext uri="{D42A27DB-BD31-4B8C-83A1-F6EECF244321}">
                <p14:modId xmlns:p14="http://schemas.microsoft.com/office/powerpoint/2010/main" val="1579011935"/>
              </p:ext>
            </p:extLst>
          </p:nvPr>
        </p:nvGraphicFramePr>
        <p:xfrm>
          <a:off x="4663440" y="1280160"/>
          <a:ext cx="4023360" cy="914400"/>
        </p:xfrm>
        <a:graphic>
          <a:graphicData uri="http://schemas.openxmlformats.org/drawingml/2006/table">
            <a:tbl>
              <a:tblPr/>
              <a:tblGrid>
                <a:gridCol w="1280160"/>
                <a:gridCol w="914400"/>
                <a:gridCol w="914400"/>
                <a:gridCol w="914400"/>
              </a:tblGrid>
              <a:tr h="384048">
                <a:tc>
                  <a:txBody>
                    <a:bodyPr/>
                    <a:lstStyle/>
                    <a:p>
                      <a:pPr algn="ctr" indent="0" marL="0">
                        <a:buNone/>
                      </a:pPr>
                      <a:r>
                        <a:rPr lang="en-US" sz="1300" b="1" dirty="0">
                          <a:solidFill>
                            <a:srgbClr val="FFFFFF"/>
                          </a:solidFill>
                        </a:rPr>
                        <a:t>Recall</a:t>
                      </a:r>
                      <a:endParaRPr lang="en-US" sz="1300" dirty="0"/>
                    </a:p>
                  </a:txBody>
                  <a:tcPr marL="91440" marR="91440" marT="45720" marB="4572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2A41"/>
                    </a:solidFill>
                  </a:tcPr>
                </a:tc>
                <a:tc>
                  <a:txBody>
                    <a:bodyPr/>
                    <a:lstStyle/>
                    <a:p>
                      <a:pPr algn="ctr" indent="0" marL="0">
                        <a:buNone/>
                      </a:pPr>
                      <a:r>
                        <a:rPr lang="en-US" sz="1300" b="1" dirty="0">
                          <a:solidFill>
                            <a:srgbClr val="FFFFFF"/>
                          </a:solidFill>
                        </a:rPr>
                        <a:t>Phase 1</a:t>
                      </a:r>
                      <a:endParaRPr lang="en-US" sz="1300" dirty="0"/>
                    </a:p>
                  </a:txBody>
                  <a:tcPr marL="91440" marR="91440" marT="45720" marB="4572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2A41"/>
                    </a:solidFill>
                  </a:tcPr>
                </a:tc>
                <a:tc>
                  <a:txBody>
                    <a:bodyPr/>
                    <a:lstStyle/>
                    <a:p>
                      <a:pPr algn="ctr" indent="0" marL="0">
                        <a:buNone/>
                      </a:pPr>
                      <a:r>
                        <a:rPr lang="en-US" sz="1300" b="1" dirty="0">
                          <a:solidFill>
                            <a:srgbClr val="FFFFFF"/>
                          </a:solidFill>
                        </a:rPr>
                        <a:t>CNN</a:t>
                      </a:r>
                      <a:endParaRPr lang="en-US" sz="1300" dirty="0"/>
                    </a:p>
                  </a:txBody>
                  <a:tcPr marL="91440" marR="91440" marT="45720" marB="4572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2A41"/>
                    </a:solidFill>
                  </a:tcPr>
                </a:tc>
                <a:tc>
                  <a:txBody>
                    <a:bodyPr/>
                    <a:lstStyle/>
                    <a:p>
                      <a:pPr algn="ctr" indent="0" marL="0">
                        <a:buNone/>
                      </a:pPr>
                      <a:r>
                        <a:rPr lang="en-US" sz="1300" b="1" dirty="0">
                          <a:solidFill>
                            <a:srgbClr val="FFFFFF"/>
                          </a:solidFill>
                        </a:rPr>
                        <a:t>Hybrid</a:t>
                      </a:r>
                      <a:endParaRPr lang="en-US" sz="1300" dirty="0"/>
                    </a:p>
                  </a:txBody>
                  <a:tcPr marL="91440" marR="91440" marT="45720" marB="4572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2A41"/>
                    </a:solidFill>
                  </a:tcPr>
                </a:tc>
              </a:tr>
              <a:tr h="384048">
                <a:tc>
                  <a:txBody>
                    <a:bodyPr/>
                    <a:lstStyle/>
                    <a:p>
                      <a:pPr algn="l" indent="0" marL="0">
                        <a:buNone/>
                      </a:pPr>
                      <a:r>
                        <a:rPr lang="en-US" sz="1300" b="1" dirty="0">
                          <a:solidFill>
                            <a:srgbClr val="1B2A41"/>
                          </a:solidFill>
                        </a:rPr>
                        <a:t>Shirt</a:t>
                      </a:r>
                      <a:endParaRPr lang="en-US" sz="1300" dirty="0"/>
                    </a:p>
                  </a:txBody>
                  <a:tcPr marL="91440" marR="91440" marT="45720" marB="4572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algn="ctr" indent="0" marL="0">
                        <a:buNone/>
                      </a:pPr>
                      <a:r>
                        <a:rPr lang="en-US" sz="1300" dirty="0">
                          <a:solidFill>
                            <a:srgbClr val="1B2A41"/>
                          </a:solidFill>
                        </a:rPr>
                        <a:t>59.2%</a:t>
                      </a:r>
                      <a:endParaRPr lang="en-US" sz="1300" dirty="0"/>
                    </a:p>
                  </a:txBody>
                  <a:tcPr marL="91440" marR="91440" marT="45720" marB="4572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algn="ctr" indent="0" marL="0">
                        <a:buNone/>
                      </a:pPr>
                      <a:r>
                        <a:rPr lang="en-US" sz="1300" dirty="0">
                          <a:solidFill>
                            <a:srgbClr val="1B2A41"/>
                          </a:solidFill>
                        </a:rPr>
                        <a:t>73.6%</a:t>
                      </a:r>
                      <a:endParaRPr lang="en-US" sz="1300" dirty="0"/>
                    </a:p>
                  </a:txBody>
                  <a:tcPr marL="91440" marR="91440" marT="45720" marB="4572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algn="ctr" indent="0" marL="0">
                        <a:buNone/>
                      </a:pPr>
                      <a:r>
                        <a:rPr lang="en-US" sz="1300" dirty="0">
                          <a:solidFill>
                            <a:srgbClr val="1B2A41"/>
                          </a:solidFill>
                        </a:rPr>
                        <a:t>75.7%</a:t>
                      </a:r>
                      <a:endParaRPr lang="en-US" sz="1300" dirty="0"/>
                    </a:p>
                  </a:txBody>
                  <a:tcPr marL="91440" marR="91440" marT="45720" marB="4572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r>
              <a:tr h="384048">
                <a:tc>
                  <a:txBody>
                    <a:bodyPr/>
                    <a:lstStyle/>
                    <a:p>
                      <a:pPr algn="l" indent="0" marL="0">
                        <a:buNone/>
                      </a:pPr>
                      <a:r>
                        <a:rPr lang="en-US" sz="1300" b="1" dirty="0">
                          <a:solidFill>
                            <a:srgbClr val="1B2A41"/>
                          </a:solidFill>
                        </a:rPr>
                        <a:t>Pullover</a:t>
                      </a:r>
                      <a:endParaRPr lang="en-US" sz="1300" dirty="0"/>
                    </a:p>
                  </a:txBody>
                  <a:tcPr marL="91440" marR="91440" marT="45720" marB="4572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algn="ctr" indent="0" marL="0">
                        <a:buNone/>
                      </a:pPr>
                      <a:r>
                        <a:rPr lang="en-US" sz="1300" dirty="0">
                          <a:solidFill>
                            <a:srgbClr val="1B2A41"/>
                          </a:solidFill>
                        </a:rPr>
                        <a:t>80.2%</a:t>
                      </a:r>
                      <a:endParaRPr lang="en-US" sz="1300" dirty="0"/>
                    </a:p>
                  </a:txBody>
                  <a:tcPr marL="91440" marR="91440" marT="45720" marB="4572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algn="ctr" indent="0" marL="0">
                        <a:buNone/>
                      </a:pPr>
                      <a:r>
                        <a:rPr lang="en-US" sz="1300" dirty="0">
                          <a:solidFill>
                            <a:srgbClr val="1B2A41"/>
                          </a:solidFill>
                        </a:rPr>
                        <a:t>88.7%</a:t>
                      </a:r>
                      <a:endParaRPr lang="en-US" sz="1300" dirty="0"/>
                    </a:p>
                  </a:txBody>
                  <a:tcPr marL="91440" marR="91440" marT="45720" marB="4572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algn="ctr" indent="0" marL="0">
                        <a:buNone/>
                      </a:pPr>
                      <a:r>
                        <a:rPr lang="en-US" sz="1300" dirty="0">
                          <a:solidFill>
                            <a:srgbClr val="1B2A41"/>
                          </a:solidFill>
                        </a:rPr>
                        <a:t>89.6%</a:t>
                      </a:r>
                      <a:endParaRPr lang="en-US" sz="1300" dirty="0"/>
                    </a:p>
                  </a:txBody>
                  <a:tcPr marL="91440" marR="91440" marT="45720" marB="4572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r>
              <a:tr h="384048">
                <a:tc>
                  <a:txBody>
                    <a:bodyPr/>
                    <a:lstStyle/>
                    <a:p>
                      <a:pPr algn="l" indent="0" marL="0">
                        <a:buNone/>
                      </a:pPr>
                      <a:r>
                        <a:rPr lang="en-US" sz="1300" b="1" dirty="0">
                          <a:solidFill>
                            <a:srgbClr val="1B2A41"/>
                          </a:solidFill>
                        </a:rPr>
                        <a:t>Coat</a:t>
                      </a:r>
                      <a:endParaRPr lang="en-US" sz="1300" dirty="0"/>
                    </a:p>
                  </a:txBody>
                  <a:tcPr marL="91440" marR="91440" marT="45720" marB="4572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algn="ctr" indent="0" marL="0">
                        <a:buNone/>
                      </a:pPr>
                      <a:r>
                        <a:rPr lang="en-US" sz="1300" dirty="0">
                          <a:solidFill>
                            <a:srgbClr val="1B2A41"/>
                          </a:solidFill>
                        </a:rPr>
                        <a:t>82.2%</a:t>
                      </a:r>
                      <a:endParaRPr lang="en-US" sz="1300" dirty="0"/>
                    </a:p>
                  </a:txBody>
                  <a:tcPr marL="91440" marR="91440" marT="45720" marB="4572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algn="ctr" indent="0" marL="0">
                        <a:buNone/>
                      </a:pPr>
                      <a:r>
                        <a:rPr lang="en-US" sz="1300" dirty="0">
                          <a:solidFill>
                            <a:srgbClr val="1B2A41"/>
                          </a:solidFill>
                        </a:rPr>
                        <a:t>87.0%</a:t>
                      </a:r>
                      <a:endParaRPr lang="en-US" sz="1300" dirty="0"/>
                    </a:p>
                  </a:txBody>
                  <a:tcPr marL="91440" marR="91440" marT="45720" marB="4572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algn="ctr" indent="0" marL="0">
                        <a:buNone/>
                      </a:pPr>
                      <a:r>
                        <a:rPr lang="en-US" sz="1300" dirty="0">
                          <a:solidFill>
                            <a:srgbClr val="1B2A41"/>
                          </a:solidFill>
                        </a:rPr>
                        <a:t>88.2%</a:t>
                      </a:r>
                      <a:endParaRPr lang="en-US" sz="1300" dirty="0"/>
                    </a:p>
                  </a:txBody>
                  <a:tcPr marL="91440" marR="91440" marT="45720" marB="4572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r>
              <a:tr h="384048">
                <a:tc>
                  <a:txBody>
                    <a:bodyPr/>
                    <a:lstStyle/>
                    <a:p>
                      <a:pPr algn="l" indent="0" marL="0">
                        <a:buNone/>
                      </a:pPr>
                      <a:r>
                        <a:rPr lang="en-US" sz="1300" b="1" dirty="0">
                          <a:solidFill>
                            <a:srgbClr val="1B2A41"/>
                          </a:solidFill>
                        </a:rPr>
                        <a:t>T-shirt/top</a:t>
                      </a:r>
                      <a:endParaRPr lang="en-US" sz="1300" dirty="0"/>
                    </a:p>
                  </a:txBody>
                  <a:tcPr marL="91440" marR="91440" marT="45720" marB="4572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algn="ctr" indent="0" marL="0">
                        <a:buNone/>
                      </a:pPr>
                      <a:r>
                        <a:rPr lang="en-US" sz="1300" dirty="0">
                          <a:solidFill>
                            <a:srgbClr val="1B2A41"/>
                          </a:solidFill>
                        </a:rPr>
                        <a:t>85.2%</a:t>
                      </a:r>
                      <a:endParaRPr lang="en-US" sz="1300" dirty="0"/>
                    </a:p>
                  </a:txBody>
                  <a:tcPr marL="91440" marR="91440" marT="45720" marB="4572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algn="ctr" indent="0" marL="0">
                        <a:buNone/>
                      </a:pPr>
                      <a:r>
                        <a:rPr lang="en-US" sz="1300" dirty="0">
                          <a:solidFill>
                            <a:srgbClr val="1B2A41"/>
                          </a:solidFill>
                        </a:rPr>
                        <a:t>88.9%</a:t>
                      </a:r>
                      <a:endParaRPr lang="en-US" sz="1300" dirty="0"/>
                    </a:p>
                  </a:txBody>
                  <a:tcPr marL="91440" marR="91440" marT="45720" marB="4572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algn="ctr" indent="0" marL="0">
                        <a:buNone/>
                      </a:pPr>
                      <a:r>
                        <a:rPr lang="en-US" sz="1300" dirty="0">
                          <a:solidFill>
                            <a:srgbClr val="1B2A41"/>
                          </a:solidFill>
                        </a:rPr>
                        <a:t>88.5%</a:t>
                      </a:r>
                      <a:endParaRPr lang="en-US" sz="1300" dirty="0"/>
                    </a:p>
                  </a:txBody>
                  <a:tcPr marL="91440" marR="91440" marT="45720" marB="4572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r>
            </a:tbl>
          </a:graphicData>
        </a:graphic>
      </p:graphicFrame>
      <p:sp>
        <p:nvSpPr>
          <p:cNvPr id="6" name="Text 2"/>
          <p:cNvSpPr txBox="1"/>
          <p:nvPr/>
        </p:nvSpPr>
        <p:spPr>
          <a:xfrm>
            <a:off x="4663440" y="3383280"/>
            <a:ext cx="4023360" cy="1097280"/>
          </a:xfrm>
          <a:prstGeom prst="rect">
            <a:avLst/>
          </a:prstGeom>
          <a:noFill/>
          <a:ln/>
        </p:spPr>
        <p:txBody>
          <a:bodyPr wrap="square" lIns="0" tIns="0" rIns="0" bIns="0" rtlCol="0" anchor="t"/>
          <a:lstStyle/>
          <a:p>
            <a:pPr indent="0" marL="0">
              <a:buNone/>
            </a:pPr>
            <a:r>
              <a:rPr lang="en-US" sz="1400" dirty="0">
                <a:solidFill>
                  <a:schemeClr val="tx2"/>
                </a:solidFill>
              </a:rPr>
              <a:t>Paired bootstrap, 95% interval: CNN over Phase 1 +4.10 points [+3.52, +4.67]; hybrid over CNN +0.60 [+0.28, +0.94]. Pullover → Coat mistakes fell from 116 to 33.</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chemeClr val="tx1"/>
                </a:solidFill>
              </a:rPr>
              <a:t>Limits and how to rerun</a:t>
            </a:r>
            <a:endParaRPr lang="en-US" sz="2800" dirty="0"/>
          </a:p>
        </p:txBody>
      </p:sp>
      <p:sp>
        <p:nvSpPr>
          <p:cNvPr id="3" name="Limits card"/>
          <p:cNvSpPr/>
          <p:nvPr/>
        </p:nvSpPr>
        <p:spPr>
          <a:xfrm>
            <a:off x="457200" y="1280160"/>
            <a:ext cx="4023360" cy="3017520"/>
          </a:xfrm>
          <a:prstGeom prst="roundRect">
            <a:avLst>
              <a:gd name="adj" fmla="val 2424"/>
            </a:avLst>
          </a:prstGeom>
          <a:solidFill>
            <a:schemeClr val="bg2"/>
          </a:solidFill>
          <a:ln w="12700">
            <a:solidFill>
              <a:schemeClr val="bg2"/>
            </a:solidFill>
            <a:prstDash val="solid"/>
          </a:ln>
        </p:spPr>
      </p:sp>
      <p:sp>
        <p:nvSpPr>
          <p:cNvPr id="4" name="Run card"/>
          <p:cNvSpPr/>
          <p:nvPr/>
        </p:nvSpPr>
        <p:spPr>
          <a:xfrm>
            <a:off x="4663440" y="1280160"/>
            <a:ext cx="4023360" cy="3017520"/>
          </a:xfrm>
          <a:prstGeom prst="roundRect">
            <a:avLst>
              <a:gd name="adj" fmla="val 2424"/>
            </a:avLst>
          </a:prstGeom>
          <a:solidFill>
            <a:schemeClr val="bg2"/>
          </a:solidFill>
          <a:ln w="12700">
            <a:solidFill>
              <a:schemeClr val="bg2"/>
            </a:solidFill>
            <a:prstDash val="solid"/>
          </a:ln>
        </p:spPr>
      </p:sp>
      <p:sp>
        <p:nvSpPr>
          <p:cNvPr id="5" name="Text 3"/>
          <p:cNvSpPr txBox="1"/>
          <p:nvPr/>
        </p:nvSpPr>
        <p:spPr>
          <a:xfrm>
            <a:off x="685800" y="1417320"/>
            <a:ext cx="3566160" cy="365760"/>
          </a:xfrm>
          <a:prstGeom prst="rect">
            <a:avLst/>
          </a:prstGeom>
          <a:noFill/>
          <a:ln/>
        </p:spPr>
        <p:txBody>
          <a:bodyPr wrap="square" lIns="0" tIns="0" rIns="0" bIns="0" rtlCol="0" anchor="t"/>
          <a:lstStyle/>
          <a:p>
            <a:pPr indent="0" marL="0">
              <a:buNone/>
            </a:pPr>
            <a:r>
              <a:rPr lang="en-US" sz="2000" b="1" dirty="0">
                <a:solidFill>
                  <a:schemeClr val="accent2"/>
                </a:solidFill>
              </a:rPr>
              <a:t>Limits</a:t>
            </a:r>
            <a:endParaRPr lang="en-US" sz="2000" dirty="0"/>
          </a:p>
        </p:txBody>
      </p:sp>
      <p:sp>
        <p:nvSpPr>
          <p:cNvPr id="6" name="Text 4"/>
          <p:cNvSpPr txBox="1"/>
          <p:nvPr/>
        </p:nvSpPr>
        <p:spPr>
          <a:xfrm>
            <a:off x="685800" y="1874520"/>
            <a:ext cx="3611880" cy="2468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Fashion-MNIST is small and familiar, not a store catalogue</a:t>
            </a:r>
            <a:endParaRPr lang="en-US" sz="1500" dirty="0"/>
          </a:p>
          <a:p>
            <a:pPr marL="342900" indent="-342900">
              <a:spcAft>
                <a:spcPts val="600"/>
              </a:spcAft>
              <a:buSzPct val="100000"/>
              <a:buChar char="•"/>
            </a:pPr>
            <a:r>
              <a:rPr lang="en-US" sz="1500" dirty="0">
                <a:solidFill>
                  <a:schemeClr val="tx1"/>
                </a:solidFill>
              </a:rPr>
              <a:t>One split, 3 seeds, small search</a:t>
            </a:r>
            <a:endParaRPr lang="en-US" sz="1500" dirty="0"/>
          </a:p>
          <a:p>
            <a:pPr marL="342900" indent="-342900">
              <a:spcAft>
                <a:spcPts val="600"/>
              </a:spcAft>
              <a:buSzPct val="100000"/>
              <a:buChar char="•"/>
            </a:pPr>
            <a:r>
              <a:rPr lang="en-US" sz="1500" dirty="0">
                <a:solidFill>
                  <a:schemeClr val="tx1"/>
                </a:solidFill>
              </a:rPr>
              <a:t>Apple GPU training is not exactly repeatable</a:t>
            </a:r>
            <a:endParaRPr lang="en-US" sz="1500" dirty="0"/>
          </a:p>
          <a:p>
            <a:pPr marL="342900" indent="-342900">
              <a:spcAft>
                <a:spcPts val="600"/>
              </a:spcAft>
              <a:buSzPct val="100000"/>
              <a:buChar char="•"/>
            </a:pPr>
            <a:r>
              <a:rPr lang="en-US" sz="1500" dirty="0">
                <a:solidFill>
                  <a:schemeClr val="tx1"/>
                </a:solidFill>
              </a:rPr>
              <a:t>Not in the live dashboard</a:t>
            </a:r>
            <a:endParaRPr lang="en-US" sz="1500" dirty="0"/>
          </a:p>
        </p:txBody>
      </p:sp>
      <p:sp>
        <p:nvSpPr>
          <p:cNvPr id="7" name="Text 5"/>
          <p:cNvSpPr txBox="1"/>
          <p:nvPr/>
        </p:nvSpPr>
        <p:spPr>
          <a:xfrm>
            <a:off x="4892040" y="1417320"/>
            <a:ext cx="3566160" cy="365760"/>
          </a:xfrm>
          <a:prstGeom prst="rect">
            <a:avLst/>
          </a:prstGeom>
          <a:noFill/>
          <a:ln/>
        </p:spPr>
        <p:txBody>
          <a:bodyPr wrap="square" lIns="0" tIns="0" rIns="0" bIns="0" rtlCol="0" anchor="t"/>
          <a:lstStyle/>
          <a:p>
            <a:pPr indent="0" marL="0">
              <a:buNone/>
            </a:pPr>
            <a:r>
              <a:rPr lang="en-US" sz="2000" b="1" dirty="0">
                <a:solidFill>
                  <a:schemeClr val="accent1"/>
                </a:solidFill>
              </a:rPr>
              <a:t>Rerun it</a:t>
            </a:r>
            <a:endParaRPr lang="en-US" sz="2000" dirty="0"/>
          </a:p>
        </p:txBody>
      </p:sp>
      <p:sp>
        <p:nvSpPr>
          <p:cNvPr id="8" name="Text 6"/>
          <p:cNvSpPr txBox="1"/>
          <p:nvPr/>
        </p:nvSpPr>
        <p:spPr>
          <a:xfrm>
            <a:off x="4892040" y="1874520"/>
            <a:ext cx="3657600" cy="246888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Install PyTorch:</a:t>
            </a:r>
            <a:endParaRPr lang="en-US" sz="1500" dirty="0"/>
          </a:p>
          <a:p>
            <a:pPr indent="0" marL="0">
              <a:spcAft>
                <a:spcPts val="600"/>
              </a:spcAft>
              <a:buNone/>
            </a:pPr>
            <a:r>
              <a:rPr lang="en-US" sz="1100" dirty="0">
                <a:solidFill>
                  <a:schemeClr val="tx1"/>
                </a:solidFill>
                <a:latin typeface="Courier New" pitchFamily="34" charset="0"/>
                <a:ea typeface="Courier New" pitchFamily="34" charset="-122"/>
                <a:cs typeface="Courier New" pitchFamily="34" charset="-120"/>
              </a:rPr>
              <a:t>pip install -r requirements-phase2.txt</a:t>
            </a:r>
            <a:endParaRPr lang="en-US" sz="1500" dirty="0"/>
          </a:p>
          <a:p>
            <a:pPr indent="0" marL="0">
              <a:spcAft>
                <a:spcPts val="600"/>
              </a:spcAft>
              <a:buNone/>
            </a:pPr>
            <a:r>
              <a:rPr lang="en-US" sz="1500" dirty="0">
                <a:solidFill>
                  <a:schemeClr val="tx1"/>
                </a:solidFill>
              </a:rPr>
              <a:t>Notebook (no download):</a:t>
            </a:r>
            <a:endParaRPr lang="en-US" sz="1500" dirty="0"/>
          </a:p>
          <a:p>
            <a:pPr indent="0" marL="0">
              <a:spcAft>
                <a:spcPts val="600"/>
              </a:spcAft>
              <a:buNone/>
            </a:pPr>
            <a:r>
              <a:rPr lang="en-US" sz="1100" dirty="0">
                <a:solidFill>
                  <a:schemeClr val="tx1"/>
                </a:solidFill>
                <a:latin typeface="Courier New" pitchFamily="34" charset="0"/>
                <a:ea typeface="Courier New" pitchFamily="34" charset="-122"/>
                <a:cs typeface="Courier New" pitchFamily="34" charset="-120"/>
              </a:rPr>
              <a:t>notebooks/phase2.ipynb</a:t>
            </a:r>
            <a:endParaRPr lang="en-US" sz="1500" dirty="0"/>
          </a:p>
          <a:p>
            <a:pPr indent="0" marL="0">
              <a:spcAft>
                <a:spcPts val="600"/>
              </a:spcAft>
              <a:buNone/>
            </a:pPr>
            <a:r>
              <a:rPr lang="en-US" sz="1500" dirty="0">
                <a:solidFill>
                  <a:schemeClr val="tx1"/>
                </a:solidFill>
              </a:rPr>
              <a:t>Retrain everything (about 45 min):</a:t>
            </a:r>
            <a:endParaRPr lang="en-US" sz="1500" dirty="0"/>
          </a:p>
          <a:p>
            <a:pPr indent="0" marL="0">
              <a:spcAft>
                <a:spcPts val="600"/>
              </a:spcAft>
              <a:buNone/>
            </a:pPr>
            <a:r>
              <a:rPr lang="en-US" sz="1100" dirty="0">
                <a:solidFill>
                  <a:schemeClr val="tx1"/>
                </a:solidFill>
                <a:latin typeface="Courier New" pitchFamily="34" charset="0"/>
                <a:ea typeface="Courier New" pitchFamily="34" charset="-122"/>
                <a:cs typeface="Courier New" pitchFamily="34" charset="-120"/>
              </a:rPr>
              <a:t>bash scripts/build_phase2.sh</a:t>
            </a:r>
            <a:endParaRPr lang="en-US" sz="15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Inventory Phase 2">
  <a:themeElements>
    <a:clrScheme name="Inventory Phase 2">
      <a:dk1>
        <a:srgbClr val="1B2A41"/>
      </a:dk1>
      <a:lt1>
        <a:srgbClr val="FFFFFF"/>
      </a:lt1>
      <a:dk2>
        <a:srgbClr val="324A5F"/>
      </a:dk2>
      <a:lt2>
        <a:srgbClr val="EEF2F6"/>
      </a:lt2>
      <a:accent1>
        <a:srgbClr val="2A9D8F"/>
      </a:accent1>
      <a:accent2>
        <a:srgbClr val="E76F51"/>
      </a:accent2>
      <a:accent3>
        <a:srgbClr val="8AB17D"/>
      </a:accent3>
      <a:accent4>
        <a:srgbClr val="E9C46A"/>
      </a:accent4>
      <a:accent5>
        <a:srgbClr val="5B7DB1"/>
      </a:accent5>
      <a:accent6>
        <a:srgbClr val="9AA5B1"/>
      </a:accent6>
      <a:hlink>
        <a:srgbClr val="2A9D8F"/>
      </a:hlink>
      <a:folHlink>
        <a:srgbClr val="5B7DB1"/>
      </a:folHlink>
    </a:clrScheme>
    <a:fontScheme name="Inventory Phase 2">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Image Tagging, Phase 2</dc:title>
  <dc:subject>Phase 2: CNN, ablation and hybrid</dc:subject>
  <dc:creator>Inventory Image Tagging team</dc:creator>
  <cp:lastModifiedBy>Inventory Image Tagging team</cp:lastModifiedBy>
  <cp:revision>1</cp:revision>
  <dcterms:created xsi:type="dcterms:W3CDTF">2026-10-27T12:32:05Z</dcterms:created>
  <dcterms:modified xsi:type="dcterms:W3CDTF">2026-10-27T12:32:05Z</dcterms:modified>
</cp:coreProperties>
</file>