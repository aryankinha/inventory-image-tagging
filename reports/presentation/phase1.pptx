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4a3039ccdc446fd" /><Relationship Type="http://schemas.openxmlformats.org/officeDocument/2006/relationships/extended-properties" Target="/docProps/app.xml" Id="R392cacb91e98413f" /><Relationship Type="http://schemas.openxmlformats.org/officeDocument/2006/relationships/officeDocument" Target="/ppt/presentation.xml" Id="R38306703f5874513" /></Relationships>
</file>

<file path=ppt/presentation.xml><?xml version="1.0" encoding="utf-8"?>
<p:presentation xmlns:p="http://schemas.openxmlformats.org/presentationml/2006/main">
  <p:sldMasterIdLst>
    <p:sldMasterId xmlns:r="http://schemas.openxmlformats.org/officeDocument/2006/relationships" id="2147483648" r:id="Rda8b1f366cea4f0d"/>
  </p:sldMasterIdLst>
  <p:notesMasterIdLst>
    <p:notesMasterId xmlns:r="http://schemas.openxmlformats.org/officeDocument/2006/relationships" r:id="Rafbba05ad15243e4"/>
  </p:notesMasterIdLst>
  <p:sldIdLst>
    <p:sldId xmlns:r="http://schemas.openxmlformats.org/officeDocument/2006/relationships" id="256" r:id="Rec363503c6954b05"/>
    <p:sldId xmlns:r="http://schemas.openxmlformats.org/officeDocument/2006/relationships" id="257" r:id="Re4dbf0f8acea4c1c"/>
    <p:sldId xmlns:r="http://schemas.openxmlformats.org/officeDocument/2006/relationships" id="258" r:id="Ra8802dc7204948bf"/>
    <p:sldId xmlns:r="http://schemas.openxmlformats.org/officeDocument/2006/relationships" id="259" r:id="R54e74c1e0e6d4f64"/>
    <p:sldId xmlns:r="http://schemas.openxmlformats.org/officeDocument/2006/relationships" id="260" r:id="R8cf255251650475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003d5b68a494b70" /><Relationship Type="http://schemas.openxmlformats.org/officeDocument/2006/relationships/slideMaster" Target="/ppt/slideMasters/slideMaster1.xml" Id="Rda8b1f366cea4f0d" /><Relationship Type="http://schemas.openxmlformats.org/officeDocument/2006/relationships/notesMaster" Target="/ppt/notesMasters/notesMaster1.xml" Id="Rafbba05ad15243e4" /><Relationship Type="http://schemas.openxmlformats.org/officeDocument/2006/relationships/presProps" Target="/ppt/presProps.xml" Id="R2f3a93a991e44485" /><Relationship Type="http://schemas.openxmlformats.org/officeDocument/2006/relationships/tableStyles" Target="/ppt/tableStyles.xml" Id="R1d52e86c12e049ae" /><Relationship Type="http://schemas.openxmlformats.org/officeDocument/2006/relationships/slide" Target="/ppt/slides/slide1.xml" Id="Rec363503c6954b05" /><Relationship Type="http://schemas.openxmlformats.org/officeDocument/2006/relationships/slide" Target="/ppt/slides/slide2.xml" Id="Re4dbf0f8acea4c1c" /><Relationship Type="http://schemas.openxmlformats.org/officeDocument/2006/relationships/slide" Target="/ppt/slides/slide3.xml" Id="Ra8802dc7204948bf" /><Relationship Type="http://schemas.openxmlformats.org/officeDocument/2006/relationships/slide" Target="/ppt/slides/slide4.xml" Id="R54e74c1e0e6d4f64" /><Relationship Type="http://schemas.openxmlformats.org/officeDocument/2006/relationships/slide" Target="/ppt/slides/slide5.xml" Id="R8cf255251650475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1cc9a44bbb4fd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nventory Image Tagging">
  <a:themeElements>
    <a:clrScheme name="Inventory Image Tagging">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Inventory Image Tagging">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d337e44dad24e89" /><Relationship Type="http://schemas.openxmlformats.org/officeDocument/2006/relationships/notesMaster" Target="/ppt/notesMasters/notesMaster1.xml" Id="R6bdc020d1ad04410" /></Relationships>
</file>

<file path=ppt/notesSlides/_rels/notesSlide2.xml.rels>&#65279;<?xml version="1.0" encoding="utf-8"?><Relationships xmlns="http://schemas.openxmlformats.org/package/2006/relationships"><Relationship Type="http://schemas.openxmlformats.org/officeDocument/2006/relationships/slide" Target="/ppt/slides/slide2.xml" Id="Rcdef7be10b624c40" /><Relationship Type="http://schemas.openxmlformats.org/officeDocument/2006/relationships/notesMaster" Target="/ppt/notesMasters/notesMaster1.xml" Id="R5f8cb622fce04462" /></Relationships>
</file>

<file path=ppt/notesSlides/_rels/notesSlide3.xml.rels>&#65279;<?xml version="1.0" encoding="utf-8"?><Relationships xmlns="http://schemas.openxmlformats.org/package/2006/relationships"><Relationship Type="http://schemas.openxmlformats.org/officeDocument/2006/relationships/slide" Target="/ppt/slides/slide3.xml" Id="R3d1419ea818f486d" /><Relationship Type="http://schemas.openxmlformats.org/officeDocument/2006/relationships/notesMaster" Target="/ppt/notesMasters/notesMaster1.xml" Id="R57a7ce662e26492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e7d03afa8148ae" /><Relationship Type="http://schemas.openxmlformats.org/officeDocument/2006/relationships/notesMaster" Target="/ppt/notesMasters/notesMaster1.xml" Id="R82a0175adb8b4cb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9ee890685c43bc" /><Relationship Type="http://schemas.openxmlformats.org/officeDocument/2006/relationships/notesMaster" Target="/ppt/notesMasters/notesMaster1.xml" Id="R439d95b873314e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1 compares pixels and HOG with four classical classifiers. Predict one of ten Fashion-MNIST categories from a single clothing image. Team: docs/team.md. Dataset source: https://github.com/zalandoresearch/fashion-mnist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reports/data_audit.json, src/inventory_tagging/features.py and models.py. Seed 42, stratified split, 4,800 training and 1,200 validation images per category. All eight combinations use the same split. Two settings per combination, selected by validation macro F1 with accuracy breaking ties. Test evaluation happens after choices are frozen. Logistic Regression retains a scaler fitted on training data only. HOG: nine orientation bins, 7x7-pixel cells, 2x2-cell blocks, L2-Hys.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reports/test/results.csv and reports/frozen.json. Validation selected Pixels + Random Forest before final test evaluation. Accuracy is the fraction of correct predictions. Macro F1 averages the precision/recall balance equally across the ten categories. RF uses 400 trees. Timing is the median of 20 warmed single-image runs on the same CPU, including feature extraction, excluding decoding and loading. Saved model size uses MiB.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reports/test/per_class.csv, upper_body_confusions.csv and figures/error_examples.png. Counts refer to the selected Pixels + Random Forest on the 10,000-image official test set. There are 1,000 images per true category. The image grid contains a fixed-seed sample of upper-body mistakes. Similar outlines may contribute; these examples do not establish causation. The study uses one split and a limited settings search. Ordinary photos are experimental and have no measured benchmark accuracy. CNN implementation and evaluation belong to Phase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app.py and dashboard/views.py and dashboard/services.py. Mermaid source: prediction_flow.mmd. The diagram follows the actual app: user chooses an included sample or upload, can change the saved model in settings, then requests prediction. Pixels + Random Forest is the default. The app verifies the recorded SHA-256 before loading a model and uses that record's feature representation. Benchmark mode accepts 28x28 mode-L PNG; experimental preparation converts ordinary PNG/JPEG images and previews the prepared image. Inference time is measured per request and differs from the saved benchmark timing.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34721f0c06342e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5f0fd56561d462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97b504fb06d444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b29a480703f483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32ba7e8b1c64aa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68ebf956cd548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D41D15-5A46-4C6F-B2C8-2900EF69F22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3FF0F23-A6C4-4AA4-B1E9-5BD4B8975DA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F159557-E5D9-4B29-90EC-5F74C740AE2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3CCF2C-D406-4598-86AB-F12988D92A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5D709EA-CA25-44D6-A5EA-54DFCE220C3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1E47895-BC86-426E-B3E6-402801C2183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9C420D9-E6F7-4B40-9730-5C835B2FEC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5DC8DD5-F39F-4F7A-B8CB-E33A32508B3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19B0C2D-3AC6-44EF-9A7C-807FD803DC2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DD13A00-1EFC-4FCA-941F-4EF64721F90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c5cde4c92aa47eb" /><Relationship Type="http://schemas.openxmlformats.org/officeDocument/2006/relationships/slideLayout" Target="/ppt/slideLayouts/slideLayout1.xml" Id="R7f4d3f36a1bc41e7" /><Relationship Type="http://schemas.openxmlformats.org/officeDocument/2006/relationships/slideLayout" Target="/ppt/slideLayouts/slideLayout2.xml" Id="R207bf4145ff7426e" /><Relationship Type="http://schemas.openxmlformats.org/officeDocument/2006/relationships/slideLayout" Target="/ppt/slideLayouts/slideLayout3.xml" Id="Rb5692f937e6f460f" /><Relationship Type="http://schemas.openxmlformats.org/officeDocument/2006/relationships/slideLayout" Target="/ppt/slideLayouts/slideLayout4.xml" Id="Rcff1d3943d4745db" /><Relationship Type="http://schemas.openxmlformats.org/officeDocument/2006/relationships/slideLayout" Target="/ppt/slideLayouts/slideLayout5.xml" Id="Rf3746b9b6f464ae5" /><Relationship Type="http://schemas.openxmlformats.org/officeDocument/2006/relationships/slideLayout" Target="/ppt/slideLayouts/slideLayout6.xml" Id="R4479d1dacf4d4c9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f4d3f36a1bc41e7"/>
    <p:sldLayoutId xmlns:r="http://schemas.openxmlformats.org/officeDocument/2006/relationships" id="2147483650" r:id="R207bf4145ff7426e"/>
    <p:sldLayoutId xmlns:r="http://schemas.openxmlformats.org/officeDocument/2006/relationships" id="2147483651" r:id="Rb5692f937e6f460f"/>
    <p:sldLayoutId xmlns:r="http://schemas.openxmlformats.org/officeDocument/2006/relationships" id="2147483652" r:id="Rcff1d3943d4745db"/>
    <p:sldLayoutId xmlns:r="http://schemas.openxmlformats.org/officeDocument/2006/relationships" id="2147483653" r:id="Rf3746b9b6f464ae5"/>
    <p:sldLayoutId xmlns:r="http://schemas.openxmlformats.org/officeDocument/2006/relationships" id="2147483654" r:id="R4479d1dacf4d4c9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Inventory Image Tagging">
  <a:themeElements>
    <a:clrScheme name="Inventory Image Tagging">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Inventory Image Tagging">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80755817c3b4058" /><Relationship Type="http://schemas.openxmlformats.org/officeDocument/2006/relationships/image" Target="/ppt/media/image.png" Id="R9540de5ca80847e7" /><Relationship Type="http://schemas.openxmlformats.org/officeDocument/2006/relationships/notesSlide" Target="/ppt/notesSlides/notesSlide1.xml" Id="R3bb86bc71c6c46b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470e8428ca9473a" /><Relationship Type="http://schemas.openxmlformats.org/officeDocument/2006/relationships/image" Target="/ppt/media/image2.png" Id="R4bdd92625a1d4910" /><Relationship Type="http://schemas.openxmlformats.org/officeDocument/2006/relationships/notesSlide" Target="/ppt/notesSlides/notesSlide2.xml" Id="Rd6d5bebb5284446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0c65d53c5a347e8" /><Relationship Type="http://schemas.openxmlformats.org/officeDocument/2006/relationships/notesSlide" Target="/ppt/notesSlides/notesSlide3.xml" Id="R1a7184b4b5b24e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0bf0724d0d141b3" /><Relationship Type="http://schemas.openxmlformats.org/officeDocument/2006/relationships/image" Target="/ppt/media/image3.png" Id="Rfddd6ca1804341f1" /><Relationship Type="http://schemas.openxmlformats.org/officeDocument/2006/relationships/notesSlide" Target="/ppt/notesSlides/notesSlide4.xml" Id="R530df1727780490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9f3a67bca53490d" /><Relationship Type="http://schemas.openxmlformats.org/officeDocument/2006/relationships/notesSlide" Target="/ppt/notesSlides/notesSlide5.xml" Id="Rdcf67842eb6b49e6" /></Relationships>
</file>

<file path=ppt/slides/slide1.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360847-5874-4A7A-8275-E286475874D5}"/>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Inventory Image Tagging</a:t>
            </a:r>
          </a:p>
        </p:txBody>
      </p:sp>
      <p:sp>
        <p:nvSpPr>
          <p:cNvPr id="2" name="">
            <a:extLst xmlns:a="http://schemas.openxmlformats.org/drawingml/2006/main">
              <a:ext uri="{FF2B5EF4-FFF2-40B4-BE49-F238E27FC236}">
                <a16:creationId xmlns:a16="http://schemas.microsoft.com/office/drawing/2014/main" id="{FA277B3C-91B6-422A-8DE8-CE35ED24ACFF}"/>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70D2C271-8E60-4BF4-A71B-5E5F8639E3E5}"/>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87650167-B786-4E2A-92EA-B7BB345963F4}"/>
              </a:ext>
            </a:extLst>
          </p:cNvPr>
          <p:cNvSpPr>
            <a:spLocks xmlns:a="http://schemas.openxmlformats.org/drawingml/2006/main" noGrp="1"/>
          </p:cNvSpPr>
          <p:nvPr/>
        </p:nvSpPr>
        <p:spPr>
          <a:xfrm xmlns:a="http://schemas.openxmlformats.org/drawingml/2006/main">
            <a:off x="714375" y="1476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85B70"/>
                </a:solidFill>
                <a:latin typeface="Helvetica Neue"/>
                <a:ea typeface="Helvetica Neue"/>
                <a:cs typeface="Helvetica Neue"/>
              </a:defRPr>
            </a:defPPr>
            <a:lvl1pPr>
              <a:defRPr sz="3450" b="1">
                <a:solidFill>
                  <a:srgbClr val="185B70"/>
                </a:solidFill>
                <a:latin typeface="Helvetica Neue"/>
                <a:ea typeface="Helvetica Neue"/>
                <a:cs typeface="Helvetica Neue"/>
              </a:defRPr>
            </a:lvl1pPr>
            <a:lvl2pPr>
              <a:defRPr sz="3450" b="1">
                <a:solidFill>
                  <a:srgbClr val="185B70"/>
                </a:solidFill>
                <a:latin typeface="Helvetica Neue"/>
                <a:ea typeface="Helvetica Neue"/>
                <a:cs typeface="Helvetica Neue"/>
              </a:defRPr>
            </a:lvl2pPr>
            <a:lvl3pPr>
              <a:defRPr sz="3450" b="1">
                <a:solidFill>
                  <a:srgbClr val="185B70"/>
                </a:solidFill>
                <a:latin typeface="Helvetica Neue"/>
                <a:ea typeface="Helvetica Neue"/>
                <a:cs typeface="Helvetica Neue"/>
              </a:defRPr>
            </a:lvl3pPr>
            <a:lvl4pPr>
              <a:defRPr sz="3450" b="1">
                <a:solidFill>
                  <a:srgbClr val="185B70"/>
                </a:solidFill>
                <a:latin typeface="Helvetica Neue"/>
                <a:ea typeface="Helvetica Neue"/>
                <a:cs typeface="Helvetica Neue"/>
              </a:defRPr>
            </a:lvl4pPr>
            <a:lvl5pPr>
              <a:defRPr sz="3450" b="1">
                <a:solidFill>
                  <a:srgbClr val="185B70"/>
                </a:solidFill>
                <a:latin typeface="Helvetica Neue"/>
                <a:ea typeface="Helvetica Neue"/>
                <a:cs typeface="Helvetica Neue"/>
              </a:defRPr>
            </a:lvl5pPr>
            <a:lvl6pPr>
              <a:defRPr sz="3450" b="1">
                <a:solidFill>
                  <a:srgbClr val="185B70"/>
                </a:solidFill>
                <a:latin typeface="Helvetica Neue"/>
                <a:ea typeface="Helvetica Neue"/>
                <a:cs typeface="Helvetica Neue"/>
              </a:defRPr>
            </a:lvl6pPr>
            <a:lvl7pPr>
              <a:defRPr sz="3450" b="1">
                <a:solidFill>
                  <a:srgbClr val="185B70"/>
                </a:solidFill>
                <a:latin typeface="Helvetica Neue"/>
                <a:ea typeface="Helvetica Neue"/>
                <a:cs typeface="Helvetica Neue"/>
              </a:defRPr>
            </a:lvl7pPr>
            <a:lvl8pPr>
              <a:defRPr sz="3450" b="1">
                <a:solidFill>
                  <a:srgbClr val="185B70"/>
                </a:solidFill>
                <a:latin typeface="Helvetica Neue"/>
                <a:ea typeface="Helvetica Neue"/>
                <a:cs typeface="Helvetica Neue"/>
              </a:defRPr>
            </a:lvl8pPr>
            <a:lvl9pPr>
              <a:defRPr sz="3450" b="1">
                <a:solidFill>
                  <a:srgbClr val="185B70"/>
                </a:solidFill>
                <a:latin typeface="Helvetica Neue"/>
                <a:ea typeface="Helvetica Neue"/>
                <a:cs typeface="Helvetica Neue"/>
              </a:defRPr>
            </a:lvl9pPr>
          </a:lstStyle>
          <a:p xmlns:a="http://schemas.openxmlformats.org/drawingml/2006/main">
            <a:pPr>
              <a:defRPr sz="3450" b="1">
                <a:solidFill>
                  <a:srgbClr val="185B70"/>
                </a:solidFill>
                <a:latin typeface="Helvetica Neue"/>
                <a:ea typeface="Helvetica Neue"/>
                <a:cs typeface="Helvetica Neue"/>
              </a:defRPr>
            </a:pPr>
            <a:r>
              <a:rPr sz="3450" b="1">
                <a:solidFill>
                  <a:srgbClr val="185B70"/>
                </a:solidFill>
                <a:latin typeface="Helvetica Neue"/>
                <a:ea typeface="Helvetica Neue"/>
                <a:cs typeface="Helvetica Neue"/>
              </a:rPr>
              <a:t>One clothing image, one category</a:t>
            </a:r>
          </a:p>
        </p:txBody>
      </p:sp>
      <p:sp>
        <p:nvSpPr>
          <p:cNvPr id="5" name="">
            <a:extLst xmlns:a="http://schemas.openxmlformats.org/drawingml/2006/main">
              <a:ext uri="{FF2B5EF4-FFF2-40B4-BE49-F238E27FC236}">
                <a16:creationId xmlns:a16="http://schemas.microsoft.com/office/drawing/2014/main" id="{99417E5B-1A73-47F1-A9AC-BC64697F899A}"/>
              </a:ext>
            </a:extLst>
          </p:cNvPr>
          <p:cNvSpPr>
            <a:spLocks xmlns:a="http://schemas.openxmlformats.org/drawingml/2006/main" noGrp="1"/>
          </p:cNvSpPr>
          <p:nvPr/>
        </p:nvSpPr>
        <p:spPr>
          <a:xfrm xmlns:a="http://schemas.openxmlformats.org/drawingml/2006/main">
            <a:off x="714375" y="2238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Phase 1: compare simple classifiers on Fashion-MNIST</a:t>
            </a:r>
          </a:p>
        </p:txBody>
      </p:sp>
      <p:pic>
        <p:nvPicPr>
          <p:cNvPr id="6" name="">
            <a:extLst xmlns:a="http://schemas.openxmlformats.org/drawingml/2006/main">
              <a:ext uri="{FF2B5EF4-FFF2-40B4-BE49-F238E27FC236}">
                <a16:creationId xmlns:a16="http://schemas.microsoft.com/office/drawing/2014/main" id="{079A90FF-B5FB-4064-88DF-F2B0B05CD8A4}"/>
              </a:ext>
            </a:extLst>
          </p:cNvPr>
          <p:cNvPicPr>
            <a:picLocks xmlns:a="http://schemas.openxmlformats.org/drawingml/2006/main" noChangeAspect="1"/>
          </p:cNvPicPr>
          <p:nvPr/>
        </p:nvPicPr>
        <p:blipFill>
          <a:blip xmlns:r="http://schemas.openxmlformats.org/officeDocument/2006/relationships" xmlns:a="http://schemas.openxmlformats.org/drawingml/2006/main" r:embed="R9540de5ca80847e7"/>
          <a:stretch xmlns:a="http://schemas.openxmlformats.org/drawingml/2006/main"/>
        </p:blipFill>
        <p:spPr>
          <a:xfrm xmlns:a="http://schemas.openxmlformats.org/drawingml/2006/main">
            <a:off x="2557982" y="2905125"/>
            <a:ext cx="6980786" cy="23336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A2DA66B-BE5A-42F2-83D7-DF25C515ACF0}"/>
              </a:ext>
            </a:extLst>
          </p:cNvPr>
          <p:cNvSpPr>
            <a:spLocks xmlns:a="http://schemas.openxmlformats.org/drawingml/2006/main" noGrp="1"/>
          </p:cNvSpPr>
          <p:nvPr/>
        </p:nvSpPr>
        <p:spPr>
          <a:xfrm xmlns:a="http://schemas.openxmlformats.org/drawingml/2006/main">
            <a:off x="714375" y="5334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28 × 28 grayscale images. Ten categories, including shirts, bags and shoes.</a:t>
            </a:r>
          </a:p>
        </p:txBody>
      </p:sp>
      <p:sp>
        <p:nvSpPr>
          <p:cNvPr id="8" name="">
            <a:extLst xmlns:a="http://schemas.openxmlformats.org/drawingml/2006/main">
              <a:ext uri="{FF2B5EF4-FFF2-40B4-BE49-F238E27FC236}">
                <a16:creationId xmlns:a16="http://schemas.microsoft.com/office/drawing/2014/main" id="{406C9322-F7DE-46E1-841F-9B3840625504}"/>
              </a:ext>
            </a:extLst>
          </p:cNvPr>
          <p:cNvSpPr>
            <a:spLocks xmlns:a="http://schemas.openxmlformats.org/drawingml/2006/main" noGrp="1"/>
          </p:cNvSpPr>
          <p:nvPr/>
        </p:nvSpPr>
        <p:spPr>
          <a:xfrm xmlns:a="http://schemas.openxmlformats.org/drawingml/2006/main">
            <a:off x="714375" y="582930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582"/>
                </a:solidFill>
                <a:latin typeface="Helvetica Neue"/>
                <a:ea typeface="Helvetica Neue"/>
                <a:cs typeface="Helvetica Neue"/>
              </a:defRPr>
            </a:defPPr>
            <a:lvl1pPr>
              <a:defRPr sz="1725" b="0">
                <a:solidFill>
                  <a:srgbClr val="607582"/>
                </a:solidFill>
                <a:latin typeface="Helvetica Neue"/>
                <a:ea typeface="Helvetica Neue"/>
                <a:cs typeface="Helvetica Neue"/>
              </a:defRPr>
            </a:lvl1pPr>
            <a:lvl2pPr>
              <a:defRPr sz="1725" b="0">
                <a:solidFill>
                  <a:srgbClr val="607582"/>
                </a:solidFill>
                <a:latin typeface="Helvetica Neue"/>
                <a:ea typeface="Helvetica Neue"/>
                <a:cs typeface="Helvetica Neue"/>
              </a:defRPr>
            </a:lvl2pPr>
            <a:lvl3pPr>
              <a:defRPr sz="1725" b="0">
                <a:solidFill>
                  <a:srgbClr val="607582"/>
                </a:solidFill>
                <a:latin typeface="Helvetica Neue"/>
                <a:ea typeface="Helvetica Neue"/>
                <a:cs typeface="Helvetica Neue"/>
              </a:defRPr>
            </a:lvl3pPr>
            <a:lvl4pPr>
              <a:defRPr sz="1725" b="0">
                <a:solidFill>
                  <a:srgbClr val="607582"/>
                </a:solidFill>
                <a:latin typeface="Helvetica Neue"/>
                <a:ea typeface="Helvetica Neue"/>
                <a:cs typeface="Helvetica Neue"/>
              </a:defRPr>
            </a:lvl4pPr>
            <a:lvl5pPr>
              <a:defRPr sz="1725" b="0">
                <a:solidFill>
                  <a:srgbClr val="607582"/>
                </a:solidFill>
                <a:latin typeface="Helvetica Neue"/>
                <a:ea typeface="Helvetica Neue"/>
                <a:cs typeface="Helvetica Neue"/>
              </a:defRPr>
            </a:lvl5pPr>
            <a:lvl6pPr>
              <a:defRPr sz="1725" b="0">
                <a:solidFill>
                  <a:srgbClr val="607582"/>
                </a:solidFill>
                <a:latin typeface="Helvetica Neue"/>
                <a:ea typeface="Helvetica Neue"/>
                <a:cs typeface="Helvetica Neue"/>
              </a:defRPr>
            </a:lvl6pPr>
            <a:lvl7pPr>
              <a:defRPr sz="1725" b="0">
                <a:solidFill>
                  <a:srgbClr val="607582"/>
                </a:solidFill>
                <a:latin typeface="Helvetica Neue"/>
                <a:ea typeface="Helvetica Neue"/>
                <a:cs typeface="Helvetica Neue"/>
              </a:defRPr>
            </a:lvl7pPr>
            <a:lvl8pPr>
              <a:defRPr sz="1725" b="0">
                <a:solidFill>
                  <a:srgbClr val="607582"/>
                </a:solidFill>
                <a:latin typeface="Helvetica Neue"/>
                <a:ea typeface="Helvetica Neue"/>
                <a:cs typeface="Helvetica Neue"/>
              </a:defRPr>
            </a:lvl8pPr>
            <a:lvl9pPr>
              <a:defRPr sz="1725" b="0">
                <a:solidFill>
                  <a:srgbClr val="607582"/>
                </a:solidFill>
                <a:latin typeface="Helvetica Neue"/>
                <a:ea typeface="Helvetica Neue"/>
                <a:cs typeface="Helvetica Neue"/>
              </a:defRPr>
            </a:lvl9pPr>
          </a:lstStyle>
          <a:p xmlns:a="http://schemas.openxmlformats.org/drawingml/2006/main">
            <a:pPr>
              <a:defRPr sz="1725" b="0">
                <a:solidFill>
                  <a:srgbClr val="607582"/>
                </a:solidFill>
                <a:latin typeface="Helvetica Neue"/>
                <a:ea typeface="Helvetica Neue"/>
                <a:cs typeface="Helvetica Neue"/>
              </a:defRPr>
            </a:pPr>
            <a:r>
              <a:rPr sz="1725" b="0">
                <a:solidFill>
                  <a:srgbClr val="607582"/>
                </a:solidFill>
                <a:latin typeface="Helvetica Neue"/>
                <a:ea typeface="Helvetica Neue"/>
                <a:cs typeface="Helvetica Neue"/>
              </a:rPr>
              <a:t>Aryan, Divyanshu Singh, Jatin Kumar Singh, Jatin Verma, Kushagra Bhardwaj</a:t>
            </a:r>
          </a:p>
        </p:txBody>
      </p:sp>
    </p:spTree>
    <p:extLst>
      <p:ext uri="{BB962C8B-B14F-4D97-AF65-F5344CB8AC3E}">
        <p14:creationId xmlns:p14="http://schemas.microsoft.com/office/powerpoint/2010/main" val="866331946"/>
      </p:ext>
    </p:extLst>
  </p:cSld>
</p:sld>
</file>

<file path=ppt/slides/slide2.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FAF748-1938-4A76-9BAE-185F684AFF20}"/>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Data and methods</a:t>
            </a:r>
          </a:p>
        </p:txBody>
      </p:sp>
      <p:sp>
        <p:nvSpPr>
          <p:cNvPr id="2" name="">
            <a:extLst xmlns:a="http://schemas.openxmlformats.org/drawingml/2006/main">
              <a:ext uri="{FF2B5EF4-FFF2-40B4-BE49-F238E27FC236}">
                <a16:creationId xmlns:a16="http://schemas.microsoft.com/office/drawing/2014/main" id="{B53BF048-C03D-44E6-B6EB-A8450BA8D6D7}"/>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27D61D6D-DE8D-4548-92D4-7AAE2DF9A5F5}"/>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02</a:t>
            </a:r>
          </a:p>
        </p:txBody>
      </p:sp>
      <p:graphicFrame>
        <p:nvGraphicFramePr>
          <p:cNvPr id="4" name="">
            <a:extLst xmlns:a="http://schemas.openxmlformats.org/drawingml/2006/main">
              <a:ext uri="{FF2B5EF4-FFF2-40B4-BE49-F238E27FC236}">
                <a16:creationId xmlns:a16="http://schemas.microsoft.com/office/drawing/2014/main" id="{53927566-98FC-4AA4-BFC1-BD5CB42B7F01}"/>
              </a:ext>
            </a:extLst>
          </p:cNvPr>
          <p:cNvGraphicFramePr/>
          <p:nvPr/>
        </p:nvGraphicFramePr>
        <p:xfrm>
          <a:off xmlns:a="http://schemas.openxmlformats.org/drawingml/2006/main" x="714375" y="1476375"/>
          <a:ext xmlns:a="http://schemas.openxmlformats.org/drawingml/2006/main" cx="4810125" cy="2428875"/>
        </p:xfrm>
        <a:graphic xmlns:a="http://schemas.openxmlformats.org/drawingml/2006/main">
          <a:graphicData uri="http://schemas.openxmlformats.org/drawingml/2006/table">
            <a:tbl>
              <a:tblPr/>
              <a:tblGrid>
                <a:gridCol w="3095625"/>
                <a:gridCol w="1714500"/>
              </a:tblGrid>
              <a:tr h="607219">
                <a:tc>
                  <a:txBody>
                    <a:bodyPr/>
                    <a:lstStyle/>
                    <a:p>
                      <a:r>
                        <a:rPr sz="1800" b="1">
                          <a:solidFill>
                            <a:srgbClr val="FFFFFF"/>
                          </a:solidFill>
                          <a:latin typeface="Helvetica Neue"/>
                          <a:ea typeface="Helvetica Neue"/>
                          <a:cs typeface="Helvetica Neue"/>
                        </a:rPr>
                        <a:t>Data split</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Images</a:t>
                      </a:r>
                    </a:p>
                  </a:txBody>
                  <a:tcPr marL="91440" marR="91440" marT="45720" marB="45720">
                    <a:solidFill>
                      <a:srgbClr val="185B70"/>
                    </a:solidFill>
                  </a:tcPr>
                </a:tc>
              </a:tr>
              <a:tr h="607219">
                <a:tc>
                  <a:txBody>
                    <a:bodyPr/>
                    <a:lstStyle/>
                    <a:p>
                      <a:r>
                        <a:rPr sz="1800" b="0">
                          <a:solidFill>
                            <a:srgbClr val="20333F"/>
                          </a:solidFill>
                          <a:latin typeface="Helvetica Neue"/>
                          <a:ea typeface="Helvetica Neue"/>
                          <a:cs typeface="Helvetica Neue"/>
                        </a:rPr>
                        <a:t>Train models</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48,000</a:t>
                      </a:r>
                    </a:p>
                  </a:txBody>
                  <a:tcPr marL="91440" marR="91440" marT="45720" marB="45720">
                    <a:solidFill>
                      <a:srgbClr val="EDF3F5"/>
                    </a:solidFill>
                  </a:tcPr>
                </a:tc>
              </a:tr>
              <a:tr h="607219">
                <a:tc>
                  <a:txBody>
                    <a:bodyPr/>
                    <a:lstStyle/>
                    <a:p>
                      <a:r>
                        <a:rPr sz="1800" b="0">
                          <a:solidFill>
                            <a:srgbClr val="20333F"/>
                          </a:solidFill>
                          <a:latin typeface="Helvetica Neue"/>
                          <a:ea typeface="Helvetica Neue"/>
                          <a:cs typeface="Helvetica Neue"/>
                        </a:rPr>
                        <a:t>Choose settings</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12,000</a:t>
                      </a:r>
                    </a:p>
                  </a:txBody>
                  <a:tcPr marL="91440" marR="91440" marT="45720" marB="45720">
                    <a:solidFill>
                      <a:srgbClr val="FFFFFF"/>
                    </a:solidFill>
                  </a:tcPr>
                </a:tc>
              </a:tr>
              <a:tr h="607219">
                <a:tc>
                  <a:txBody>
                    <a:bodyPr/>
                    <a:lstStyle/>
                    <a:p>
                      <a:r>
                        <a:rPr sz="1800" b="0">
                          <a:solidFill>
                            <a:srgbClr val="20333F"/>
                          </a:solidFill>
                          <a:latin typeface="Helvetica Neue"/>
                          <a:ea typeface="Helvetica Neue"/>
                          <a:cs typeface="Helvetica Neue"/>
                        </a:rPr>
                        <a:t>Final test</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10,000</a:t>
                      </a:r>
                    </a:p>
                  </a:txBody>
                  <a:tcPr marL="91440" marR="91440" marT="45720" marB="45720">
                    <a:solidFill>
                      <a:srgbClr val="EDF3F5"/>
                    </a:solidFill>
                  </a:tcPr>
                </a:tc>
              </a:tr>
            </a:tbl>
          </a:graphicData>
        </a:graphic>
      </p:graphicFrame>
      <p:sp>
        <p:nvSpPr>
          <p:cNvPr id="5" name="">
            <a:extLst xmlns:a="http://schemas.openxmlformats.org/drawingml/2006/main">
              <a:ext uri="{FF2B5EF4-FFF2-40B4-BE49-F238E27FC236}">
                <a16:creationId xmlns:a16="http://schemas.microsoft.com/office/drawing/2014/main" id="{B3E338D4-AE7F-497A-83C3-2241B032E5B4}"/>
              </a:ext>
            </a:extLst>
          </p:cNvPr>
          <p:cNvSpPr>
            <a:spLocks xmlns:a="http://schemas.openxmlformats.org/drawingml/2006/main" noGrp="1"/>
          </p:cNvSpPr>
          <p:nvPr/>
        </p:nvSpPr>
        <p:spPr>
          <a:xfrm xmlns:a="http://schemas.openxmlformats.org/drawingml/2006/main">
            <a:off x="5953125" y="1476375"/>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85B70"/>
                </a:solidFill>
                <a:latin typeface="Helvetica Neue"/>
                <a:ea typeface="Helvetica Neue"/>
                <a:cs typeface="Helvetica Neue"/>
              </a:defRPr>
            </a:defPPr>
            <a:lvl1pPr>
              <a:defRPr sz="2175" b="1">
                <a:solidFill>
                  <a:srgbClr val="185B70"/>
                </a:solidFill>
                <a:latin typeface="Helvetica Neue"/>
                <a:ea typeface="Helvetica Neue"/>
                <a:cs typeface="Helvetica Neue"/>
              </a:defRPr>
            </a:lvl1pPr>
            <a:lvl2pPr>
              <a:defRPr sz="2175" b="1">
                <a:solidFill>
                  <a:srgbClr val="185B70"/>
                </a:solidFill>
                <a:latin typeface="Helvetica Neue"/>
                <a:ea typeface="Helvetica Neue"/>
                <a:cs typeface="Helvetica Neue"/>
              </a:defRPr>
            </a:lvl2pPr>
            <a:lvl3pPr>
              <a:defRPr sz="2175" b="1">
                <a:solidFill>
                  <a:srgbClr val="185B70"/>
                </a:solidFill>
                <a:latin typeface="Helvetica Neue"/>
                <a:ea typeface="Helvetica Neue"/>
                <a:cs typeface="Helvetica Neue"/>
              </a:defRPr>
            </a:lvl3pPr>
            <a:lvl4pPr>
              <a:defRPr sz="2175" b="1">
                <a:solidFill>
                  <a:srgbClr val="185B70"/>
                </a:solidFill>
                <a:latin typeface="Helvetica Neue"/>
                <a:ea typeface="Helvetica Neue"/>
                <a:cs typeface="Helvetica Neue"/>
              </a:defRPr>
            </a:lvl4pPr>
            <a:lvl5pPr>
              <a:defRPr sz="2175" b="1">
                <a:solidFill>
                  <a:srgbClr val="185B70"/>
                </a:solidFill>
                <a:latin typeface="Helvetica Neue"/>
                <a:ea typeface="Helvetica Neue"/>
                <a:cs typeface="Helvetica Neue"/>
              </a:defRPr>
            </a:lvl5pPr>
            <a:lvl6pPr>
              <a:defRPr sz="2175" b="1">
                <a:solidFill>
                  <a:srgbClr val="185B70"/>
                </a:solidFill>
                <a:latin typeface="Helvetica Neue"/>
                <a:ea typeface="Helvetica Neue"/>
                <a:cs typeface="Helvetica Neue"/>
              </a:defRPr>
            </a:lvl6pPr>
            <a:lvl7pPr>
              <a:defRPr sz="2175" b="1">
                <a:solidFill>
                  <a:srgbClr val="185B70"/>
                </a:solidFill>
                <a:latin typeface="Helvetica Neue"/>
                <a:ea typeface="Helvetica Neue"/>
                <a:cs typeface="Helvetica Neue"/>
              </a:defRPr>
            </a:lvl7pPr>
            <a:lvl8pPr>
              <a:defRPr sz="2175" b="1">
                <a:solidFill>
                  <a:srgbClr val="185B70"/>
                </a:solidFill>
                <a:latin typeface="Helvetica Neue"/>
                <a:ea typeface="Helvetica Neue"/>
                <a:cs typeface="Helvetica Neue"/>
              </a:defRPr>
            </a:lvl8pPr>
            <a:lvl9pPr>
              <a:defRPr sz="2175" b="1">
                <a:solidFill>
                  <a:srgbClr val="185B70"/>
                </a:solidFill>
                <a:latin typeface="Helvetica Neue"/>
                <a:ea typeface="Helvetica Neue"/>
                <a:cs typeface="Helvetica Neue"/>
              </a:defRPr>
            </a:lvl9pPr>
          </a:lstStyle>
          <a:p xmlns:a="http://schemas.openxmlformats.org/drawingml/2006/main">
            <a:pPr>
              <a:defRPr sz="2175" b="1">
                <a:solidFill>
                  <a:srgbClr val="185B70"/>
                </a:solidFill>
                <a:latin typeface="Helvetica Neue"/>
                <a:ea typeface="Helvetica Neue"/>
                <a:cs typeface="Helvetica Neue"/>
              </a:defRPr>
            </a:pPr>
            <a:r>
              <a:rPr sz="2175" b="1">
                <a:solidFill>
                  <a:srgbClr val="185B70"/>
                </a:solidFill>
                <a:latin typeface="Helvetica Neue"/>
                <a:ea typeface="Helvetica Neue"/>
                <a:cs typeface="Helvetica Neue"/>
              </a:rPr>
              <a:t>Pixels: 784 brightness values</a:t>
            </a:r>
          </a:p>
        </p:txBody>
      </p:sp>
      <p:sp>
        <p:nvSpPr>
          <p:cNvPr id="6" name="">
            <a:extLst xmlns:a="http://schemas.openxmlformats.org/drawingml/2006/main">
              <a:ext uri="{FF2B5EF4-FFF2-40B4-BE49-F238E27FC236}">
                <a16:creationId xmlns:a16="http://schemas.microsoft.com/office/drawing/2014/main" id="{9E36CE81-1104-4BD8-BD75-51F3B825EC32}"/>
              </a:ext>
            </a:extLst>
          </p:cNvPr>
          <p:cNvSpPr>
            <a:spLocks xmlns:a="http://schemas.openxmlformats.org/drawingml/2006/main" noGrp="1"/>
          </p:cNvSpPr>
          <p:nvPr/>
        </p:nvSpPr>
        <p:spPr>
          <a:xfrm xmlns:a="http://schemas.openxmlformats.org/drawingml/2006/main">
            <a:off x="5953125" y="2019300"/>
            <a:ext cx="5619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0333F"/>
                </a:solidFill>
                <a:latin typeface="Helvetica Neue"/>
                <a:ea typeface="Helvetica Neue"/>
                <a:cs typeface="Helvetica Neue"/>
              </a:defRPr>
            </a:defPPr>
            <a:lvl1pPr>
              <a:defRPr sz="2100" b="0">
                <a:solidFill>
                  <a:srgbClr val="20333F"/>
                </a:solidFill>
                <a:latin typeface="Helvetica Neue"/>
                <a:ea typeface="Helvetica Neue"/>
                <a:cs typeface="Helvetica Neue"/>
              </a:defRPr>
            </a:lvl1pPr>
            <a:lvl2pPr>
              <a:defRPr sz="2100" b="0">
                <a:solidFill>
                  <a:srgbClr val="20333F"/>
                </a:solidFill>
                <a:latin typeface="Helvetica Neue"/>
                <a:ea typeface="Helvetica Neue"/>
                <a:cs typeface="Helvetica Neue"/>
              </a:defRPr>
            </a:lvl2pPr>
            <a:lvl3pPr>
              <a:defRPr sz="2100" b="0">
                <a:solidFill>
                  <a:srgbClr val="20333F"/>
                </a:solidFill>
                <a:latin typeface="Helvetica Neue"/>
                <a:ea typeface="Helvetica Neue"/>
                <a:cs typeface="Helvetica Neue"/>
              </a:defRPr>
            </a:lvl3pPr>
            <a:lvl4pPr>
              <a:defRPr sz="2100" b="0">
                <a:solidFill>
                  <a:srgbClr val="20333F"/>
                </a:solidFill>
                <a:latin typeface="Helvetica Neue"/>
                <a:ea typeface="Helvetica Neue"/>
                <a:cs typeface="Helvetica Neue"/>
              </a:defRPr>
            </a:lvl4pPr>
            <a:lvl5pPr>
              <a:defRPr sz="2100" b="0">
                <a:solidFill>
                  <a:srgbClr val="20333F"/>
                </a:solidFill>
                <a:latin typeface="Helvetica Neue"/>
                <a:ea typeface="Helvetica Neue"/>
                <a:cs typeface="Helvetica Neue"/>
              </a:defRPr>
            </a:lvl5pPr>
            <a:lvl6pPr>
              <a:defRPr sz="2100" b="0">
                <a:solidFill>
                  <a:srgbClr val="20333F"/>
                </a:solidFill>
                <a:latin typeface="Helvetica Neue"/>
                <a:ea typeface="Helvetica Neue"/>
                <a:cs typeface="Helvetica Neue"/>
              </a:defRPr>
            </a:lvl6pPr>
            <a:lvl7pPr>
              <a:defRPr sz="2100" b="0">
                <a:solidFill>
                  <a:srgbClr val="20333F"/>
                </a:solidFill>
                <a:latin typeface="Helvetica Neue"/>
                <a:ea typeface="Helvetica Neue"/>
                <a:cs typeface="Helvetica Neue"/>
              </a:defRPr>
            </a:lvl7pPr>
            <a:lvl8pPr>
              <a:defRPr sz="2100" b="0">
                <a:solidFill>
                  <a:srgbClr val="20333F"/>
                </a:solidFill>
                <a:latin typeface="Helvetica Neue"/>
                <a:ea typeface="Helvetica Neue"/>
                <a:cs typeface="Helvetica Neue"/>
              </a:defRPr>
            </a:lvl8pPr>
            <a:lvl9pPr>
              <a:defRPr sz="2100" b="0">
                <a:solidFill>
                  <a:srgbClr val="20333F"/>
                </a:solidFill>
                <a:latin typeface="Helvetica Neue"/>
                <a:ea typeface="Helvetica Neue"/>
                <a:cs typeface="Helvetica Neue"/>
              </a:defRPr>
            </a:lvl9pPr>
          </a:lstStyle>
          <a:p xmlns:a="http://schemas.openxmlformats.org/drawingml/2006/main">
            <a:pPr>
              <a:defRPr sz="2100" b="0">
                <a:solidFill>
                  <a:srgbClr val="20333F"/>
                </a:solidFill>
                <a:latin typeface="Helvetica Neue"/>
                <a:ea typeface="Helvetica Neue"/>
                <a:cs typeface="Helvetica Neue"/>
              </a:defRPr>
            </a:pPr>
            <a:r>
              <a:rPr sz="2100" b="0">
                <a:solidFill>
                  <a:srgbClr val="20333F"/>
                </a:solidFill>
                <a:latin typeface="Helvetica Neue"/>
                <a:ea typeface="Helvetica Neue"/>
                <a:cs typeface="Helvetica Neue"/>
              </a:rPr>
              <a:t>HOG: 324 values describing edge directions</a:t>
            </a:r>
          </a:p>
        </p:txBody>
      </p:sp>
      <p:pic>
        <p:nvPicPr>
          <p:cNvPr id="7" name="">
            <a:extLst xmlns:a="http://schemas.openxmlformats.org/drawingml/2006/main">
              <a:ext uri="{FF2B5EF4-FFF2-40B4-BE49-F238E27FC236}">
                <a16:creationId xmlns:a16="http://schemas.microsoft.com/office/drawing/2014/main" id="{62C276CB-BE16-4FD3-BF7D-C9DA07A2736D}"/>
              </a:ext>
            </a:extLst>
          </p:cNvPr>
          <p:cNvPicPr>
            <a:picLocks xmlns:a="http://schemas.openxmlformats.org/drawingml/2006/main" noChangeAspect="1"/>
          </p:cNvPicPr>
          <p:nvPr/>
        </p:nvPicPr>
        <p:blipFill>
          <a:blip xmlns:r="http://schemas.openxmlformats.org/officeDocument/2006/relationships" xmlns:a="http://schemas.openxmlformats.org/drawingml/2006/main" r:embed="R4bdd92625a1d4910"/>
          <a:stretch xmlns:a="http://schemas.openxmlformats.org/drawingml/2006/main"/>
        </p:blipFill>
        <p:spPr>
          <a:xfrm xmlns:a="http://schemas.openxmlformats.org/drawingml/2006/main">
            <a:off x="6959836" y="2857500"/>
            <a:ext cx="3511077" cy="16668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C8A715D-9AA0-4CD9-9B8E-8F43B7D0E347}"/>
              </a:ext>
            </a:extLst>
          </p:cNvPr>
          <p:cNvSpPr>
            <a:spLocks xmlns:a="http://schemas.openxmlformats.org/drawingml/2006/main" noGrp="1"/>
          </p:cNvSpPr>
          <p:nvPr/>
        </p:nvSpPr>
        <p:spPr>
          <a:xfrm xmlns:a="http://schemas.openxmlformats.org/drawingml/2006/main">
            <a:off x="714375" y="4191000"/>
            <a:ext cx="4857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85B70"/>
                </a:solidFill>
                <a:latin typeface="Helvetica Neue"/>
                <a:ea typeface="Helvetica Neue"/>
                <a:cs typeface="Helvetica Neue"/>
              </a:defRPr>
            </a:defPPr>
            <a:lvl1pPr>
              <a:defRPr sz="2250" b="1">
                <a:solidFill>
                  <a:srgbClr val="185B70"/>
                </a:solidFill>
                <a:latin typeface="Helvetica Neue"/>
                <a:ea typeface="Helvetica Neue"/>
                <a:cs typeface="Helvetica Neue"/>
              </a:defRPr>
            </a:lvl1pPr>
            <a:lvl2pPr>
              <a:defRPr sz="2250" b="1">
                <a:solidFill>
                  <a:srgbClr val="185B70"/>
                </a:solidFill>
                <a:latin typeface="Helvetica Neue"/>
                <a:ea typeface="Helvetica Neue"/>
                <a:cs typeface="Helvetica Neue"/>
              </a:defRPr>
            </a:lvl2pPr>
            <a:lvl3pPr>
              <a:defRPr sz="2250" b="1">
                <a:solidFill>
                  <a:srgbClr val="185B70"/>
                </a:solidFill>
                <a:latin typeface="Helvetica Neue"/>
                <a:ea typeface="Helvetica Neue"/>
                <a:cs typeface="Helvetica Neue"/>
              </a:defRPr>
            </a:lvl3pPr>
            <a:lvl4pPr>
              <a:defRPr sz="2250" b="1">
                <a:solidFill>
                  <a:srgbClr val="185B70"/>
                </a:solidFill>
                <a:latin typeface="Helvetica Neue"/>
                <a:ea typeface="Helvetica Neue"/>
                <a:cs typeface="Helvetica Neue"/>
              </a:defRPr>
            </a:lvl4pPr>
            <a:lvl5pPr>
              <a:defRPr sz="2250" b="1">
                <a:solidFill>
                  <a:srgbClr val="185B70"/>
                </a:solidFill>
                <a:latin typeface="Helvetica Neue"/>
                <a:ea typeface="Helvetica Neue"/>
                <a:cs typeface="Helvetica Neue"/>
              </a:defRPr>
            </a:lvl5pPr>
            <a:lvl6pPr>
              <a:defRPr sz="2250" b="1">
                <a:solidFill>
                  <a:srgbClr val="185B70"/>
                </a:solidFill>
                <a:latin typeface="Helvetica Neue"/>
                <a:ea typeface="Helvetica Neue"/>
                <a:cs typeface="Helvetica Neue"/>
              </a:defRPr>
            </a:lvl6pPr>
            <a:lvl7pPr>
              <a:defRPr sz="2250" b="1">
                <a:solidFill>
                  <a:srgbClr val="185B70"/>
                </a:solidFill>
                <a:latin typeface="Helvetica Neue"/>
                <a:ea typeface="Helvetica Neue"/>
                <a:cs typeface="Helvetica Neue"/>
              </a:defRPr>
            </a:lvl7pPr>
            <a:lvl8pPr>
              <a:defRPr sz="2250" b="1">
                <a:solidFill>
                  <a:srgbClr val="185B70"/>
                </a:solidFill>
                <a:latin typeface="Helvetica Neue"/>
                <a:ea typeface="Helvetica Neue"/>
                <a:cs typeface="Helvetica Neue"/>
              </a:defRPr>
            </a:lvl8pPr>
            <a:lvl9pPr>
              <a:defRPr sz="2250" b="1">
                <a:solidFill>
                  <a:srgbClr val="185B70"/>
                </a:solidFill>
                <a:latin typeface="Helvetica Neue"/>
                <a:ea typeface="Helvetica Neue"/>
                <a:cs typeface="Helvetica Neue"/>
              </a:defRPr>
            </a:lvl9pPr>
          </a:lstStyle>
          <a:p xmlns:a="http://schemas.openxmlformats.org/drawingml/2006/main">
            <a:pPr>
              <a:defRPr sz="2250" b="1">
                <a:solidFill>
                  <a:srgbClr val="185B70"/>
                </a:solidFill>
                <a:latin typeface="Helvetica Neue"/>
                <a:ea typeface="Helvetica Neue"/>
                <a:cs typeface="Helvetica Neue"/>
              </a:defRPr>
            </a:pPr>
            <a:r>
              <a:rPr sz="2250" b="1">
                <a:solidFill>
                  <a:srgbClr val="185B70"/>
                </a:solidFill>
                <a:latin typeface="Helvetica Neue"/>
                <a:ea typeface="Helvetica Neue"/>
                <a:cs typeface="Helvetica Neue"/>
              </a:rPr>
              <a:t>Same data for all eight combinations</a:t>
            </a:r>
          </a:p>
        </p:txBody>
      </p:sp>
      <p:sp>
        <p:nvSpPr>
          <p:cNvPr id="9" name="">
            <a:extLst xmlns:a="http://schemas.openxmlformats.org/drawingml/2006/main">
              <a:ext uri="{FF2B5EF4-FFF2-40B4-BE49-F238E27FC236}">
                <a16:creationId xmlns:a16="http://schemas.microsoft.com/office/drawing/2014/main" id="{71F271BD-59CC-45D2-AF1E-452E0C6DF789}"/>
              </a:ext>
            </a:extLst>
          </p:cNvPr>
          <p:cNvSpPr>
            <a:spLocks xmlns:a="http://schemas.openxmlformats.org/drawingml/2006/main" noGrp="1"/>
          </p:cNvSpPr>
          <p:nvPr/>
        </p:nvSpPr>
        <p:spPr>
          <a:xfrm xmlns:a="http://schemas.openxmlformats.org/drawingml/2006/main">
            <a:off x="714375" y="50958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Two ways to describe images × four classifiers = eight models</a:t>
            </a:r>
          </a:p>
        </p:txBody>
      </p:sp>
      <p:sp>
        <p:nvSpPr>
          <p:cNvPr id="10" name="">
            <a:extLst xmlns:a="http://schemas.openxmlformats.org/drawingml/2006/main">
              <a:ext uri="{FF2B5EF4-FFF2-40B4-BE49-F238E27FC236}">
                <a16:creationId xmlns:a16="http://schemas.microsoft.com/office/drawing/2014/main" id="{7F893B0A-C17E-4DAA-84C5-58F86A2AD8F6}"/>
              </a:ext>
            </a:extLst>
          </p:cNvPr>
          <p:cNvSpPr>
            <a:spLocks xmlns:a="http://schemas.openxmlformats.org/drawingml/2006/main" noGrp="1"/>
          </p:cNvSpPr>
          <p:nvPr/>
        </p:nvSpPr>
        <p:spPr>
          <a:xfrm xmlns:a="http://schemas.openxmlformats.org/drawingml/2006/main">
            <a:off x="714375" y="56483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0333F"/>
                </a:solidFill>
                <a:latin typeface="Helvetica Neue"/>
                <a:ea typeface="Helvetica Neue"/>
                <a:cs typeface="Helvetica Neue"/>
              </a:defRPr>
            </a:defPPr>
            <a:lvl1pPr>
              <a:defRPr sz="2100" b="0">
                <a:solidFill>
                  <a:srgbClr val="20333F"/>
                </a:solidFill>
                <a:latin typeface="Helvetica Neue"/>
                <a:ea typeface="Helvetica Neue"/>
                <a:cs typeface="Helvetica Neue"/>
              </a:defRPr>
            </a:lvl1pPr>
            <a:lvl2pPr>
              <a:defRPr sz="2100" b="0">
                <a:solidFill>
                  <a:srgbClr val="20333F"/>
                </a:solidFill>
                <a:latin typeface="Helvetica Neue"/>
                <a:ea typeface="Helvetica Neue"/>
                <a:cs typeface="Helvetica Neue"/>
              </a:defRPr>
            </a:lvl2pPr>
            <a:lvl3pPr>
              <a:defRPr sz="2100" b="0">
                <a:solidFill>
                  <a:srgbClr val="20333F"/>
                </a:solidFill>
                <a:latin typeface="Helvetica Neue"/>
                <a:ea typeface="Helvetica Neue"/>
                <a:cs typeface="Helvetica Neue"/>
              </a:defRPr>
            </a:lvl3pPr>
            <a:lvl4pPr>
              <a:defRPr sz="2100" b="0">
                <a:solidFill>
                  <a:srgbClr val="20333F"/>
                </a:solidFill>
                <a:latin typeface="Helvetica Neue"/>
                <a:ea typeface="Helvetica Neue"/>
                <a:cs typeface="Helvetica Neue"/>
              </a:defRPr>
            </a:lvl4pPr>
            <a:lvl5pPr>
              <a:defRPr sz="2100" b="0">
                <a:solidFill>
                  <a:srgbClr val="20333F"/>
                </a:solidFill>
                <a:latin typeface="Helvetica Neue"/>
                <a:ea typeface="Helvetica Neue"/>
                <a:cs typeface="Helvetica Neue"/>
              </a:defRPr>
            </a:lvl5pPr>
            <a:lvl6pPr>
              <a:defRPr sz="2100" b="0">
                <a:solidFill>
                  <a:srgbClr val="20333F"/>
                </a:solidFill>
                <a:latin typeface="Helvetica Neue"/>
                <a:ea typeface="Helvetica Neue"/>
                <a:cs typeface="Helvetica Neue"/>
              </a:defRPr>
            </a:lvl6pPr>
            <a:lvl7pPr>
              <a:defRPr sz="2100" b="0">
                <a:solidFill>
                  <a:srgbClr val="20333F"/>
                </a:solidFill>
                <a:latin typeface="Helvetica Neue"/>
                <a:ea typeface="Helvetica Neue"/>
                <a:cs typeface="Helvetica Neue"/>
              </a:defRPr>
            </a:lvl7pPr>
            <a:lvl8pPr>
              <a:defRPr sz="2100" b="0">
                <a:solidFill>
                  <a:srgbClr val="20333F"/>
                </a:solidFill>
                <a:latin typeface="Helvetica Neue"/>
                <a:ea typeface="Helvetica Neue"/>
                <a:cs typeface="Helvetica Neue"/>
              </a:defRPr>
            </a:lvl8pPr>
            <a:lvl9pPr>
              <a:defRPr sz="2100" b="0">
                <a:solidFill>
                  <a:srgbClr val="20333F"/>
                </a:solidFill>
                <a:latin typeface="Helvetica Neue"/>
                <a:ea typeface="Helvetica Neue"/>
                <a:cs typeface="Helvetica Neue"/>
              </a:defRPr>
            </a:lvl9pPr>
          </a:lstStyle>
          <a:p xmlns:a="http://schemas.openxmlformats.org/drawingml/2006/main">
            <a:pPr>
              <a:defRPr sz="2100" b="0">
                <a:solidFill>
                  <a:srgbClr val="20333F"/>
                </a:solidFill>
                <a:latin typeface="Helvetica Neue"/>
                <a:ea typeface="Helvetica Neue"/>
                <a:cs typeface="Helvetica Neue"/>
              </a:defRPr>
            </a:pPr>
            <a:r>
              <a:rPr sz="2100" b="0">
                <a:solidFill>
                  <a:srgbClr val="20333F"/>
                </a:solidFill>
                <a:latin typeface="Helvetica Neue"/>
                <a:ea typeface="Helvetica Neue"/>
                <a:cs typeface="Helvetica Neue"/>
              </a:rPr>
              <a:t>Logistic Regression, k-NN, Random Forest and Linear SVM</a:t>
            </a:r>
          </a:p>
        </p:txBody>
      </p:sp>
    </p:spTree>
    <p:extLst>
      <p:ext uri="{BB962C8B-B14F-4D97-AF65-F5344CB8AC3E}">
        <p14:creationId xmlns:p14="http://schemas.microsoft.com/office/powerpoint/2010/main" val="887003319"/>
      </p:ext>
    </p:extLst>
  </p:cSld>
</p:sld>
</file>

<file path=ppt/slides/slide3.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ED42AC-614A-419A-A59B-FA5A877BF81D}"/>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Results on the final test set</a:t>
            </a:r>
          </a:p>
        </p:txBody>
      </p:sp>
      <p:sp>
        <p:nvSpPr>
          <p:cNvPr id="2" name="">
            <a:extLst xmlns:a="http://schemas.openxmlformats.org/drawingml/2006/main">
              <a:ext uri="{FF2B5EF4-FFF2-40B4-BE49-F238E27FC236}">
                <a16:creationId xmlns:a16="http://schemas.microsoft.com/office/drawing/2014/main" id="{9AC3D808-6C94-4436-ACC1-C7210F376FFC}"/>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DC2AD443-FD1C-4BD5-A595-734FF56ACD6A}"/>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03</a:t>
            </a:r>
          </a:p>
        </p:txBody>
      </p:sp>
      <p:graphicFrame>
        <p:nvGraphicFramePr>
          <p:cNvPr id="4" name="">
            <a:extLst xmlns:a="http://schemas.openxmlformats.org/drawingml/2006/main">
              <a:ext uri="{FF2B5EF4-FFF2-40B4-BE49-F238E27FC236}">
                <a16:creationId xmlns:a16="http://schemas.microsoft.com/office/drawing/2014/main" id="{CE84DCC7-F7DD-488F-9079-3009319C66C2}"/>
              </a:ext>
            </a:extLst>
          </p:cNvPr>
          <p:cNvGraphicFramePr/>
          <p:nvPr/>
        </p:nvGraphicFramePr>
        <p:xfrm>
          <a:off xmlns:a="http://schemas.openxmlformats.org/drawingml/2006/main" x="619125" y="1476375"/>
          <a:ext xmlns:a="http://schemas.openxmlformats.org/drawingml/2006/main" cx="10953750" cy="3048000"/>
        </p:xfrm>
        <a:graphic xmlns:a="http://schemas.openxmlformats.org/drawingml/2006/main">
          <a:graphicData uri="http://schemas.openxmlformats.org/drawingml/2006/table">
            <a:tbl>
              <a:tblPr/>
              <a:tblGrid>
                <a:gridCol w="3143250"/>
                <a:gridCol w="2286000"/>
                <a:gridCol w="2190750"/>
                <a:gridCol w="1666875"/>
                <a:gridCol w="1666875"/>
              </a:tblGrid>
              <a:tr h="609600">
                <a:tc>
                  <a:txBody>
                    <a:bodyPr/>
                    <a:lstStyle/>
                    <a:p>
                      <a:r>
                        <a:rPr sz="1800" b="1">
                          <a:solidFill>
                            <a:srgbClr val="FFFFFF"/>
                          </a:solidFill>
                          <a:latin typeface="Helvetica Neue"/>
                          <a:ea typeface="Helvetica Neue"/>
                          <a:cs typeface="Helvetica Neue"/>
                        </a:rPr>
                        <a:t>Classifier</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Pixels accuracy</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HOG accuracy</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Pixels macro F1</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HOG macro F1</a:t>
                      </a:r>
                    </a:p>
                  </a:txBody>
                  <a:tcPr marL="91440" marR="91440" marT="45720" marB="45720">
                    <a:solidFill>
                      <a:srgbClr val="185B70"/>
                    </a:solidFill>
                  </a:tcPr>
                </a:tc>
              </a:tr>
              <a:tr h="609600">
                <a:tc>
                  <a:txBody>
                    <a:bodyPr/>
                    <a:lstStyle/>
                    <a:p>
                      <a:r>
                        <a:rPr sz="1800" b="0">
                          <a:solidFill>
                            <a:srgbClr val="20333F"/>
                          </a:solidFill>
                          <a:latin typeface="Helvetica Neue"/>
                          <a:ea typeface="Helvetica Neue"/>
                          <a:cs typeface="Helvetica Neue"/>
                        </a:rPr>
                        <a:t>Random Forest</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87.61%</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84.59%</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0.8747</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0.8455</a:t>
                      </a:r>
                    </a:p>
                  </a:txBody>
                  <a:tcPr marL="91440" marR="91440" marT="45720" marB="45720">
                    <a:solidFill>
                      <a:srgbClr val="EDF3F5"/>
                    </a:solidFill>
                  </a:tcPr>
                </a:tc>
              </a:tr>
              <a:tr h="609600">
                <a:tc>
                  <a:txBody>
                    <a:bodyPr/>
                    <a:lstStyle/>
                    <a:p>
                      <a:r>
                        <a:rPr sz="1800" b="0">
                          <a:solidFill>
                            <a:srgbClr val="20333F"/>
                          </a:solidFill>
                          <a:latin typeface="Helvetica Neue"/>
                          <a:ea typeface="Helvetica Neue"/>
                          <a:cs typeface="Helvetica Neue"/>
                        </a:rPr>
                        <a:t>k-NN</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85.09%</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83.81%</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0.8515</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0.8382</a:t>
                      </a:r>
                    </a:p>
                  </a:txBody>
                  <a:tcPr marL="91440" marR="91440" marT="45720" marB="45720">
                    <a:solidFill>
                      <a:srgbClr val="FFFFFF"/>
                    </a:solidFill>
                  </a:tcPr>
                </a:tc>
              </a:tr>
              <a:tr h="609600">
                <a:tc>
                  <a:txBody>
                    <a:bodyPr/>
                    <a:lstStyle/>
                    <a:p>
                      <a:r>
                        <a:rPr sz="1800" b="0">
                          <a:solidFill>
                            <a:srgbClr val="20333F"/>
                          </a:solidFill>
                          <a:latin typeface="Helvetica Neue"/>
                          <a:ea typeface="Helvetica Neue"/>
                          <a:cs typeface="Helvetica Neue"/>
                        </a:rPr>
                        <a:t>Logistic Regression</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83.96%</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84.55%</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0.8390</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0.8450</a:t>
                      </a:r>
                    </a:p>
                  </a:txBody>
                  <a:tcPr marL="91440" marR="91440" marT="45720" marB="45720">
                    <a:solidFill>
                      <a:srgbClr val="EDF3F5"/>
                    </a:solidFill>
                  </a:tcPr>
                </a:tc>
              </a:tr>
              <a:tr h="609600">
                <a:tc>
                  <a:txBody>
                    <a:bodyPr/>
                    <a:lstStyle/>
                    <a:p>
                      <a:r>
                        <a:rPr sz="1800" b="0">
                          <a:solidFill>
                            <a:srgbClr val="20333F"/>
                          </a:solidFill>
                          <a:latin typeface="Helvetica Neue"/>
                          <a:ea typeface="Helvetica Neue"/>
                          <a:cs typeface="Helvetica Neue"/>
                        </a:rPr>
                        <a:t>Linear SVM</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83.97%</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84.01%</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0.8373</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0.8385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4B20098-6F39-46A1-84FB-FC1085310CD6}"/>
              </a:ext>
            </a:extLst>
          </p:cNvPr>
          <p:cNvSpPr>
            <a:spLocks xmlns:a="http://schemas.openxmlformats.org/drawingml/2006/main" noGrp="1"/>
          </p:cNvSpPr>
          <p:nvPr/>
        </p:nvSpPr>
        <p:spPr>
          <a:xfrm xmlns:a="http://schemas.openxmlformats.org/drawingml/2006/main">
            <a:off x="714375" y="47625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85B70"/>
                </a:solidFill>
                <a:latin typeface="Helvetica Neue"/>
                <a:ea typeface="Helvetica Neue"/>
                <a:cs typeface="Helvetica Neue"/>
              </a:defRPr>
            </a:defPPr>
            <a:lvl1pPr>
              <a:defRPr sz="2400" b="1">
                <a:solidFill>
                  <a:srgbClr val="185B70"/>
                </a:solidFill>
                <a:latin typeface="Helvetica Neue"/>
                <a:ea typeface="Helvetica Neue"/>
                <a:cs typeface="Helvetica Neue"/>
              </a:defRPr>
            </a:lvl1pPr>
            <a:lvl2pPr>
              <a:defRPr sz="2400" b="1">
                <a:solidFill>
                  <a:srgbClr val="185B70"/>
                </a:solidFill>
                <a:latin typeface="Helvetica Neue"/>
                <a:ea typeface="Helvetica Neue"/>
                <a:cs typeface="Helvetica Neue"/>
              </a:defRPr>
            </a:lvl2pPr>
            <a:lvl3pPr>
              <a:defRPr sz="2400" b="1">
                <a:solidFill>
                  <a:srgbClr val="185B70"/>
                </a:solidFill>
                <a:latin typeface="Helvetica Neue"/>
                <a:ea typeface="Helvetica Neue"/>
                <a:cs typeface="Helvetica Neue"/>
              </a:defRPr>
            </a:lvl3pPr>
            <a:lvl4pPr>
              <a:defRPr sz="2400" b="1">
                <a:solidFill>
                  <a:srgbClr val="185B70"/>
                </a:solidFill>
                <a:latin typeface="Helvetica Neue"/>
                <a:ea typeface="Helvetica Neue"/>
                <a:cs typeface="Helvetica Neue"/>
              </a:defRPr>
            </a:lvl4pPr>
            <a:lvl5pPr>
              <a:defRPr sz="2400" b="1">
                <a:solidFill>
                  <a:srgbClr val="185B70"/>
                </a:solidFill>
                <a:latin typeface="Helvetica Neue"/>
                <a:ea typeface="Helvetica Neue"/>
                <a:cs typeface="Helvetica Neue"/>
              </a:defRPr>
            </a:lvl5pPr>
            <a:lvl6pPr>
              <a:defRPr sz="2400" b="1">
                <a:solidFill>
                  <a:srgbClr val="185B70"/>
                </a:solidFill>
                <a:latin typeface="Helvetica Neue"/>
                <a:ea typeface="Helvetica Neue"/>
                <a:cs typeface="Helvetica Neue"/>
              </a:defRPr>
            </a:lvl6pPr>
            <a:lvl7pPr>
              <a:defRPr sz="2400" b="1">
                <a:solidFill>
                  <a:srgbClr val="185B70"/>
                </a:solidFill>
                <a:latin typeface="Helvetica Neue"/>
                <a:ea typeface="Helvetica Neue"/>
                <a:cs typeface="Helvetica Neue"/>
              </a:defRPr>
            </a:lvl7pPr>
            <a:lvl8pPr>
              <a:defRPr sz="2400" b="1">
                <a:solidFill>
                  <a:srgbClr val="185B70"/>
                </a:solidFill>
                <a:latin typeface="Helvetica Neue"/>
                <a:ea typeface="Helvetica Neue"/>
                <a:cs typeface="Helvetica Neue"/>
              </a:defRPr>
            </a:lvl8pPr>
            <a:lvl9pPr>
              <a:defRPr sz="2400" b="1">
                <a:solidFill>
                  <a:srgbClr val="185B70"/>
                </a:solidFill>
                <a:latin typeface="Helvetica Neue"/>
                <a:ea typeface="Helvetica Neue"/>
                <a:cs typeface="Helvetica Neue"/>
              </a:defRPr>
            </a:lvl9pPr>
          </a:lstStyle>
          <a:p xmlns:a="http://schemas.openxmlformats.org/drawingml/2006/main">
            <a:pPr>
              <a:defRPr sz="2400" b="1">
                <a:solidFill>
                  <a:srgbClr val="185B70"/>
                </a:solidFill>
                <a:latin typeface="Helvetica Neue"/>
                <a:ea typeface="Helvetica Neue"/>
                <a:cs typeface="Helvetica Neue"/>
              </a:defRPr>
            </a:pPr>
            <a:r>
              <a:rPr sz="2400" b="1">
                <a:solidFill>
                  <a:srgbClr val="185B70"/>
                </a:solidFill>
                <a:latin typeface="Helvetica Neue"/>
                <a:ea typeface="Helvetica Neue"/>
                <a:cs typeface="Helvetica Neue"/>
              </a:rPr>
              <a:t>Selected using validation: Pixels + Random Forest</a:t>
            </a:r>
          </a:p>
        </p:txBody>
      </p:sp>
      <p:sp>
        <p:nvSpPr>
          <p:cNvPr id="6" name="">
            <a:extLst xmlns:a="http://schemas.openxmlformats.org/drawingml/2006/main">
              <a:ext uri="{FF2B5EF4-FFF2-40B4-BE49-F238E27FC236}">
                <a16:creationId xmlns:a16="http://schemas.microsoft.com/office/drawing/2014/main" id="{90F6598B-012C-4F13-826B-16A57EA0813B}"/>
              </a:ext>
            </a:extLst>
          </p:cNvPr>
          <p:cNvSpPr>
            <a:spLocks xmlns:a="http://schemas.openxmlformats.org/drawingml/2006/main" noGrp="1"/>
          </p:cNvSpPr>
          <p:nvPr/>
        </p:nvSpPr>
        <p:spPr>
          <a:xfrm xmlns:a="http://schemas.openxmlformats.org/drawingml/2006/main">
            <a:off x="714375" y="53244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87.61% correct on test images. Macro F1: 0.8747</a:t>
            </a:r>
          </a:p>
        </p:txBody>
      </p:sp>
      <p:sp>
        <p:nvSpPr>
          <p:cNvPr id="7" name="">
            <a:extLst xmlns:a="http://schemas.openxmlformats.org/drawingml/2006/main">
              <a:ext uri="{FF2B5EF4-FFF2-40B4-BE49-F238E27FC236}">
                <a16:creationId xmlns:a16="http://schemas.microsoft.com/office/drawing/2014/main" id="{7D02B5B2-A670-4656-971B-6F4F5FA62B30}"/>
              </a:ext>
            </a:extLst>
          </p:cNvPr>
          <p:cNvSpPr>
            <a:spLocks xmlns:a="http://schemas.openxmlformats.org/drawingml/2006/main" noGrp="1"/>
          </p:cNvSpPr>
          <p:nvPr/>
        </p:nvSpPr>
        <p:spPr>
          <a:xfrm xmlns:a="http://schemas.openxmlformats.org/drawingml/2006/main">
            <a:off x="714375" y="58197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07582"/>
                </a:solidFill>
                <a:latin typeface="Helvetica Neue"/>
                <a:ea typeface="Helvetica Neue"/>
                <a:cs typeface="Helvetica Neue"/>
              </a:defRPr>
            </a:defPPr>
            <a:lvl1pPr>
              <a:defRPr sz="1875" b="0">
                <a:solidFill>
                  <a:srgbClr val="607582"/>
                </a:solidFill>
                <a:latin typeface="Helvetica Neue"/>
                <a:ea typeface="Helvetica Neue"/>
                <a:cs typeface="Helvetica Neue"/>
              </a:defRPr>
            </a:lvl1pPr>
            <a:lvl2pPr>
              <a:defRPr sz="1875" b="0">
                <a:solidFill>
                  <a:srgbClr val="607582"/>
                </a:solidFill>
                <a:latin typeface="Helvetica Neue"/>
                <a:ea typeface="Helvetica Neue"/>
                <a:cs typeface="Helvetica Neue"/>
              </a:defRPr>
            </a:lvl2pPr>
            <a:lvl3pPr>
              <a:defRPr sz="1875" b="0">
                <a:solidFill>
                  <a:srgbClr val="607582"/>
                </a:solidFill>
                <a:latin typeface="Helvetica Neue"/>
                <a:ea typeface="Helvetica Neue"/>
                <a:cs typeface="Helvetica Neue"/>
              </a:defRPr>
            </a:lvl3pPr>
            <a:lvl4pPr>
              <a:defRPr sz="1875" b="0">
                <a:solidFill>
                  <a:srgbClr val="607582"/>
                </a:solidFill>
                <a:latin typeface="Helvetica Neue"/>
                <a:ea typeface="Helvetica Neue"/>
                <a:cs typeface="Helvetica Neue"/>
              </a:defRPr>
            </a:lvl4pPr>
            <a:lvl5pPr>
              <a:defRPr sz="1875" b="0">
                <a:solidFill>
                  <a:srgbClr val="607582"/>
                </a:solidFill>
                <a:latin typeface="Helvetica Neue"/>
                <a:ea typeface="Helvetica Neue"/>
                <a:cs typeface="Helvetica Neue"/>
              </a:defRPr>
            </a:lvl5pPr>
            <a:lvl6pPr>
              <a:defRPr sz="1875" b="0">
                <a:solidFill>
                  <a:srgbClr val="607582"/>
                </a:solidFill>
                <a:latin typeface="Helvetica Neue"/>
                <a:ea typeface="Helvetica Neue"/>
                <a:cs typeface="Helvetica Neue"/>
              </a:defRPr>
            </a:lvl6pPr>
            <a:lvl7pPr>
              <a:defRPr sz="1875" b="0">
                <a:solidFill>
                  <a:srgbClr val="607582"/>
                </a:solidFill>
                <a:latin typeface="Helvetica Neue"/>
                <a:ea typeface="Helvetica Neue"/>
                <a:cs typeface="Helvetica Neue"/>
              </a:defRPr>
            </a:lvl7pPr>
            <a:lvl8pPr>
              <a:defRPr sz="1875" b="0">
                <a:solidFill>
                  <a:srgbClr val="607582"/>
                </a:solidFill>
                <a:latin typeface="Helvetica Neue"/>
                <a:ea typeface="Helvetica Neue"/>
                <a:cs typeface="Helvetica Neue"/>
              </a:defRPr>
            </a:lvl8pPr>
            <a:lvl9pPr>
              <a:defRPr sz="1875" b="0">
                <a:solidFill>
                  <a:srgbClr val="607582"/>
                </a:solidFill>
                <a:latin typeface="Helvetica Neue"/>
                <a:ea typeface="Helvetica Neue"/>
                <a:cs typeface="Helvetica Neue"/>
              </a:defRPr>
            </a:lvl9pPr>
          </a:lstStyle>
          <a:p xmlns:a="http://schemas.openxmlformats.org/drawingml/2006/main">
            <a:pPr>
              <a:defRPr sz="1875" b="0">
                <a:solidFill>
                  <a:srgbClr val="607582"/>
                </a:solidFill>
                <a:latin typeface="Helvetica Neue"/>
                <a:ea typeface="Helvetica Neue"/>
                <a:cs typeface="Helvetica Neue"/>
              </a:defRPr>
            </a:pPr>
            <a:r>
              <a:rPr sz="1875" b="0">
                <a:solidFill>
                  <a:srgbClr val="607582"/>
                </a:solidFill>
                <a:latin typeface="Helvetica Neue"/>
                <a:ea typeface="Helvetica Neue"/>
                <a:cs typeface="Helvetica Neue"/>
              </a:rPr>
              <a:t>Median prediction: 24.98 ms. Saved model: 69.96 MiB.</a:t>
            </a:r>
          </a:p>
        </p:txBody>
      </p:sp>
    </p:spTree>
    <p:extLst>
      <p:ext uri="{BB962C8B-B14F-4D97-AF65-F5344CB8AC3E}">
        <p14:creationId xmlns:p14="http://schemas.microsoft.com/office/powerpoint/2010/main" val="1123811722"/>
      </p:ext>
    </p:extLst>
  </p:cSld>
</p:sld>
</file>

<file path=ppt/slides/slide4.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6989E2E-0236-4D03-BD1E-4CBDAD9AEC5B}"/>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Mistakes and limits</a:t>
            </a:r>
          </a:p>
        </p:txBody>
      </p:sp>
      <p:sp>
        <p:nvSpPr>
          <p:cNvPr id="2" name="">
            <a:extLst xmlns:a="http://schemas.openxmlformats.org/drawingml/2006/main">
              <a:ext uri="{FF2B5EF4-FFF2-40B4-BE49-F238E27FC236}">
                <a16:creationId xmlns:a16="http://schemas.microsoft.com/office/drawing/2014/main" id="{C3878318-47D4-45CE-B680-8CE5FB861A96}"/>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F580A72C-FB75-4AB0-8FDA-B94DF87F08C3}"/>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04</a:t>
            </a:r>
          </a:p>
        </p:txBody>
      </p:sp>
      <p:pic>
        <p:nvPicPr>
          <p:cNvPr id="4" name="">
            <a:extLst xmlns:a="http://schemas.openxmlformats.org/drawingml/2006/main">
              <a:ext uri="{FF2B5EF4-FFF2-40B4-BE49-F238E27FC236}">
                <a16:creationId xmlns:a16="http://schemas.microsoft.com/office/drawing/2014/main" id="{AA97801D-FF05-4ACA-8F62-D125370DF241}"/>
              </a:ext>
            </a:extLst>
          </p:cNvPr>
          <p:cNvPicPr>
            <a:picLocks xmlns:a="http://schemas.openxmlformats.org/drawingml/2006/main" noChangeAspect="1"/>
          </p:cNvPicPr>
          <p:nvPr/>
        </p:nvPicPr>
        <p:blipFill>
          <a:blip xmlns:r="http://schemas.openxmlformats.org/officeDocument/2006/relationships" xmlns:a="http://schemas.openxmlformats.org/drawingml/2006/main" r:embed="Rfddd6ca1804341f1"/>
          <a:stretch xmlns:a="http://schemas.openxmlformats.org/drawingml/2006/main"/>
        </p:blipFill>
        <p:spPr>
          <a:xfrm xmlns:a="http://schemas.openxmlformats.org/drawingml/2006/main">
            <a:off x="1654757" y="1381125"/>
            <a:ext cx="4500985" cy="3667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2F61EE3-6194-4EFD-AF7E-835D3E39BBAB}"/>
              </a:ext>
            </a:extLst>
          </p:cNvPr>
          <p:cNvSpPr>
            <a:spLocks xmlns:a="http://schemas.openxmlformats.org/drawingml/2006/main" noGrp="1"/>
          </p:cNvSpPr>
          <p:nvPr/>
        </p:nvSpPr>
        <p:spPr>
          <a:xfrm xmlns:a="http://schemas.openxmlformats.org/drawingml/2006/main">
            <a:off x="7524750" y="1571625"/>
            <a:ext cx="4000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85B70"/>
                </a:solidFill>
                <a:latin typeface="Helvetica Neue"/>
                <a:ea typeface="Helvetica Neue"/>
                <a:cs typeface="Helvetica Neue"/>
              </a:defRPr>
            </a:defPPr>
            <a:lvl1pPr>
              <a:defRPr sz="2400" b="1">
                <a:solidFill>
                  <a:srgbClr val="185B70"/>
                </a:solidFill>
                <a:latin typeface="Helvetica Neue"/>
                <a:ea typeface="Helvetica Neue"/>
                <a:cs typeface="Helvetica Neue"/>
              </a:defRPr>
            </a:lvl1pPr>
            <a:lvl2pPr>
              <a:defRPr sz="2400" b="1">
                <a:solidFill>
                  <a:srgbClr val="185B70"/>
                </a:solidFill>
                <a:latin typeface="Helvetica Neue"/>
                <a:ea typeface="Helvetica Neue"/>
                <a:cs typeface="Helvetica Neue"/>
              </a:defRPr>
            </a:lvl2pPr>
            <a:lvl3pPr>
              <a:defRPr sz="2400" b="1">
                <a:solidFill>
                  <a:srgbClr val="185B70"/>
                </a:solidFill>
                <a:latin typeface="Helvetica Neue"/>
                <a:ea typeface="Helvetica Neue"/>
                <a:cs typeface="Helvetica Neue"/>
              </a:defRPr>
            </a:lvl3pPr>
            <a:lvl4pPr>
              <a:defRPr sz="2400" b="1">
                <a:solidFill>
                  <a:srgbClr val="185B70"/>
                </a:solidFill>
                <a:latin typeface="Helvetica Neue"/>
                <a:ea typeface="Helvetica Neue"/>
                <a:cs typeface="Helvetica Neue"/>
              </a:defRPr>
            </a:lvl4pPr>
            <a:lvl5pPr>
              <a:defRPr sz="2400" b="1">
                <a:solidFill>
                  <a:srgbClr val="185B70"/>
                </a:solidFill>
                <a:latin typeface="Helvetica Neue"/>
                <a:ea typeface="Helvetica Neue"/>
                <a:cs typeface="Helvetica Neue"/>
              </a:defRPr>
            </a:lvl5pPr>
            <a:lvl6pPr>
              <a:defRPr sz="2400" b="1">
                <a:solidFill>
                  <a:srgbClr val="185B70"/>
                </a:solidFill>
                <a:latin typeface="Helvetica Neue"/>
                <a:ea typeface="Helvetica Neue"/>
                <a:cs typeface="Helvetica Neue"/>
              </a:defRPr>
            </a:lvl6pPr>
            <a:lvl7pPr>
              <a:defRPr sz="2400" b="1">
                <a:solidFill>
                  <a:srgbClr val="185B70"/>
                </a:solidFill>
                <a:latin typeface="Helvetica Neue"/>
                <a:ea typeface="Helvetica Neue"/>
                <a:cs typeface="Helvetica Neue"/>
              </a:defRPr>
            </a:lvl7pPr>
            <a:lvl8pPr>
              <a:defRPr sz="2400" b="1">
                <a:solidFill>
                  <a:srgbClr val="185B70"/>
                </a:solidFill>
                <a:latin typeface="Helvetica Neue"/>
                <a:ea typeface="Helvetica Neue"/>
                <a:cs typeface="Helvetica Neue"/>
              </a:defRPr>
            </a:lvl8pPr>
            <a:lvl9pPr>
              <a:defRPr sz="2400" b="1">
                <a:solidFill>
                  <a:srgbClr val="185B70"/>
                </a:solidFill>
                <a:latin typeface="Helvetica Neue"/>
                <a:ea typeface="Helvetica Neue"/>
                <a:cs typeface="Helvetica Neue"/>
              </a:defRPr>
            </a:lvl9pPr>
          </a:lstStyle>
          <a:p xmlns:a="http://schemas.openxmlformats.org/drawingml/2006/main">
            <a:pPr>
              <a:defRPr sz="2400" b="1">
                <a:solidFill>
                  <a:srgbClr val="185B70"/>
                </a:solidFill>
                <a:latin typeface="Helvetica Neue"/>
                <a:ea typeface="Helvetica Neue"/>
                <a:cs typeface="Helvetica Neue"/>
              </a:defRPr>
            </a:pPr>
            <a:r>
              <a:rPr sz="2400" b="1">
                <a:solidFill>
                  <a:srgbClr val="185B70"/>
                </a:solidFill>
                <a:latin typeface="Helvetica Neue"/>
                <a:ea typeface="Helvetica Neue"/>
                <a:cs typeface="Helvetica Neue"/>
              </a:rPr>
              <a:t>Shirt is the hardest category</a:t>
            </a:r>
          </a:p>
        </p:txBody>
      </p:sp>
      <p:sp>
        <p:nvSpPr>
          <p:cNvPr id="6" name="">
            <a:extLst xmlns:a="http://schemas.openxmlformats.org/drawingml/2006/main">
              <a:ext uri="{FF2B5EF4-FFF2-40B4-BE49-F238E27FC236}">
                <a16:creationId xmlns:a16="http://schemas.microsoft.com/office/drawing/2014/main" id="{9D92C87B-4E45-40A0-B358-127EBB85B63F}"/>
              </a:ext>
            </a:extLst>
          </p:cNvPr>
          <p:cNvSpPr>
            <a:spLocks xmlns:a="http://schemas.openxmlformats.org/drawingml/2006/main" noGrp="1"/>
          </p:cNvSpPr>
          <p:nvPr/>
        </p:nvSpPr>
        <p:spPr>
          <a:xfrm xmlns:a="http://schemas.openxmlformats.org/drawingml/2006/main">
            <a:off x="7524750" y="2571750"/>
            <a:ext cx="4000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0333F"/>
                </a:solidFill>
                <a:latin typeface="Helvetica Neue"/>
                <a:ea typeface="Helvetica Neue"/>
                <a:cs typeface="Helvetica Neue"/>
              </a:defRPr>
            </a:defPPr>
            <a:lvl1pPr>
              <a:defRPr sz="2100" b="0">
                <a:solidFill>
                  <a:srgbClr val="20333F"/>
                </a:solidFill>
                <a:latin typeface="Helvetica Neue"/>
                <a:ea typeface="Helvetica Neue"/>
                <a:cs typeface="Helvetica Neue"/>
              </a:defRPr>
            </a:lvl1pPr>
            <a:lvl2pPr>
              <a:defRPr sz="2100" b="0">
                <a:solidFill>
                  <a:srgbClr val="20333F"/>
                </a:solidFill>
                <a:latin typeface="Helvetica Neue"/>
                <a:ea typeface="Helvetica Neue"/>
                <a:cs typeface="Helvetica Neue"/>
              </a:defRPr>
            </a:lvl2pPr>
            <a:lvl3pPr>
              <a:defRPr sz="2100" b="0">
                <a:solidFill>
                  <a:srgbClr val="20333F"/>
                </a:solidFill>
                <a:latin typeface="Helvetica Neue"/>
                <a:ea typeface="Helvetica Neue"/>
                <a:cs typeface="Helvetica Neue"/>
              </a:defRPr>
            </a:lvl3pPr>
            <a:lvl4pPr>
              <a:defRPr sz="2100" b="0">
                <a:solidFill>
                  <a:srgbClr val="20333F"/>
                </a:solidFill>
                <a:latin typeface="Helvetica Neue"/>
                <a:ea typeface="Helvetica Neue"/>
                <a:cs typeface="Helvetica Neue"/>
              </a:defRPr>
            </a:lvl4pPr>
            <a:lvl5pPr>
              <a:defRPr sz="2100" b="0">
                <a:solidFill>
                  <a:srgbClr val="20333F"/>
                </a:solidFill>
                <a:latin typeface="Helvetica Neue"/>
                <a:ea typeface="Helvetica Neue"/>
                <a:cs typeface="Helvetica Neue"/>
              </a:defRPr>
            </a:lvl5pPr>
            <a:lvl6pPr>
              <a:defRPr sz="2100" b="0">
                <a:solidFill>
                  <a:srgbClr val="20333F"/>
                </a:solidFill>
                <a:latin typeface="Helvetica Neue"/>
                <a:ea typeface="Helvetica Neue"/>
                <a:cs typeface="Helvetica Neue"/>
              </a:defRPr>
            </a:lvl6pPr>
            <a:lvl7pPr>
              <a:defRPr sz="2100" b="0">
                <a:solidFill>
                  <a:srgbClr val="20333F"/>
                </a:solidFill>
                <a:latin typeface="Helvetica Neue"/>
                <a:ea typeface="Helvetica Neue"/>
                <a:cs typeface="Helvetica Neue"/>
              </a:defRPr>
            </a:lvl7pPr>
            <a:lvl8pPr>
              <a:defRPr sz="2100" b="0">
                <a:solidFill>
                  <a:srgbClr val="20333F"/>
                </a:solidFill>
                <a:latin typeface="Helvetica Neue"/>
                <a:ea typeface="Helvetica Neue"/>
                <a:cs typeface="Helvetica Neue"/>
              </a:defRPr>
            </a:lvl8pPr>
            <a:lvl9pPr>
              <a:defRPr sz="2100" b="0">
                <a:solidFill>
                  <a:srgbClr val="20333F"/>
                </a:solidFill>
                <a:latin typeface="Helvetica Neue"/>
                <a:ea typeface="Helvetica Neue"/>
                <a:cs typeface="Helvetica Neue"/>
              </a:defRPr>
            </a:lvl9pPr>
          </a:lstStyle>
          <a:p xmlns:a="http://schemas.openxmlformats.org/drawingml/2006/main">
            <a:pPr>
              <a:defRPr sz="2100" b="0">
                <a:solidFill>
                  <a:srgbClr val="20333F"/>
                </a:solidFill>
                <a:latin typeface="Helvetica Neue"/>
                <a:ea typeface="Helvetica Neue"/>
                <a:cs typeface="Helvetica Neue"/>
              </a:defRPr>
            </a:pPr>
            <a:r>
              <a:rPr sz="2100" b="0">
                <a:solidFill>
                  <a:srgbClr val="20333F"/>
                </a:solidFill>
                <a:latin typeface="Helvetica Neue"/>
                <a:ea typeface="Helvetica Neue"/>
                <a:cs typeface="Helvetica Neue"/>
              </a:rPr>
              <a:t>592 of 1,000 shirts identified correctly</a:t>
            </a:r>
          </a:p>
        </p:txBody>
      </p:sp>
      <p:sp>
        <p:nvSpPr>
          <p:cNvPr id="7" name="">
            <a:extLst xmlns:a="http://schemas.openxmlformats.org/drawingml/2006/main">
              <a:ext uri="{FF2B5EF4-FFF2-40B4-BE49-F238E27FC236}">
                <a16:creationId xmlns:a16="http://schemas.microsoft.com/office/drawing/2014/main" id="{EF0DB8FD-D085-442B-A634-EF6BA1A22120}"/>
              </a:ext>
            </a:extLst>
          </p:cNvPr>
          <p:cNvSpPr>
            <a:spLocks xmlns:a="http://schemas.openxmlformats.org/drawingml/2006/main" noGrp="1"/>
          </p:cNvSpPr>
          <p:nvPr/>
        </p:nvSpPr>
        <p:spPr>
          <a:xfrm xmlns:a="http://schemas.openxmlformats.org/drawingml/2006/main">
            <a:off x="7524750" y="3619500"/>
            <a:ext cx="4000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0333F"/>
                </a:solidFill>
                <a:latin typeface="Helvetica Neue"/>
                <a:ea typeface="Helvetica Neue"/>
                <a:cs typeface="Helvetica Neue"/>
              </a:defRPr>
            </a:defPPr>
            <a:lvl1pPr>
              <a:defRPr sz="2025" b="0">
                <a:solidFill>
                  <a:srgbClr val="20333F"/>
                </a:solidFill>
                <a:latin typeface="Helvetica Neue"/>
                <a:ea typeface="Helvetica Neue"/>
                <a:cs typeface="Helvetica Neue"/>
              </a:defRPr>
            </a:lvl1pPr>
            <a:lvl2pPr>
              <a:defRPr sz="2025" b="0">
                <a:solidFill>
                  <a:srgbClr val="20333F"/>
                </a:solidFill>
                <a:latin typeface="Helvetica Neue"/>
                <a:ea typeface="Helvetica Neue"/>
                <a:cs typeface="Helvetica Neue"/>
              </a:defRPr>
            </a:lvl2pPr>
            <a:lvl3pPr>
              <a:defRPr sz="2025" b="0">
                <a:solidFill>
                  <a:srgbClr val="20333F"/>
                </a:solidFill>
                <a:latin typeface="Helvetica Neue"/>
                <a:ea typeface="Helvetica Neue"/>
                <a:cs typeface="Helvetica Neue"/>
              </a:defRPr>
            </a:lvl3pPr>
            <a:lvl4pPr>
              <a:defRPr sz="2025" b="0">
                <a:solidFill>
                  <a:srgbClr val="20333F"/>
                </a:solidFill>
                <a:latin typeface="Helvetica Neue"/>
                <a:ea typeface="Helvetica Neue"/>
                <a:cs typeface="Helvetica Neue"/>
              </a:defRPr>
            </a:lvl4pPr>
            <a:lvl5pPr>
              <a:defRPr sz="2025" b="0">
                <a:solidFill>
                  <a:srgbClr val="20333F"/>
                </a:solidFill>
                <a:latin typeface="Helvetica Neue"/>
                <a:ea typeface="Helvetica Neue"/>
                <a:cs typeface="Helvetica Neue"/>
              </a:defRPr>
            </a:lvl5pPr>
            <a:lvl6pPr>
              <a:defRPr sz="2025" b="0">
                <a:solidFill>
                  <a:srgbClr val="20333F"/>
                </a:solidFill>
                <a:latin typeface="Helvetica Neue"/>
                <a:ea typeface="Helvetica Neue"/>
                <a:cs typeface="Helvetica Neue"/>
              </a:defRPr>
            </a:lvl6pPr>
            <a:lvl7pPr>
              <a:defRPr sz="2025" b="0">
                <a:solidFill>
                  <a:srgbClr val="20333F"/>
                </a:solidFill>
                <a:latin typeface="Helvetica Neue"/>
                <a:ea typeface="Helvetica Neue"/>
                <a:cs typeface="Helvetica Neue"/>
              </a:defRPr>
            </a:lvl7pPr>
            <a:lvl8pPr>
              <a:defRPr sz="2025" b="0">
                <a:solidFill>
                  <a:srgbClr val="20333F"/>
                </a:solidFill>
                <a:latin typeface="Helvetica Neue"/>
                <a:ea typeface="Helvetica Neue"/>
                <a:cs typeface="Helvetica Neue"/>
              </a:defRPr>
            </a:lvl8pPr>
            <a:lvl9pPr>
              <a:defRPr sz="2025" b="0">
                <a:solidFill>
                  <a:srgbClr val="20333F"/>
                </a:solidFill>
                <a:latin typeface="Helvetica Neue"/>
                <a:ea typeface="Helvetica Neue"/>
                <a:cs typeface="Helvetica Neue"/>
              </a:defRPr>
            </a:lvl9pPr>
          </a:lstStyle>
          <a:p xmlns:a="http://schemas.openxmlformats.org/drawingml/2006/main">
            <a:pPr>
              <a:defRPr sz="2025" b="0">
                <a:solidFill>
                  <a:srgbClr val="20333F"/>
                </a:solidFill>
                <a:latin typeface="Helvetica Neue"/>
                <a:ea typeface="Helvetica Neue"/>
                <a:cs typeface="Helvetica Neue"/>
              </a:defRPr>
            </a:pPr>
            <a:r>
              <a:rPr sz="2025" b="0">
                <a:solidFill>
                  <a:srgbClr val="20333F"/>
                </a:solidFill>
                <a:latin typeface="Helvetica Neue"/>
                <a:ea typeface="Helvetica Neue"/>
                <a:cs typeface="Helvetica Neue"/>
              </a:rPr>
              <a:t>149 shirts labelled T-shirt/top</a:t>
            </a:r>
          </a:p>
          <a:p xmlns:a="http://schemas.openxmlformats.org/drawingml/2006/main">
            <a:pPr>
              <a:defRPr sz="2025" b="0">
                <a:solidFill>
                  <a:srgbClr val="20333F"/>
                </a:solidFill>
                <a:latin typeface="Helvetica Neue"/>
                <a:ea typeface="Helvetica Neue"/>
                <a:cs typeface="Helvetica Neue"/>
              </a:defRPr>
            </a:pPr>
            <a:r>
              <a:rPr sz="2025" b="0">
                <a:solidFill>
                  <a:srgbClr val="20333F"/>
                </a:solidFill>
                <a:latin typeface="Helvetica Neue"/>
                <a:ea typeface="Helvetica Neue"/>
                <a:cs typeface="Helvetica Neue"/>
              </a:rPr>
              <a:t>124 shirts labelled Pullover</a:t>
            </a:r>
          </a:p>
        </p:txBody>
      </p:sp>
      <p:sp>
        <p:nvSpPr>
          <p:cNvPr id="8" name="">
            <a:extLst xmlns:a="http://schemas.openxmlformats.org/drawingml/2006/main">
              <a:ext uri="{FF2B5EF4-FFF2-40B4-BE49-F238E27FC236}">
                <a16:creationId xmlns:a16="http://schemas.microsoft.com/office/drawing/2014/main" id="{6DCA7256-6B73-457F-89F8-BC8D0392B7F5}"/>
              </a:ext>
            </a:extLst>
          </p:cNvPr>
          <p:cNvSpPr>
            <a:spLocks xmlns:a="http://schemas.openxmlformats.org/drawingml/2006/main" noGrp="1"/>
          </p:cNvSpPr>
          <p:nvPr/>
        </p:nvSpPr>
        <p:spPr>
          <a:xfrm xmlns:a="http://schemas.openxmlformats.org/drawingml/2006/main">
            <a:off x="714375" y="50958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Similar clothing outlines can lead to mistakes.</a:t>
            </a:r>
          </a:p>
        </p:txBody>
      </p:sp>
      <p:sp>
        <p:nvSpPr>
          <p:cNvPr id="9" name="">
            <a:extLst xmlns:a="http://schemas.openxmlformats.org/drawingml/2006/main">
              <a:ext uri="{FF2B5EF4-FFF2-40B4-BE49-F238E27FC236}">
                <a16:creationId xmlns:a16="http://schemas.microsoft.com/office/drawing/2014/main" id="{D8C622CD-D288-4E47-BCF9-9D1026834481}"/>
              </a:ext>
            </a:extLst>
          </p:cNvPr>
          <p:cNvSpPr>
            <a:spLocks xmlns:a="http://schemas.openxmlformats.org/drawingml/2006/main" noGrp="1"/>
          </p:cNvSpPr>
          <p:nvPr/>
        </p:nvSpPr>
        <p:spPr>
          <a:xfrm xmlns:a="http://schemas.openxmlformats.org/drawingml/2006/main">
            <a:off x="714375" y="57054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607582"/>
                </a:solidFill>
                <a:latin typeface="Helvetica Neue"/>
                <a:ea typeface="Helvetica Neue"/>
                <a:cs typeface="Helvetica Neue"/>
              </a:defRPr>
            </a:defPPr>
            <a:lvl1pPr>
              <a:defRPr sz="1950" b="0">
                <a:solidFill>
                  <a:srgbClr val="607582"/>
                </a:solidFill>
                <a:latin typeface="Helvetica Neue"/>
                <a:ea typeface="Helvetica Neue"/>
                <a:cs typeface="Helvetica Neue"/>
              </a:defRPr>
            </a:lvl1pPr>
            <a:lvl2pPr>
              <a:defRPr sz="1950" b="0">
                <a:solidFill>
                  <a:srgbClr val="607582"/>
                </a:solidFill>
                <a:latin typeface="Helvetica Neue"/>
                <a:ea typeface="Helvetica Neue"/>
                <a:cs typeface="Helvetica Neue"/>
              </a:defRPr>
            </a:lvl2pPr>
            <a:lvl3pPr>
              <a:defRPr sz="1950" b="0">
                <a:solidFill>
                  <a:srgbClr val="607582"/>
                </a:solidFill>
                <a:latin typeface="Helvetica Neue"/>
                <a:ea typeface="Helvetica Neue"/>
                <a:cs typeface="Helvetica Neue"/>
              </a:defRPr>
            </a:lvl3pPr>
            <a:lvl4pPr>
              <a:defRPr sz="1950" b="0">
                <a:solidFill>
                  <a:srgbClr val="607582"/>
                </a:solidFill>
                <a:latin typeface="Helvetica Neue"/>
                <a:ea typeface="Helvetica Neue"/>
                <a:cs typeface="Helvetica Neue"/>
              </a:defRPr>
            </a:lvl4pPr>
            <a:lvl5pPr>
              <a:defRPr sz="1950" b="0">
                <a:solidFill>
                  <a:srgbClr val="607582"/>
                </a:solidFill>
                <a:latin typeface="Helvetica Neue"/>
                <a:ea typeface="Helvetica Neue"/>
                <a:cs typeface="Helvetica Neue"/>
              </a:defRPr>
            </a:lvl5pPr>
            <a:lvl6pPr>
              <a:defRPr sz="1950" b="0">
                <a:solidFill>
                  <a:srgbClr val="607582"/>
                </a:solidFill>
                <a:latin typeface="Helvetica Neue"/>
                <a:ea typeface="Helvetica Neue"/>
                <a:cs typeface="Helvetica Neue"/>
              </a:defRPr>
            </a:lvl6pPr>
            <a:lvl7pPr>
              <a:defRPr sz="1950" b="0">
                <a:solidFill>
                  <a:srgbClr val="607582"/>
                </a:solidFill>
                <a:latin typeface="Helvetica Neue"/>
                <a:ea typeface="Helvetica Neue"/>
                <a:cs typeface="Helvetica Neue"/>
              </a:defRPr>
            </a:lvl7pPr>
            <a:lvl8pPr>
              <a:defRPr sz="1950" b="0">
                <a:solidFill>
                  <a:srgbClr val="607582"/>
                </a:solidFill>
                <a:latin typeface="Helvetica Neue"/>
                <a:ea typeface="Helvetica Neue"/>
                <a:cs typeface="Helvetica Neue"/>
              </a:defRPr>
            </a:lvl8pPr>
            <a:lvl9pPr>
              <a:defRPr sz="1950" b="0">
                <a:solidFill>
                  <a:srgbClr val="607582"/>
                </a:solidFill>
                <a:latin typeface="Helvetica Neue"/>
                <a:ea typeface="Helvetica Neue"/>
                <a:cs typeface="Helvetica Neue"/>
              </a:defRPr>
            </a:lvl9pPr>
          </a:lstStyle>
          <a:p xmlns:a="http://schemas.openxmlformats.org/drawingml/2006/main">
            <a:pPr>
              <a:defRPr sz="1950" b="0">
                <a:solidFill>
                  <a:srgbClr val="607582"/>
                </a:solidFill>
                <a:latin typeface="Helvetica Neue"/>
                <a:ea typeface="Helvetica Neue"/>
                <a:cs typeface="Helvetica Neue"/>
              </a:defRPr>
            </a:pPr>
            <a:r>
              <a:rPr sz="1950" b="0">
                <a:solidFill>
                  <a:srgbClr val="607582"/>
                </a:solidFill>
                <a:latin typeface="Helvetica Neue"/>
                <a:ea typeface="Helvetica Neue"/>
                <a:cs typeface="Helvetica Neue"/>
              </a:rPr>
              <a:t>Ordinary photos have no measured accuracy. CNN work belongs to Phase 2.</a:t>
            </a:r>
          </a:p>
        </p:txBody>
      </p:sp>
    </p:spTree>
    <p:extLst>
      <p:ext uri="{BB962C8B-B14F-4D97-AF65-F5344CB8AC3E}">
        <p14:creationId xmlns:p14="http://schemas.microsoft.com/office/powerpoint/2010/main" val="1147176803"/>
      </p:ext>
    </p:extLst>
  </p:cSld>
</p:sld>
</file>

<file path=ppt/slides/slide5.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6061795F-3581-4155-B7D4-3673C38E3E9C}"/>
              </a:ext>
            </a:extLst>
          </p:cNvPr>
          <p:cNvCxnSpPr>
            <a:stCxn xmlns:a="http://schemas.openxmlformats.org/drawingml/2006/main" id="7" idx="3"/>
            <a:endCxn xmlns:a="http://schemas.openxmlformats.org/drawingml/2006/main" id="8" idx="1"/>
          </p:cNvCxnSpPr>
          <p:nvPr/>
        </p:nvCxnSpPr>
        <p:spPr>
          <a:xfrm xmlns:a="http://schemas.openxmlformats.org/drawingml/2006/main">
            <a:off x="8963220" y="2833688"/>
            <a:ext cx="308533" cy="0"/>
          </a:xfrm>
          <a:prstGeom xmlns:a="http://schemas.openxmlformats.org/drawingml/2006/main" prst="straightConnector1">
            <a:avLst/>
          </a:prstGeom>
          <a:ln xmlns:a="http://schemas.openxmlformats.org/drawingml/2006/main" w="19050">
            <a:solidFill>
              <a:srgbClr val="185B70"/>
            </a:solidFill>
            <a:tailEnd type="arrow" w="med" len="med"/>
          </a:ln>
        </p:spPr>
      </p:cxnSp>
      <p:cxnSp>
        <p:nvCxnSpPr>
          <p:cNvPr id="11" name="">
            <a:extLst xmlns:a="http://schemas.openxmlformats.org/drawingml/2006/main">
              <a:ext uri="{FF2B5EF4-FFF2-40B4-BE49-F238E27FC236}">
                <a16:creationId xmlns:a16="http://schemas.microsoft.com/office/drawing/2014/main" id="{C429FBA5-D258-4E26-96A1-3B97BB37AA18}"/>
              </a:ext>
            </a:extLst>
          </p:cNvPr>
          <p:cNvCxnSpPr>
            <a:stCxn xmlns:a="http://schemas.openxmlformats.org/drawingml/2006/main" id="6" idx="3"/>
            <a:endCxn xmlns:a="http://schemas.openxmlformats.org/drawingml/2006/main" id="7" idx="1"/>
          </p:cNvCxnSpPr>
          <p:nvPr/>
        </p:nvCxnSpPr>
        <p:spPr>
          <a:xfrm xmlns:a="http://schemas.openxmlformats.org/drawingml/2006/main">
            <a:off x="6781590" y="2833688"/>
            <a:ext cx="308533" cy="0"/>
          </a:xfrm>
          <a:prstGeom xmlns:a="http://schemas.openxmlformats.org/drawingml/2006/main" prst="straightConnector1">
            <a:avLst/>
          </a:prstGeom>
          <a:ln xmlns:a="http://schemas.openxmlformats.org/drawingml/2006/main" w="19050">
            <a:solidFill>
              <a:srgbClr val="185B70"/>
            </a:solidFill>
            <a:tailEnd type="arrow" w="med" len="med"/>
          </a:ln>
        </p:spPr>
      </p:cxnSp>
      <p:cxnSp>
        <p:nvCxnSpPr>
          <p:cNvPr id="10" name="">
            <a:extLst xmlns:a="http://schemas.openxmlformats.org/drawingml/2006/main">
              <a:ext uri="{FF2B5EF4-FFF2-40B4-BE49-F238E27FC236}">
                <a16:creationId xmlns:a16="http://schemas.microsoft.com/office/drawing/2014/main" id="{C9660AB6-575F-4A7A-ABA8-F012A508F8C8}"/>
              </a:ext>
            </a:extLst>
          </p:cNvPr>
          <p:cNvCxnSpPr>
            <a:stCxn xmlns:a="http://schemas.openxmlformats.org/drawingml/2006/main" id="5" idx="3"/>
            <a:endCxn xmlns:a="http://schemas.openxmlformats.org/drawingml/2006/main" id="6" idx="1"/>
          </p:cNvCxnSpPr>
          <p:nvPr/>
        </p:nvCxnSpPr>
        <p:spPr>
          <a:xfrm xmlns:a="http://schemas.openxmlformats.org/drawingml/2006/main">
            <a:off x="4181100" y="2833688"/>
            <a:ext cx="308532" cy="0"/>
          </a:xfrm>
          <a:prstGeom xmlns:a="http://schemas.openxmlformats.org/drawingml/2006/main" prst="straightConnector1">
            <a:avLst/>
          </a:prstGeom>
          <a:ln xmlns:a="http://schemas.openxmlformats.org/drawingml/2006/main" w="19050">
            <a:solidFill>
              <a:srgbClr val="185B70"/>
            </a:solidFill>
            <a:tailEnd type="arrow" w="med" len="med"/>
          </a:ln>
        </p:spPr>
      </p:cxnSp>
      <p:cxnSp>
        <p:nvCxnSpPr>
          <p:cNvPr id="9" name="">
            <a:extLst xmlns:a="http://schemas.openxmlformats.org/drawingml/2006/main">
              <a:ext uri="{FF2B5EF4-FFF2-40B4-BE49-F238E27FC236}">
                <a16:creationId xmlns:a16="http://schemas.microsoft.com/office/drawing/2014/main" id="{335FA64D-CDC9-40E6-82E5-E99A02AE1E4F}"/>
              </a:ext>
            </a:extLst>
          </p:cNvPr>
          <p:cNvCxnSpPr>
            <a:stCxn xmlns:a="http://schemas.openxmlformats.org/drawingml/2006/main" id="4" idx="3"/>
            <a:endCxn xmlns:a="http://schemas.openxmlformats.org/drawingml/2006/main" id="5" idx="1"/>
          </p:cNvCxnSpPr>
          <p:nvPr/>
        </p:nvCxnSpPr>
        <p:spPr>
          <a:xfrm xmlns:a="http://schemas.openxmlformats.org/drawingml/2006/main">
            <a:off x="1685978" y="2833688"/>
            <a:ext cx="308533" cy="0"/>
          </a:xfrm>
          <a:prstGeom xmlns:a="http://schemas.openxmlformats.org/drawingml/2006/main" prst="straightConnector1">
            <a:avLst/>
          </a:prstGeom>
          <a:ln xmlns:a="http://schemas.openxmlformats.org/drawingml/2006/main" w="19050">
            <a:solidFill>
              <a:srgbClr val="185B70"/>
            </a:solidFill>
            <a:tailEnd type="arrow" w="med" len="med"/>
          </a:ln>
        </p:spPr>
      </p:cxnSp>
      <p:sp>
        <p:nvSpPr>
          <p:cNvPr id="17" name="">
            <a:extLst xmlns:a="http://schemas.openxmlformats.org/drawingml/2006/main">
              <a:ext uri="{FF2B5EF4-FFF2-40B4-BE49-F238E27FC236}">
                <a16:creationId xmlns:a16="http://schemas.microsoft.com/office/drawing/2014/main" id="{0E4BAD08-1AA4-4A17-A060-EE075D45AC2D}"/>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Dashboard prediction flow</a:t>
            </a:r>
          </a:p>
        </p:txBody>
      </p:sp>
      <p:sp>
        <p:nvSpPr>
          <p:cNvPr id="2" name="">
            <a:extLst xmlns:a="http://schemas.openxmlformats.org/drawingml/2006/main">
              <a:ext uri="{FF2B5EF4-FFF2-40B4-BE49-F238E27FC236}">
                <a16:creationId xmlns:a16="http://schemas.microsoft.com/office/drawing/2014/main" id="{AF9A4EEF-EBFC-4F5E-BC61-9E9CA53ED0AF}"/>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AD354A5B-805D-4518-A4F1-55B0AB0CC117}"/>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86A930BB-E9F5-4BF3-91B9-6AF54684371B}"/>
              </a:ext>
            </a:extLst>
          </p:cNvPr>
          <p:cNvSpPr>
            <a:spLocks xmlns:a="http://schemas.openxmlformats.org/drawingml/2006/main" noGrp="1"/>
          </p:cNvSpPr>
          <p:nvPr/>
        </p:nvSpPr>
        <p:spPr>
          <a:xfrm xmlns:a="http://schemas.openxmlformats.org/drawingml/2006/main">
            <a:off x="714375" y="2333625"/>
            <a:ext cx="971603" cy="1000125"/>
          </a:xfrm>
          <a:prstGeom xmlns:a="http://schemas.openxmlformats.org/drawingml/2006/main" prst="roundRect">
            <a:avLst>
              <a:gd name="adj" fmla="val 7843"/>
            </a:avLst>
          </a:prstGeom>
          <a:solidFill xmlns:a="http://schemas.openxmlformats.org/drawingml/2006/main">
            <a:srgbClr val="EDF3F5"/>
          </a:solidFill>
          <a:ln xmlns:a="http://schemas.openxmlformats.org/drawingml/2006/main" w="19050">
            <a:solidFill>
              <a:srgbClr val="185B70"/>
            </a:solidFill>
          </a:ln>
        </p:spPr>
        <p:txBody>
          <a:bodyPr xmlns:a="http://schemas.openxmlformats.org/drawingml/2006/main" anchor="ctr"/>
          <a:lstStyle xmlns:a="http://schemas.openxmlformats.org/drawingml/2006/main">
            <a:defPPr algn="ctr">
              <a:defRPr sz="1875">
                <a:solidFill>
                  <a:srgbClr val="20333F"/>
                </a:solidFill>
                <a:latin typeface="Helvetica Neue"/>
                <a:ea typeface="Helvetica Neue"/>
                <a:cs typeface="Helvetica Neue"/>
              </a:defRPr>
            </a:defPPr>
            <a:lvl1pPr algn="ctr">
              <a:defRPr sz="1875">
                <a:solidFill>
                  <a:srgbClr val="20333F"/>
                </a:solidFill>
                <a:latin typeface="Helvetica Neue"/>
                <a:ea typeface="Helvetica Neue"/>
                <a:cs typeface="Helvetica Neue"/>
              </a:defRPr>
            </a:lvl1pPr>
            <a:lvl2pPr algn="ctr">
              <a:defRPr sz="1875">
                <a:solidFill>
                  <a:srgbClr val="20333F"/>
                </a:solidFill>
                <a:latin typeface="Helvetica Neue"/>
                <a:ea typeface="Helvetica Neue"/>
                <a:cs typeface="Helvetica Neue"/>
              </a:defRPr>
            </a:lvl2pPr>
            <a:lvl3pPr algn="ctr">
              <a:defRPr sz="1875">
                <a:solidFill>
                  <a:srgbClr val="20333F"/>
                </a:solidFill>
                <a:latin typeface="Helvetica Neue"/>
                <a:ea typeface="Helvetica Neue"/>
                <a:cs typeface="Helvetica Neue"/>
              </a:defRPr>
            </a:lvl3pPr>
            <a:lvl4pPr algn="ctr">
              <a:defRPr sz="1875">
                <a:solidFill>
                  <a:srgbClr val="20333F"/>
                </a:solidFill>
                <a:latin typeface="Helvetica Neue"/>
                <a:ea typeface="Helvetica Neue"/>
                <a:cs typeface="Helvetica Neue"/>
              </a:defRPr>
            </a:lvl4pPr>
            <a:lvl5pPr algn="ctr">
              <a:defRPr sz="1875">
                <a:solidFill>
                  <a:srgbClr val="20333F"/>
                </a:solidFill>
                <a:latin typeface="Helvetica Neue"/>
                <a:ea typeface="Helvetica Neue"/>
                <a:cs typeface="Helvetica Neue"/>
              </a:defRPr>
            </a:lvl5pPr>
            <a:lvl6pPr algn="ctr">
              <a:defRPr sz="1875">
                <a:solidFill>
                  <a:srgbClr val="20333F"/>
                </a:solidFill>
                <a:latin typeface="Helvetica Neue"/>
                <a:ea typeface="Helvetica Neue"/>
                <a:cs typeface="Helvetica Neue"/>
              </a:defRPr>
            </a:lvl6pPr>
            <a:lvl7pPr algn="ctr">
              <a:defRPr sz="1875">
                <a:solidFill>
                  <a:srgbClr val="20333F"/>
                </a:solidFill>
                <a:latin typeface="Helvetica Neue"/>
                <a:ea typeface="Helvetica Neue"/>
                <a:cs typeface="Helvetica Neue"/>
              </a:defRPr>
            </a:lvl7pPr>
            <a:lvl8pPr algn="ctr">
              <a:defRPr sz="1875">
                <a:solidFill>
                  <a:srgbClr val="20333F"/>
                </a:solidFill>
                <a:latin typeface="Helvetica Neue"/>
                <a:ea typeface="Helvetica Neue"/>
                <a:cs typeface="Helvetica Neue"/>
              </a:defRPr>
            </a:lvl8pPr>
            <a:lvl9pPr algn="ctr">
              <a:defRPr sz="1875">
                <a:solidFill>
                  <a:srgbClr val="20333F"/>
                </a:solidFill>
                <a:latin typeface="Helvetica Neue"/>
                <a:ea typeface="Helvetica Neue"/>
                <a:cs typeface="Helvetica Neue"/>
              </a:defRPr>
            </a:lvl9pPr>
          </a:lstStyle>
          <a:p xmlns:a="http://schemas.openxmlformats.org/drawingml/2006/main">
            <a:pPr algn="ctr">
              <a:defRPr sz="1875">
                <a:solidFill>
                  <a:srgbClr val="20333F"/>
                </a:solidFill>
                <a:latin typeface="Helvetica Neue"/>
                <a:ea typeface="Helvetica Neue"/>
                <a:cs typeface="Helvetica Neue"/>
              </a:defRPr>
            </a:pPr>
            <a:r>
              <a:rPr sz="1875">
                <a:solidFill>
                  <a:srgbClr val="20333F"/>
                </a:solidFill>
                <a:latin typeface="Helvetica Neue"/>
                <a:ea typeface="Helvetica Neue"/>
                <a:cs typeface="Helvetica Neue"/>
              </a:rPr>
              <a:t>User</a:t>
            </a:r>
          </a:p>
        </p:txBody>
      </p:sp>
      <p:sp>
        <p:nvSpPr>
          <p:cNvPr id="5" name="">
            <a:extLst xmlns:a="http://schemas.openxmlformats.org/drawingml/2006/main">
              <a:ext uri="{FF2B5EF4-FFF2-40B4-BE49-F238E27FC236}">
                <a16:creationId xmlns:a16="http://schemas.microsoft.com/office/drawing/2014/main" id="{BEBE826A-129C-48DD-ADF7-FDD47443BDCA}"/>
              </a:ext>
            </a:extLst>
          </p:cNvPr>
          <p:cNvSpPr>
            <a:spLocks xmlns:a="http://schemas.openxmlformats.org/drawingml/2006/main" noGrp="1"/>
          </p:cNvSpPr>
          <p:nvPr/>
        </p:nvSpPr>
        <p:spPr>
          <a:xfrm xmlns:a="http://schemas.openxmlformats.org/drawingml/2006/main">
            <a:off x="1994511" y="2333625"/>
            <a:ext cx="2186589" cy="1000125"/>
          </a:xfrm>
          <a:prstGeom xmlns:a="http://schemas.openxmlformats.org/drawingml/2006/main" prst="roundRect">
            <a:avLst>
              <a:gd name="adj" fmla="val 7619"/>
            </a:avLst>
          </a:prstGeom>
          <a:solidFill xmlns:a="http://schemas.openxmlformats.org/drawingml/2006/main">
            <a:srgbClr val="EDF3F5"/>
          </a:solidFill>
          <a:ln xmlns:a="http://schemas.openxmlformats.org/drawingml/2006/main" w="19050">
            <a:solidFill>
              <a:srgbClr val="185B70"/>
            </a:solidFill>
          </a:ln>
        </p:spPr>
        <p:txBody>
          <a:bodyPr xmlns:a="http://schemas.openxmlformats.org/drawingml/2006/main" anchor="ctr"/>
          <a:lstStyle xmlns:a="http://schemas.openxmlformats.org/drawingml/2006/main">
            <a:defPPr algn="ctr">
              <a:defRPr sz="1875">
                <a:solidFill>
                  <a:srgbClr val="20333F"/>
                </a:solidFill>
                <a:latin typeface="Helvetica Neue"/>
                <a:ea typeface="Helvetica Neue"/>
                <a:cs typeface="Helvetica Neue"/>
              </a:defRPr>
            </a:defPPr>
            <a:lvl1pPr algn="ctr">
              <a:defRPr sz="1875">
                <a:solidFill>
                  <a:srgbClr val="20333F"/>
                </a:solidFill>
                <a:latin typeface="Helvetica Neue"/>
                <a:ea typeface="Helvetica Neue"/>
                <a:cs typeface="Helvetica Neue"/>
              </a:defRPr>
            </a:lvl1pPr>
            <a:lvl2pPr algn="ctr">
              <a:defRPr sz="1875">
                <a:solidFill>
                  <a:srgbClr val="20333F"/>
                </a:solidFill>
                <a:latin typeface="Helvetica Neue"/>
                <a:ea typeface="Helvetica Neue"/>
                <a:cs typeface="Helvetica Neue"/>
              </a:defRPr>
            </a:lvl2pPr>
            <a:lvl3pPr algn="ctr">
              <a:defRPr sz="1875">
                <a:solidFill>
                  <a:srgbClr val="20333F"/>
                </a:solidFill>
                <a:latin typeface="Helvetica Neue"/>
                <a:ea typeface="Helvetica Neue"/>
                <a:cs typeface="Helvetica Neue"/>
              </a:defRPr>
            </a:lvl3pPr>
            <a:lvl4pPr algn="ctr">
              <a:defRPr sz="1875">
                <a:solidFill>
                  <a:srgbClr val="20333F"/>
                </a:solidFill>
                <a:latin typeface="Helvetica Neue"/>
                <a:ea typeface="Helvetica Neue"/>
                <a:cs typeface="Helvetica Neue"/>
              </a:defRPr>
            </a:lvl4pPr>
            <a:lvl5pPr algn="ctr">
              <a:defRPr sz="1875">
                <a:solidFill>
                  <a:srgbClr val="20333F"/>
                </a:solidFill>
                <a:latin typeface="Helvetica Neue"/>
                <a:ea typeface="Helvetica Neue"/>
                <a:cs typeface="Helvetica Neue"/>
              </a:defRPr>
            </a:lvl5pPr>
            <a:lvl6pPr algn="ctr">
              <a:defRPr sz="1875">
                <a:solidFill>
                  <a:srgbClr val="20333F"/>
                </a:solidFill>
                <a:latin typeface="Helvetica Neue"/>
                <a:ea typeface="Helvetica Neue"/>
                <a:cs typeface="Helvetica Neue"/>
              </a:defRPr>
            </a:lvl6pPr>
            <a:lvl7pPr algn="ctr">
              <a:defRPr sz="1875">
                <a:solidFill>
                  <a:srgbClr val="20333F"/>
                </a:solidFill>
                <a:latin typeface="Helvetica Neue"/>
                <a:ea typeface="Helvetica Neue"/>
                <a:cs typeface="Helvetica Neue"/>
              </a:defRPr>
            </a:lvl7pPr>
            <a:lvl8pPr algn="ctr">
              <a:defRPr sz="1875">
                <a:solidFill>
                  <a:srgbClr val="20333F"/>
                </a:solidFill>
                <a:latin typeface="Helvetica Neue"/>
                <a:ea typeface="Helvetica Neue"/>
                <a:cs typeface="Helvetica Neue"/>
              </a:defRPr>
            </a:lvl8pPr>
            <a:lvl9pPr algn="ctr">
              <a:defRPr sz="1875">
                <a:solidFill>
                  <a:srgbClr val="20333F"/>
                </a:solidFill>
                <a:latin typeface="Helvetica Neue"/>
                <a:ea typeface="Helvetica Neue"/>
                <a:cs typeface="Helvetica Neue"/>
              </a:defRPr>
            </a:lvl9pPr>
          </a:lstStyle>
          <a:p xmlns:a="http://schemas.openxmlformats.org/drawingml/2006/main">
            <a:pPr algn="ctr">
              <a:defRPr sz="1875">
                <a:solidFill>
                  <a:srgbClr val="20333F"/>
                </a:solidFill>
                <a:latin typeface="Helvetica Neue"/>
                <a:ea typeface="Helvetica Neue"/>
                <a:cs typeface="Helvetica Neue"/>
              </a:defRPr>
            </a:pPr>
            <a:r>
              <a:rPr sz="1875">
                <a:solidFill>
                  <a:srgbClr val="20333F"/>
                </a:solidFill>
                <a:latin typeface="Helvetica Neue"/>
                <a:ea typeface="Helvetica Neue"/>
                <a:cs typeface="Helvetica Neue"/>
              </a:rPr>
              <a:t>Choose an image</a:t>
            </a:r>
          </a:p>
        </p:txBody>
      </p:sp>
      <p:sp>
        <p:nvSpPr>
          <p:cNvPr id="6" name="">
            <a:extLst xmlns:a="http://schemas.openxmlformats.org/drawingml/2006/main">
              <a:ext uri="{FF2B5EF4-FFF2-40B4-BE49-F238E27FC236}">
                <a16:creationId xmlns:a16="http://schemas.microsoft.com/office/drawing/2014/main" id="{CD46EB29-2CA6-4A56-9933-93273E337784}"/>
              </a:ext>
            </a:extLst>
          </p:cNvPr>
          <p:cNvSpPr>
            <a:spLocks xmlns:a="http://schemas.openxmlformats.org/drawingml/2006/main" noGrp="1"/>
          </p:cNvSpPr>
          <p:nvPr/>
        </p:nvSpPr>
        <p:spPr>
          <a:xfrm xmlns:a="http://schemas.openxmlformats.org/drawingml/2006/main">
            <a:off x="4489632" y="2333625"/>
            <a:ext cx="2291958" cy="1000125"/>
          </a:xfrm>
          <a:prstGeom xmlns:a="http://schemas.openxmlformats.org/drawingml/2006/main" prst="roundRect">
            <a:avLst>
              <a:gd name="adj" fmla="val 7619"/>
            </a:avLst>
          </a:prstGeom>
          <a:solidFill xmlns:a="http://schemas.openxmlformats.org/drawingml/2006/main">
            <a:srgbClr val="EDF3F5"/>
          </a:solidFill>
          <a:ln xmlns:a="http://schemas.openxmlformats.org/drawingml/2006/main" w="19050">
            <a:solidFill>
              <a:srgbClr val="185B70"/>
            </a:solidFill>
          </a:ln>
        </p:spPr>
        <p:txBody>
          <a:bodyPr xmlns:a="http://schemas.openxmlformats.org/drawingml/2006/main" anchor="ctr"/>
          <a:lstStyle xmlns:a="http://schemas.openxmlformats.org/drawingml/2006/main">
            <a:defPPr algn="ctr">
              <a:defRPr sz="1875">
                <a:solidFill>
                  <a:srgbClr val="20333F"/>
                </a:solidFill>
                <a:latin typeface="Helvetica Neue"/>
                <a:ea typeface="Helvetica Neue"/>
                <a:cs typeface="Helvetica Neue"/>
              </a:defRPr>
            </a:defPPr>
            <a:lvl1pPr algn="ctr">
              <a:defRPr sz="1875">
                <a:solidFill>
                  <a:srgbClr val="20333F"/>
                </a:solidFill>
                <a:latin typeface="Helvetica Neue"/>
                <a:ea typeface="Helvetica Neue"/>
                <a:cs typeface="Helvetica Neue"/>
              </a:defRPr>
            </a:lvl1pPr>
            <a:lvl2pPr algn="ctr">
              <a:defRPr sz="1875">
                <a:solidFill>
                  <a:srgbClr val="20333F"/>
                </a:solidFill>
                <a:latin typeface="Helvetica Neue"/>
                <a:ea typeface="Helvetica Neue"/>
                <a:cs typeface="Helvetica Neue"/>
              </a:defRPr>
            </a:lvl2pPr>
            <a:lvl3pPr algn="ctr">
              <a:defRPr sz="1875">
                <a:solidFill>
                  <a:srgbClr val="20333F"/>
                </a:solidFill>
                <a:latin typeface="Helvetica Neue"/>
                <a:ea typeface="Helvetica Neue"/>
                <a:cs typeface="Helvetica Neue"/>
              </a:defRPr>
            </a:lvl3pPr>
            <a:lvl4pPr algn="ctr">
              <a:defRPr sz="1875">
                <a:solidFill>
                  <a:srgbClr val="20333F"/>
                </a:solidFill>
                <a:latin typeface="Helvetica Neue"/>
                <a:ea typeface="Helvetica Neue"/>
                <a:cs typeface="Helvetica Neue"/>
              </a:defRPr>
            </a:lvl4pPr>
            <a:lvl5pPr algn="ctr">
              <a:defRPr sz="1875">
                <a:solidFill>
                  <a:srgbClr val="20333F"/>
                </a:solidFill>
                <a:latin typeface="Helvetica Neue"/>
                <a:ea typeface="Helvetica Neue"/>
                <a:cs typeface="Helvetica Neue"/>
              </a:defRPr>
            </a:lvl5pPr>
            <a:lvl6pPr algn="ctr">
              <a:defRPr sz="1875">
                <a:solidFill>
                  <a:srgbClr val="20333F"/>
                </a:solidFill>
                <a:latin typeface="Helvetica Neue"/>
                <a:ea typeface="Helvetica Neue"/>
                <a:cs typeface="Helvetica Neue"/>
              </a:defRPr>
            </a:lvl6pPr>
            <a:lvl7pPr algn="ctr">
              <a:defRPr sz="1875">
                <a:solidFill>
                  <a:srgbClr val="20333F"/>
                </a:solidFill>
                <a:latin typeface="Helvetica Neue"/>
                <a:ea typeface="Helvetica Neue"/>
                <a:cs typeface="Helvetica Neue"/>
              </a:defRPr>
            </a:lvl7pPr>
            <a:lvl8pPr algn="ctr">
              <a:defRPr sz="1875">
                <a:solidFill>
                  <a:srgbClr val="20333F"/>
                </a:solidFill>
                <a:latin typeface="Helvetica Neue"/>
                <a:ea typeface="Helvetica Neue"/>
                <a:cs typeface="Helvetica Neue"/>
              </a:defRPr>
            </a:lvl8pPr>
            <a:lvl9pPr algn="ctr">
              <a:defRPr sz="1875">
                <a:solidFill>
                  <a:srgbClr val="20333F"/>
                </a:solidFill>
                <a:latin typeface="Helvetica Neue"/>
                <a:ea typeface="Helvetica Neue"/>
                <a:cs typeface="Helvetica Neue"/>
              </a:defRPr>
            </a:lvl9pPr>
          </a:lstStyle>
          <a:p xmlns:a="http://schemas.openxmlformats.org/drawingml/2006/main">
            <a:pPr algn="ctr">
              <a:defRPr sz="1875">
                <a:solidFill>
                  <a:srgbClr val="20333F"/>
                </a:solidFill>
                <a:latin typeface="Helvetica Neue"/>
                <a:ea typeface="Helvetica Neue"/>
                <a:cs typeface="Helvetica Neue"/>
              </a:defRPr>
            </a:pPr>
            <a:r>
              <a:rPr sz="1875">
                <a:solidFill>
                  <a:srgbClr val="20333F"/>
                </a:solidFill>
                <a:latin typeface="Helvetica Neue"/>
                <a:ea typeface="Helvetica Neue"/>
                <a:cs typeface="Helvetica Neue"/>
              </a:rPr>
              <a:t>Choose a saved model</a:t>
            </a:r>
          </a:p>
        </p:txBody>
      </p:sp>
      <p:sp>
        <p:nvSpPr>
          <p:cNvPr id="7" name="">
            <a:extLst xmlns:a="http://schemas.openxmlformats.org/drawingml/2006/main">
              <a:ext uri="{FF2B5EF4-FFF2-40B4-BE49-F238E27FC236}">
                <a16:creationId xmlns:a16="http://schemas.microsoft.com/office/drawing/2014/main" id="{AD5D205C-C443-4D78-B1FB-3CE2A0809B90}"/>
              </a:ext>
            </a:extLst>
          </p:cNvPr>
          <p:cNvSpPr>
            <a:spLocks xmlns:a="http://schemas.openxmlformats.org/drawingml/2006/main" noGrp="1"/>
          </p:cNvSpPr>
          <p:nvPr/>
        </p:nvSpPr>
        <p:spPr>
          <a:xfrm xmlns:a="http://schemas.openxmlformats.org/drawingml/2006/main">
            <a:off x="7090123" y="2333625"/>
            <a:ext cx="1873097" cy="1000125"/>
          </a:xfrm>
          <a:prstGeom xmlns:a="http://schemas.openxmlformats.org/drawingml/2006/main" prst="roundRect">
            <a:avLst>
              <a:gd name="adj" fmla="val 7619"/>
            </a:avLst>
          </a:prstGeom>
          <a:solidFill xmlns:a="http://schemas.openxmlformats.org/drawingml/2006/main">
            <a:srgbClr val="EDF3F5"/>
          </a:solidFill>
          <a:ln xmlns:a="http://schemas.openxmlformats.org/drawingml/2006/main" w="19050">
            <a:solidFill>
              <a:srgbClr val="185B70"/>
            </a:solidFill>
          </a:ln>
        </p:spPr>
        <p:txBody>
          <a:bodyPr xmlns:a="http://schemas.openxmlformats.org/drawingml/2006/main" anchor="ctr"/>
          <a:lstStyle xmlns:a="http://schemas.openxmlformats.org/drawingml/2006/main">
            <a:defPPr algn="ctr">
              <a:defRPr sz="1875">
                <a:solidFill>
                  <a:srgbClr val="20333F"/>
                </a:solidFill>
                <a:latin typeface="Helvetica Neue"/>
                <a:ea typeface="Helvetica Neue"/>
                <a:cs typeface="Helvetica Neue"/>
              </a:defRPr>
            </a:defPPr>
            <a:lvl1pPr algn="ctr">
              <a:defRPr sz="1875">
                <a:solidFill>
                  <a:srgbClr val="20333F"/>
                </a:solidFill>
                <a:latin typeface="Helvetica Neue"/>
                <a:ea typeface="Helvetica Neue"/>
                <a:cs typeface="Helvetica Neue"/>
              </a:defRPr>
            </a:lvl1pPr>
            <a:lvl2pPr algn="ctr">
              <a:defRPr sz="1875">
                <a:solidFill>
                  <a:srgbClr val="20333F"/>
                </a:solidFill>
                <a:latin typeface="Helvetica Neue"/>
                <a:ea typeface="Helvetica Neue"/>
                <a:cs typeface="Helvetica Neue"/>
              </a:defRPr>
            </a:lvl2pPr>
            <a:lvl3pPr algn="ctr">
              <a:defRPr sz="1875">
                <a:solidFill>
                  <a:srgbClr val="20333F"/>
                </a:solidFill>
                <a:latin typeface="Helvetica Neue"/>
                <a:ea typeface="Helvetica Neue"/>
                <a:cs typeface="Helvetica Neue"/>
              </a:defRPr>
            </a:lvl3pPr>
            <a:lvl4pPr algn="ctr">
              <a:defRPr sz="1875">
                <a:solidFill>
                  <a:srgbClr val="20333F"/>
                </a:solidFill>
                <a:latin typeface="Helvetica Neue"/>
                <a:ea typeface="Helvetica Neue"/>
                <a:cs typeface="Helvetica Neue"/>
              </a:defRPr>
            </a:lvl4pPr>
            <a:lvl5pPr algn="ctr">
              <a:defRPr sz="1875">
                <a:solidFill>
                  <a:srgbClr val="20333F"/>
                </a:solidFill>
                <a:latin typeface="Helvetica Neue"/>
                <a:ea typeface="Helvetica Neue"/>
                <a:cs typeface="Helvetica Neue"/>
              </a:defRPr>
            </a:lvl5pPr>
            <a:lvl6pPr algn="ctr">
              <a:defRPr sz="1875">
                <a:solidFill>
                  <a:srgbClr val="20333F"/>
                </a:solidFill>
                <a:latin typeface="Helvetica Neue"/>
                <a:ea typeface="Helvetica Neue"/>
                <a:cs typeface="Helvetica Neue"/>
              </a:defRPr>
            </a:lvl6pPr>
            <a:lvl7pPr algn="ctr">
              <a:defRPr sz="1875">
                <a:solidFill>
                  <a:srgbClr val="20333F"/>
                </a:solidFill>
                <a:latin typeface="Helvetica Neue"/>
                <a:ea typeface="Helvetica Neue"/>
                <a:cs typeface="Helvetica Neue"/>
              </a:defRPr>
            </a:lvl7pPr>
            <a:lvl8pPr algn="ctr">
              <a:defRPr sz="1875">
                <a:solidFill>
                  <a:srgbClr val="20333F"/>
                </a:solidFill>
                <a:latin typeface="Helvetica Neue"/>
                <a:ea typeface="Helvetica Neue"/>
                <a:cs typeface="Helvetica Neue"/>
              </a:defRPr>
            </a:lvl8pPr>
            <a:lvl9pPr algn="ctr">
              <a:defRPr sz="1875">
                <a:solidFill>
                  <a:srgbClr val="20333F"/>
                </a:solidFill>
                <a:latin typeface="Helvetica Neue"/>
                <a:ea typeface="Helvetica Neue"/>
                <a:cs typeface="Helvetica Neue"/>
              </a:defRPr>
            </a:lvl9pPr>
          </a:lstStyle>
          <a:p xmlns:a="http://schemas.openxmlformats.org/drawingml/2006/main">
            <a:pPr algn="ctr">
              <a:defRPr sz="1875">
                <a:solidFill>
                  <a:srgbClr val="20333F"/>
                </a:solidFill>
                <a:latin typeface="Helvetica Neue"/>
                <a:ea typeface="Helvetica Neue"/>
                <a:cs typeface="Helvetica Neue"/>
              </a:defRPr>
            </a:pPr>
            <a:r>
              <a:rPr sz="1875">
                <a:solidFill>
                  <a:srgbClr val="20333F"/>
                </a:solidFill>
                <a:latin typeface="Helvetica Neue"/>
                <a:ea typeface="Helvetica Neue"/>
                <a:cs typeface="Helvetica Neue"/>
              </a:rPr>
              <a:t>Get prediction</a:t>
            </a:r>
          </a:p>
        </p:txBody>
      </p:sp>
      <p:sp>
        <p:nvSpPr>
          <p:cNvPr id="8" name="">
            <a:extLst xmlns:a="http://schemas.openxmlformats.org/drawingml/2006/main">
              <a:ext uri="{FF2B5EF4-FFF2-40B4-BE49-F238E27FC236}">
                <a16:creationId xmlns:a16="http://schemas.microsoft.com/office/drawing/2014/main" id="{A43E7264-2849-4182-85F1-2BC8797E3072}"/>
              </a:ext>
            </a:extLst>
          </p:cNvPr>
          <p:cNvSpPr>
            <a:spLocks xmlns:a="http://schemas.openxmlformats.org/drawingml/2006/main" noGrp="1"/>
          </p:cNvSpPr>
          <p:nvPr/>
        </p:nvSpPr>
        <p:spPr>
          <a:xfrm xmlns:a="http://schemas.openxmlformats.org/drawingml/2006/main">
            <a:off x="9271753" y="2333625"/>
            <a:ext cx="2205872" cy="1000125"/>
          </a:xfrm>
          <a:prstGeom xmlns:a="http://schemas.openxmlformats.org/drawingml/2006/main" prst="roundRect">
            <a:avLst>
              <a:gd name="adj" fmla="val 7619"/>
            </a:avLst>
          </a:prstGeom>
          <a:solidFill xmlns:a="http://schemas.openxmlformats.org/drawingml/2006/main">
            <a:srgbClr val="EDF3F5"/>
          </a:solidFill>
          <a:ln xmlns:a="http://schemas.openxmlformats.org/drawingml/2006/main" w="19050">
            <a:solidFill>
              <a:srgbClr val="185B70"/>
            </a:solidFill>
          </a:ln>
        </p:spPr>
        <p:txBody>
          <a:bodyPr xmlns:a="http://schemas.openxmlformats.org/drawingml/2006/main" anchor="ctr"/>
          <a:lstStyle xmlns:a="http://schemas.openxmlformats.org/drawingml/2006/main">
            <a:defPPr algn="ctr">
              <a:defRPr sz="1875">
                <a:solidFill>
                  <a:srgbClr val="20333F"/>
                </a:solidFill>
                <a:latin typeface="Helvetica Neue"/>
                <a:ea typeface="Helvetica Neue"/>
                <a:cs typeface="Helvetica Neue"/>
              </a:defRPr>
            </a:defPPr>
            <a:lvl1pPr algn="ctr">
              <a:defRPr sz="1875">
                <a:solidFill>
                  <a:srgbClr val="20333F"/>
                </a:solidFill>
                <a:latin typeface="Helvetica Neue"/>
                <a:ea typeface="Helvetica Neue"/>
                <a:cs typeface="Helvetica Neue"/>
              </a:defRPr>
            </a:lvl1pPr>
            <a:lvl2pPr algn="ctr">
              <a:defRPr sz="1875">
                <a:solidFill>
                  <a:srgbClr val="20333F"/>
                </a:solidFill>
                <a:latin typeface="Helvetica Neue"/>
                <a:ea typeface="Helvetica Neue"/>
                <a:cs typeface="Helvetica Neue"/>
              </a:defRPr>
            </a:lvl2pPr>
            <a:lvl3pPr algn="ctr">
              <a:defRPr sz="1875">
                <a:solidFill>
                  <a:srgbClr val="20333F"/>
                </a:solidFill>
                <a:latin typeface="Helvetica Neue"/>
                <a:ea typeface="Helvetica Neue"/>
                <a:cs typeface="Helvetica Neue"/>
              </a:defRPr>
            </a:lvl3pPr>
            <a:lvl4pPr algn="ctr">
              <a:defRPr sz="1875">
                <a:solidFill>
                  <a:srgbClr val="20333F"/>
                </a:solidFill>
                <a:latin typeface="Helvetica Neue"/>
                <a:ea typeface="Helvetica Neue"/>
                <a:cs typeface="Helvetica Neue"/>
              </a:defRPr>
            </a:lvl4pPr>
            <a:lvl5pPr algn="ctr">
              <a:defRPr sz="1875">
                <a:solidFill>
                  <a:srgbClr val="20333F"/>
                </a:solidFill>
                <a:latin typeface="Helvetica Neue"/>
                <a:ea typeface="Helvetica Neue"/>
                <a:cs typeface="Helvetica Neue"/>
              </a:defRPr>
            </a:lvl5pPr>
            <a:lvl6pPr algn="ctr">
              <a:defRPr sz="1875">
                <a:solidFill>
                  <a:srgbClr val="20333F"/>
                </a:solidFill>
                <a:latin typeface="Helvetica Neue"/>
                <a:ea typeface="Helvetica Neue"/>
                <a:cs typeface="Helvetica Neue"/>
              </a:defRPr>
            </a:lvl6pPr>
            <a:lvl7pPr algn="ctr">
              <a:defRPr sz="1875">
                <a:solidFill>
                  <a:srgbClr val="20333F"/>
                </a:solidFill>
                <a:latin typeface="Helvetica Neue"/>
                <a:ea typeface="Helvetica Neue"/>
                <a:cs typeface="Helvetica Neue"/>
              </a:defRPr>
            </a:lvl7pPr>
            <a:lvl8pPr algn="ctr">
              <a:defRPr sz="1875">
                <a:solidFill>
                  <a:srgbClr val="20333F"/>
                </a:solidFill>
                <a:latin typeface="Helvetica Neue"/>
                <a:ea typeface="Helvetica Neue"/>
                <a:cs typeface="Helvetica Neue"/>
              </a:defRPr>
            </a:lvl8pPr>
            <a:lvl9pPr algn="ctr">
              <a:defRPr sz="1875">
                <a:solidFill>
                  <a:srgbClr val="20333F"/>
                </a:solidFill>
                <a:latin typeface="Helvetica Neue"/>
                <a:ea typeface="Helvetica Neue"/>
                <a:cs typeface="Helvetica Neue"/>
              </a:defRPr>
            </a:lvl9pPr>
          </a:lstStyle>
          <a:p xmlns:a="http://schemas.openxmlformats.org/drawingml/2006/main">
            <a:pPr algn="ctr">
              <a:defRPr sz="1875">
                <a:solidFill>
                  <a:srgbClr val="20333F"/>
                </a:solidFill>
                <a:latin typeface="Helvetica Neue"/>
                <a:ea typeface="Helvetica Neue"/>
                <a:cs typeface="Helvetica Neue"/>
              </a:defRPr>
            </a:pPr>
            <a:r>
              <a:rPr sz="1875">
                <a:solidFill>
                  <a:srgbClr val="20333F"/>
                </a:solidFill>
                <a:latin typeface="Helvetica Neue"/>
                <a:ea typeface="Helvetica Neue"/>
                <a:cs typeface="Helvetica Neue"/>
              </a:rPr>
              <a:t>Clothing category</a:t>
            </a:r>
          </a:p>
        </p:txBody>
      </p:sp>
      <p:sp>
        <p:nvSpPr>
          <p:cNvPr id="13" name="">
            <a:extLst xmlns:a="http://schemas.openxmlformats.org/drawingml/2006/main">
              <a:ext uri="{FF2B5EF4-FFF2-40B4-BE49-F238E27FC236}">
                <a16:creationId xmlns:a16="http://schemas.microsoft.com/office/drawing/2014/main" id="{E2023B2D-CDF4-40CE-B628-C4C48F98D2BF}"/>
              </a:ext>
            </a:extLst>
          </p:cNvPr>
          <p:cNvSpPr>
            <a:spLocks xmlns:a="http://schemas.openxmlformats.org/drawingml/2006/main" noGrp="1"/>
          </p:cNvSpPr>
          <p:nvPr/>
        </p:nvSpPr>
        <p:spPr>
          <a:xfrm xmlns:a="http://schemas.openxmlformats.org/drawingml/2006/main">
            <a:off x="714375" y="1476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20333F"/>
                </a:solidFill>
                <a:latin typeface="Helvetica Neue"/>
                <a:ea typeface="Helvetica Neue"/>
                <a:cs typeface="Helvetica Neue"/>
              </a:defRPr>
            </a:defPPr>
            <a:lvl1pPr>
              <a:defRPr sz="2325" b="0">
                <a:solidFill>
                  <a:srgbClr val="20333F"/>
                </a:solidFill>
                <a:latin typeface="Helvetica Neue"/>
                <a:ea typeface="Helvetica Neue"/>
                <a:cs typeface="Helvetica Neue"/>
              </a:defRPr>
            </a:lvl1pPr>
            <a:lvl2pPr>
              <a:defRPr sz="2325" b="0">
                <a:solidFill>
                  <a:srgbClr val="20333F"/>
                </a:solidFill>
                <a:latin typeface="Helvetica Neue"/>
                <a:ea typeface="Helvetica Neue"/>
                <a:cs typeface="Helvetica Neue"/>
              </a:defRPr>
            </a:lvl2pPr>
            <a:lvl3pPr>
              <a:defRPr sz="2325" b="0">
                <a:solidFill>
                  <a:srgbClr val="20333F"/>
                </a:solidFill>
                <a:latin typeface="Helvetica Neue"/>
                <a:ea typeface="Helvetica Neue"/>
                <a:cs typeface="Helvetica Neue"/>
              </a:defRPr>
            </a:lvl3pPr>
            <a:lvl4pPr>
              <a:defRPr sz="2325" b="0">
                <a:solidFill>
                  <a:srgbClr val="20333F"/>
                </a:solidFill>
                <a:latin typeface="Helvetica Neue"/>
                <a:ea typeface="Helvetica Neue"/>
                <a:cs typeface="Helvetica Neue"/>
              </a:defRPr>
            </a:lvl4pPr>
            <a:lvl5pPr>
              <a:defRPr sz="2325" b="0">
                <a:solidFill>
                  <a:srgbClr val="20333F"/>
                </a:solidFill>
                <a:latin typeface="Helvetica Neue"/>
                <a:ea typeface="Helvetica Neue"/>
                <a:cs typeface="Helvetica Neue"/>
              </a:defRPr>
            </a:lvl5pPr>
            <a:lvl6pPr>
              <a:defRPr sz="2325" b="0">
                <a:solidFill>
                  <a:srgbClr val="20333F"/>
                </a:solidFill>
                <a:latin typeface="Helvetica Neue"/>
                <a:ea typeface="Helvetica Neue"/>
                <a:cs typeface="Helvetica Neue"/>
              </a:defRPr>
            </a:lvl6pPr>
            <a:lvl7pPr>
              <a:defRPr sz="2325" b="0">
                <a:solidFill>
                  <a:srgbClr val="20333F"/>
                </a:solidFill>
                <a:latin typeface="Helvetica Neue"/>
                <a:ea typeface="Helvetica Neue"/>
                <a:cs typeface="Helvetica Neue"/>
              </a:defRPr>
            </a:lvl7pPr>
            <a:lvl8pPr>
              <a:defRPr sz="2325" b="0">
                <a:solidFill>
                  <a:srgbClr val="20333F"/>
                </a:solidFill>
                <a:latin typeface="Helvetica Neue"/>
                <a:ea typeface="Helvetica Neue"/>
                <a:cs typeface="Helvetica Neue"/>
              </a:defRPr>
            </a:lvl8pPr>
            <a:lvl9pPr>
              <a:defRPr sz="2325" b="0">
                <a:solidFill>
                  <a:srgbClr val="20333F"/>
                </a:solidFill>
                <a:latin typeface="Helvetica Neue"/>
                <a:ea typeface="Helvetica Neue"/>
                <a:cs typeface="Helvetica Neue"/>
              </a:defRPr>
            </a:lvl9pPr>
          </a:lstStyle>
          <a:p xmlns:a="http://schemas.openxmlformats.org/drawingml/2006/main">
            <a:pPr>
              <a:defRPr sz="2325" b="0">
                <a:solidFill>
                  <a:srgbClr val="20333F"/>
                </a:solidFill>
                <a:latin typeface="Helvetica Neue"/>
                <a:ea typeface="Helvetica Neue"/>
                <a:cs typeface="Helvetica Neue"/>
              </a:defRPr>
            </a:pPr>
            <a:r>
              <a:rPr sz="2325" b="0">
                <a:solidFill>
                  <a:srgbClr val="20333F"/>
                </a:solidFill>
                <a:latin typeface="Helvetica Neue"/>
                <a:ea typeface="Helvetica Neue"/>
                <a:cs typeface="Helvetica Neue"/>
              </a:rPr>
              <a:t>Start with an included sample or upload a clothing picture.</a:t>
            </a:r>
          </a:p>
        </p:txBody>
      </p:sp>
      <p:sp>
        <p:nvSpPr>
          <p:cNvPr id="14" name="">
            <a:extLst xmlns:a="http://schemas.openxmlformats.org/drawingml/2006/main">
              <a:ext uri="{FF2B5EF4-FFF2-40B4-BE49-F238E27FC236}">
                <a16:creationId xmlns:a16="http://schemas.microsoft.com/office/drawing/2014/main" id="{4375A8C5-7756-4D7E-B79E-813336500DEE}"/>
              </a:ext>
            </a:extLst>
          </p:cNvPr>
          <p:cNvSpPr>
            <a:spLocks xmlns:a="http://schemas.openxmlformats.org/drawingml/2006/main" noGrp="1"/>
          </p:cNvSpPr>
          <p:nvPr/>
        </p:nvSpPr>
        <p:spPr>
          <a:xfrm xmlns:a="http://schemas.openxmlformats.org/drawingml/2006/main">
            <a:off x="714375" y="38576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Default model: Pixels + Random Forest. Change it in settings.</a:t>
            </a:r>
          </a:p>
        </p:txBody>
      </p:sp>
      <p:sp>
        <p:nvSpPr>
          <p:cNvPr id="15" name="">
            <a:extLst xmlns:a="http://schemas.openxmlformats.org/drawingml/2006/main">
              <a:ext uri="{FF2B5EF4-FFF2-40B4-BE49-F238E27FC236}">
                <a16:creationId xmlns:a16="http://schemas.microsoft.com/office/drawing/2014/main" id="{994147E5-0F0C-4DCF-B6EE-D30A5AD75613}"/>
              </a:ext>
            </a:extLst>
          </p:cNvPr>
          <p:cNvSpPr>
            <a:spLocks xmlns:a="http://schemas.openxmlformats.org/drawingml/2006/main" noGrp="1"/>
          </p:cNvSpPr>
          <p:nvPr/>
        </p:nvSpPr>
        <p:spPr>
          <a:xfrm xmlns:a="http://schemas.openxmlformats.org/drawingml/2006/main">
            <a:off x="714375" y="46196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Preview the prepared 28 × 28 image.</a:t>
            </a:r>
          </a:p>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Then view the category and prediction time.</a:t>
            </a:r>
          </a:p>
        </p:txBody>
      </p:sp>
      <p:sp>
        <p:nvSpPr>
          <p:cNvPr id="16" name="">
            <a:extLst xmlns:a="http://schemas.openxmlformats.org/drawingml/2006/main">
              <a:ext uri="{FF2B5EF4-FFF2-40B4-BE49-F238E27FC236}">
                <a16:creationId xmlns:a16="http://schemas.microsoft.com/office/drawing/2014/main" id="{27F64F6F-5DFF-4AA5-A3EF-ADC7C509EF86}"/>
              </a:ext>
            </a:extLst>
          </p:cNvPr>
          <p:cNvSpPr>
            <a:spLocks xmlns:a="http://schemas.openxmlformats.org/drawingml/2006/main" noGrp="1"/>
          </p:cNvSpPr>
          <p:nvPr/>
        </p:nvSpPr>
        <p:spPr>
          <a:xfrm xmlns:a="http://schemas.openxmlformats.org/drawingml/2006/main">
            <a:off x="714375" y="56864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85B70"/>
                </a:solidFill>
                <a:latin typeface="Helvetica Neue"/>
                <a:ea typeface="Helvetica Neue"/>
                <a:cs typeface="Helvetica Neue"/>
              </a:defRPr>
            </a:defPPr>
            <a:lvl1pPr>
              <a:defRPr sz="2175" b="1">
                <a:solidFill>
                  <a:srgbClr val="185B70"/>
                </a:solidFill>
                <a:latin typeface="Helvetica Neue"/>
                <a:ea typeface="Helvetica Neue"/>
                <a:cs typeface="Helvetica Neue"/>
              </a:defRPr>
            </a:lvl1pPr>
            <a:lvl2pPr>
              <a:defRPr sz="2175" b="1">
                <a:solidFill>
                  <a:srgbClr val="185B70"/>
                </a:solidFill>
                <a:latin typeface="Helvetica Neue"/>
                <a:ea typeface="Helvetica Neue"/>
                <a:cs typeface="Helvetica Neue"/>
              </a:defRPr>
            </a:lvl2pPr>
            <a:lvl3pPr>
              <a:defRPr sz="2175" b="1">
                <a:solidFill>
                  <a:srgbClr val="185B70"/>
                </a:solidFill>
                <a:latin typeface="Helvetica Neue"/>
                <a:ea typeface="Helvetica Neue"/>
                <a:cs typeface="Helvetica Neue"/>
              </a:defRPr>
            </a:lvl3pPr>
            <a:lvl4pPr>
              <a:defRPr sz="2175" b="1">
                <a:solidFill>
                  <a:srgbClr val="185B70"/>
                </a:solidFill>
                <a:latin typeface="Helvetica Neue"/>
                <a:ea typeface="Helvetica Neue"/>
                <a:cs typeface="Helvetica Neue"/>
              </a:defRPr>
            </a:lvl4pPr>
            <a:lvl5pPr>
              <a:defRPr sz="2175" b="1">
                <a:solidFill>
                  <a:srgbClr val="185B70"/>
                </a:solidFill>
                <a:latin typeface="Helvetica Neue"/>
                <a:ea typeface="Helvetica Neue"/>
                <a:cs typeface="Helvetica Neue"/>
              </a:defRPr>
            </a:lvl5pPr>
            <a:lvl6pPr>
              <a:defRPr sz="2175" b="1">
                <a:solidFill>
                  <a:srgbClr val="185B70"/>
                </a:solidFill>
                <a:latin typeface="Helvetica Neue"/>
                <a:ea typeface="Helvetica Neue"/>
                <a:cs typeface="Helvetica Neue"/>
              </a:defRPr>
            </a:lvl6pPr>
            <a:lvl7pPr>
              <a:defRPr sz="2175" b="1">
                <a:solidFill>
                  <a:srgbClr val="185B70"/>
                </a:solidFill>
                <a:latin typeface="Helvetica Neue"/>
                <a:ea typeface="Helvetica Neue"/>
                <a:cs typeface="Helvetica Neue"/>
              </a:defRPr>
            </a:lvl7pPr>
            <a:lvl8pPr>
              <a:defRPr sz="2175" b="1">
                <a:solidFill>
                  <a:srgbClr val="185B70"/>
                </a:solidFill>
                <a:latin typeface="Helvetica Neue"/>
                <a:ea typeface="Helvetica Neue"/>
                <a:cs typeface="Helvetica Neue"/>
              </a:defRPr>
            </a:lvl8pPr>
            <a:lvl9pPr>
              <a:defRPr sz="2175" b="1">
                <a:solidFill>
                  <a:srgbClr val="185B70"/>
                </a:solidFill>
                <a:latin typeface="Helvetica Neue"/>
                <a:ea typeface="Helvetica Neue"/>
                <a:cs typeface="Helvetica Neue"/>
              </a:defRPr>
            </a:lvl9pPr>
          </a:lstStyle>
          <a:p xmlns:a="http://schemas.openxmlformats.org/drawingml/2006/main">
            <a:pPr>
              <a:defRPr sz="2175" b="1">
                <a:solidFill>
                  <a:srgbClr val="185B70"/>
                </a:solidFill>
                <a:latin typeface="Helvetica Neue"/>
                <a:ea typeface="Helvetica Neue"/>
                <a:cs typeface="Helvetica Neue"/>
              </a:defRPr>
            </a:pPr>
            <a:r>
              <a:rPr sz="2175" b="1">
                <a:solidFill>
                  <a:srgbClr val="185B70"/>
                </a:solidFill>
                <a:latin typeface="Helvetica Neue"/>
                <a:ea typeface="Helvetica Neue"/>
                <a:cs typeface="Helvetica Neue"/>
              </a:rPr>
              <a:t>inventory-image-tagging.streamlit.app</a:t>
            </a:r>
          </a:p>
        </p:txBody>
      </p:sp>
    </p:spTree>
    <p:extLst>
      <p:ext uri="{BB962C8B-B14F-4D97-AF65-F5344CB8AC3E}">
        <p14:creationId xmlns:p14="http://schemas.microsoft.com/office/powerpoint/2010/main" val="1295666070"/>
      </p:ext>
    </p:extLst>
  </p:cSld>
</p:sld>
</file>

<file path=ppt/theme/theme1.xml><?xml version="1.0" encoding="utf-8"?>
<a:theme xmlns:a="http://schemas.openxmlformats.org/drawingml/2006/main" name="Inventory Image Tagging">
  <a:themeElements>
    <a:clrScheme name="Inventory Image Tagging">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Inventory Image Tagging">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2026-10-26T20:31:24.5580000Z</dcterms:created>
  <dcterms:modified xsi:type="dcterms:W3CDTF">2026-10-26T20:31:24.5580000Z</dcterms:modified>
</coreProperties>
</file>