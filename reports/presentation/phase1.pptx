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a0fc9356d3948f4" /><Relationship Type="http://schemas.openxmlformats.org/officeDocument/2006/relationships/extended-properties" Target="/docProps/app.xml" Id="R33e2d3d2d0a24f10" /><Relationship Type="http://schemas.openxmlformats.org/officeDocument/2006/relationships/officeDocument" Target="/ppt/presentation.xml" Id="R5e1e411dcfc549c2" /></Relationships>
</file>

<file path=ppt/presentation.xml><?xml version="1.0" encoding="utf-8"?>
<p:presentation xmlns:p="http://schemas.openxmlformats.org/presentationml/2006/main">
  <p:sldMasterIdLst>
    <p:sldMasterId xmlns:r="http://schemas.openxmlformats.org/officeDocument/2006/relationships" id="2147483648" r:id="R437bae086ffd4702"/>
  </p:sldMasterIdLst>
  <p:notesMasterIdLst>
    <p:notesMasterId xmlns:r="http://schemas.openxmlformats.org/officeDocument/2006/relationships" r:id="Re6ab03835349410e"/>
  </p:notesMasterIdLst>
  <p:sldIdLst>
    <p:sldId xmlns:r="http://schemas.openxmlformats.org/officeDocument/2006/relationships" id="256" r:id="Reff35045baa548f2"/>
    <p:sldId xmlns:r="http://schemas.openxmlformats.org/officeDocument/2006/relationships" id="257" r:id="R41a3f0e9b099450c"/>
    <p:sldId xmlns:r="http://schemas.openxmlformats.org/officeDocument/2006/relationships" id="258" r:id="Reafb79ee17fe4163"/>
    <p:sldId xmlns:r="http://schemas.openxmlformats.org/officeDocument/2006/relationships" id="259" r:id="R6e0341ddb9234a2a"/>
    <p:sldId xmlns:r="http://schemas.openxmlformats.org/officeDocument/2006/relationships" id="260" r:id="Ra498995667484a2b"/>
    <p:sldId xmlns:r="http://schemas.openxmlformats.org/officeDocument/2006/relationships" id="261" r:id="Rac7c50a64894432a"/>
    <p:sldId xmlns:r="http://schemas.openxmlformats.org/officeDocument/2006/relationships" id="262" r:id="Rf4718f4e0cbd4ce8"/>
    <p:sldId xmlns:r="http://schemas.openxmlformats.org/officeDocument/2006/relationships" id="263" r:id="R6f44caa97154421e"/>
    <p:sldId xmlns:r="http://schemas.openxmlformats.org/officeDocument/2006/relationships" id="264" r:id="Re8fe01cf3a1c486d"/>
    <p:sldId xmlns:r="http://schemas.openxmlformats.org/officeDocument/2006/relationships" id="265" r:id="Rb02d2ff119da4a73"/>
    <p:sldId xmlns:r="http://schemas.openxmlformats.org/officeDocument/2006/relationships" id="266" r:id="R63c52a3696c34145"/>
    <p:sldId xmlns:r="http://schemas.openxmlformats.org/officeDocument/2006/relationships" id="267" r:id="R685869b53e804b07"/>
    <p:sldId xmlns:r="http://schemas.openxmlformats.org/officeDocument/2006/relationships" id="268" r:id="R7b9cebd451d64b8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8da253ae72f43e3" /><Relationship Type="http://schemas.openxmlformats.org/officeDocument/2006/relationships/slideMaster" Target="/ppt/slideMasters/slideMaster1.xml" Id="R437bae086ffd4702" /><Relationship Type="http://schemas.openxmlformats.org/officeDocument/2006/relationships/notesMaster" Target="/ppt/notesMasters/notesMaster1.xml" Id="Re6ab03835349410e" /><Relationship Type="http://schemas.openxmlformats.org/officeDocument/2006/relationships/presProps" Target="/ppt/presProps.xml" Id="R26b191015474428e" /><Relationship Type="http://schemas.openxmlformats.org/officeDocument/2006/relationships/tableStyles" Target="/ppt/tableStyles.xml" Id="Rda34869b2d4645d6" /><Relationship Type="http://schemas.openxmlformats.org/officeDocument/2006/relationships/slide" Target="/ppt/slides/slide1.xml" Id="Reff35045baa548f2" /><Relationship Type="http://schemas.openxmlformats.org/officeDocument/2006/relationships/slide" Target="/ppt/slides/slide2.xml" Id="R41a3f0e9b099450c" /><Relationship Type="http://schemas.openxmlformats.org/officeDocument/2006/relationships/slide" Target="/ppt/slides/slide3.xml" Id="Reafb79ee17fe4163" /><Relationship Type="http://schemas.openxmlformats.org/officeDocument/2006/relationships/slide" Target="/ppt/slides/slide4.xml" Id="R6e0341ddb9234a2a" /><Relationship Type="http://schemas.openxmlformats.org/officeDocument/2006/relationships/slide" Target="/ppt/slides/slide5.xml" Id="Ra498995667484a2b" /><Relationship Type="http://schemas.openxmlformats.org/officeDocument/2006/relationships/slide" Target="/ppt/slides/slide6.xml" Id="Rac7c50a64894432a" /><Relationship Type="http://schemas.openxmlformats.org/officeDocument/2006/relationships/slide" Target="/ppt/slides/slide7.xml" Id="Rf4718f4e0cbd4ce8" /><Relationship Type="http://schemas.openxmlformats.org/officeDocument/2006/relationships/slide" Target="/ppt/slides/slide8.xml" Id="R6f44caa97154421e" /><Relationship Type="http://schemas.openxmlformats.org/officeDocument/2006/relationships/slide" Target="/ppt/slides/slide9.xml" Id="Re8fe01cf3a1c486d" /><Relationship Type="http://schemas.openxmlformats.org/officeDocument/2006/relationships/slide" Target="/ppt/slides/slide10.xml" Id="Rb02d2ff119da4a73" /><Relationship Type="http://schemas.openxmlformats.org/officeDocument/2006/relationships/slide" Target="/ppt/slides/slide11.xml" Id="R63c52a3696c34145" /><Relationship Type="http://schemas.openxmlformats.org/officeDocument/2006/relationships/slide" Target="/ppt/slides/slide12.xml" Id="R685869b53e804b07" /><Relationship Type="http://schemas.openxmlformats.org/officeDocument/2006/relationships/slide" Target="/ppt/slides/slide13.xml" Id="R7b9cebd451d64b8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013a045e1cc484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Inventory Image Tagging">
  <a:themeElements>
    <a:clrScheme name="Inventory Image Tagging">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Inventory Image Tagging">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40cb48297094769" /><Relationship Type="http://schemas.openxmlformats.org/officeDocument/2006/relationships/notesMaster" Target="/ppt/notesMasters/notesMaster1.xml" Id="R79c541f5fc93435b" /></Relationships>
</file>

<file path=ppt/notesSlides/_rels/notesSlide2.xml.rels>&#65279;<?xml version="1.0" encoding="utf-8"?><Relationships xmlns="http://schemas.openxmlformats.org/package/2006/relationships"><Relationship Type="http://schemas.openxmlformats.org/officeDocument/2006/relationships/slide" Target="/ppt/slides/slide2.xml" Id="R4d220fc141964b6a" /><Relationship Type="http://schemas.openxmlformats.org/officeDocument/2006/relationships/notesMaster" Target="/ppt/notesMasters/notesMaster1.xml" Id="R074d837a69444afb" /></Relationships>
</file>

<file path=ppt/notesSlides/_rels/notesSlide3.xml.rels>&#65279;<?xml version="1.0" encoding="utf-8"?><Relationships xmlns="http://schemas.openxmlformats.org/package/2006/relationships"><Relationship Type="http://schemas.openxmlformats.org/officeDocument/2006/relationships/slide" Target="/ppt/slides/slide3.xml" Id="Re22e3128448d49f4" /><Relationship Type="http://schemas.openxmlformats.org/officeDocument/2006/relationships/notesMaster" Target="/ppt/notesMasters/notesMaster1.xml" Id="R4add451599c843a3" /></Relationships>
</file>

<file path=ppt/notesSlides/_rels/notesSlide4.xml.rels>&#65279;<?xml version="1.0" encoding="utf-8"?><Relationships xmlns="http://schemas.openxmlformats.org/package/2006/relationships"><Relationship Type="http://schemas.openxmlformats.org/officeDocument/2006/relationships/slide" Target="/ppt/slides/slide4.xml" Id="Rda7a5abeeaa24cff" /><Relationship Type="http://schemas.openxmlformats.org/officeDocument/2006/relationships/notesMaster" Target="/ppt/notesMasters/notesMaster1.xml" Id="Re53bfe176c2740de" /></Relationships>
</file>

<file path=ppt/notesSlides/_rels/notesSlide5.xml.rels>&#65279;<?xml version="1.0" encoding="utf-8"?><Relationships xmlns="http://schemas.openxmlformats.org/package/2006/relationships"><Relationship Type="http://schemas.openxmlformats.org/officeDocument/2006/relationships/slide" Target="/ppt/slides/slide5.xml" Id="R1ca226ca199d4d5e" /><Relationship Type="http://schemas.openxmlformats.org/officeDocument/2006/relationships/notesMaster" Target="/ppt/notesMasters/notesMaster1.xml" Id="R5ebbf95f1c01467d" /></Relationships>
</file>

<file path=ppt/notesSlides/_rels/notesSlide6.xml.rels>&#65279;<?xml version="1.0" encoding="utf-8"?><Relationships xmlns="http://schemas.openxmlformats.org/package/2006/relationships"><Relationship Type="http://schemas.openxmlformats.org/officeDocument/2006/relationships/slide" Target="/ppt/slides/slide6.xml" Id="R42de231f73744d7d" /><Relationship Type="http://schemas.openxmlformats.org/officeDocument/2006/relationships/notesMaster" Target="/ppt/notesMasters/notesMaster1.xml" Id="R32414fdf44474bc7" /></Relationships>
</file>

<file path=ppt/notesSlides/_rels/notesSlide7.xml.rels>&#65279;<?xml version="1.0" encoding="utf-8"?><Relationships xmlns="http://schemas.openxmlformats.org/package/2006/relationships"><Relationship Type="http://schemas.openxmlformats.org/officeDocument/2006/relationships/slide" Target="/ppt/slides/slide7.xml" Id="R7129b343b4b3439c" /><Relationship Type="http://schemas.openxmlformats.org/officeDocument/2006/relationships/notesMaster" Target="/ppt/notesMasters/notesMaster1.xml" Id="R9b76e0bb1011480d" /></Relationships>
</file>

<file path=ppt/notesSlides/_rels/notesSlide8.xml.rels>&#65279;<?xml version="1.0" encoding="utf-8"?><Relationships xmlns="http://schemas.openxmlformats.org/package/2006/relationships"><Relationship Type="http://schemas.openxmlformats.org/officeDocument/2006/relationships/slide" Target="/ppt/slides/slide8.xml" Id="R945efdaa6d834af9" /><Relationship Type="http://schemas.openxmlformats.org/officeDocument/2006/relationships/notesMaster" Target="/ppt/notesMasters/notesMaster1.xml" Id="Rca4d7afc2dcd4d62" /></Relationships>
</file>

<file path=ppt/notesSlides/_rels/notesSlide9.xml.rels>&#65279;<?xml version="1.0" encoding="utf-8"?><Relationships xmlns="http://schemas.openxmlformats.org/package/2006/relationships"><Relationship Type="http://schemas.openxmlformats.org/officeDocument/2006/relationships/slide" Target="/ppt/slides/slide9.xml" Id="Rbd3d01297fbe48c2" /><Relationship Type="http://schemas.openxmlformats.org/officeDocument/2006/relationships/notesMaster" Target="/ppt/notesMasters/notesMaster1.xml" Id="R4a3d525d5e9741c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c35a9b97b524995" /><Relationship Type="http://schemas.openxmlformats.org/officeDocument/2006/relationships/notesMaster" Target="/ppt/notesMasters/notesMaster1.xml" Id="R61112dec472b42e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07c7de4484b4a17" /><Relationship Type="http://schemas.openxmlformats.org/officeDocument/2006/relationships/notesMaster" Target="/ppt/notesMasters/notesMaster1.xml" Id="R624d06d7e3ec4e2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70d513d42a54784" /><Relationship Type="http://schemas.openxmlformats.org/officeDocument/2006/relationships/notesMaster" Target="/ppt/notesMasters/notesMaster1.xml" Id="R4db2d2e03f0640e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552522ff7ff4615" /><Relationship Type="http://schemas.openxmlformats.org/officeDocument/2006/relationships/notesMaster" Target="/ppt/notesMasters/notesMaster1.xml" Id="Re9b3762d58504d8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compare classical classifiers for clothing category prediction. Every model uses the same 48,000 training images. Team details: docs/team.md. Course section and formal affiliation still need to be added.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predict one category for one image. Identifying individual products, detecting several objects and counting stock are outside this experiment. We compare pixels and HOG within each classifier family, then inspect the errors and costs. Source: course Project Ideas p.12.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Fashion-MNIST has 60,000 official training images and 10,000 official test images. We split only the official training set, keeping equal class proportions. We save the indices for every model to reuse. Hashing checks exact duplicates, but similar images or repeated products may remain. Sources: https://arxiv.org/abs/1708.07747 and reports/data_audit.json.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examples show the small grayscale images the models receive. We sample them from the training partition using a fixed seed. Test errors played no part in choosing them. Source: reports/figures/training_samples.png.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Flattening keeps every pixel value, so reshaping recovers the image. HOG summarizes edge directions within cells, then normalizes nearby cells in blocks. Its rules are fixed and use no category labels. HOG uses nine direction bins and 2x2-cell blocks. Sources: features.py and https://scikit-image.org/docs/stable/auto_examples/features_detection/plot_hog.html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train each of four classifier families on pixels and HOG. Logistic Regression uses StandardScaler fitted only on training features. Linear SVM uses normalized features directly, with tolerance 1e-3 and max_iter 2,000. The forest settings pair 200 trees with depth 25, and 400 trees with unrestricted depth. Sources: models.py and train.py.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of the eight combinations tries two settings. We reject candidates with convergence warnings. Validation macro F1 selects the retained candidate, with accuracy breaking ties. We select the overall model using the same validation rule, then freeze choices and file hashes before opening the test set. Sources: reports/training/*_trials.json and reports/frozen.json.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test scores for the eight retained core models. Validation selected the settings before this evaluation. Among the core models, validation selected Pixels + RF, which achieves 87.61% test accuracy. Source: reports/test/results.csv.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Validation selects pixel Random Forest from the eight combinations. It uses 400 trees with unrestricted depth. All result values shown come from reports/test/results.csv. Confusion rows are true categories and columns are model predictions. The model choice was saved before final test evaluation.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 is the proportion of a true category that the selected model identifies correctly. Each test category has 1,000 images. Values shown are read from the selected model rows in reports/test/per_class.csv.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counts show the direction of each mistake. A Shirt predicted as T-shirt/top differs from the reverse error. We sample upper-body mistakes with a fixed seed for inspection. The examples do not represent all failures. Similar shapes and textures may contribute, but these images cannot establish the cause. Sources: reports/test/upper_body_confusions.csv and error_examples.csv.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use the same CPU with two threads and warm each model before timing. There are 20 single-image repetitions, plus five repetitions over 1,024 images in batches of 128. Timing includes HOG, scaling and prediction, while excluding file decoding and model loading. Batch throughput is a separate measure. Sources: reports/test/results.csv and timing_repeats.csv.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use one split and a limited search. The public test benchmark also appeared in the supplied reference. We have not tested phone photos, new categories, near-duplicates, splits by product identity or calibration. Phase 2 should reuse the saved split for a CNN with two or three blocks, pooling and dropout. Validation should control early stopping. We will test architecture and regularization choices separately before comparing errors. Sources: report limitations and course Project 11 description.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a43b4de4e5c450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cdaaf1affac463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a9a0a9337ea4b9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938e57a51ee43e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308597f3e4a478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e6e17df3d5a4ea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222985D-AECB-4484-8204-98A50B6146F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D9BC63A-3391-45A3-A12D-F742BB30131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F0234AA-60CF-4F6A-A6EF-E99302D3AE3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E2DE53A-4A6A-4989-AB4B-813DE982DB5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6D54662-980D-483B-BFD0-96456BBABC1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139B9F9-95F3-4752-9F40-AEAB9090893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79E453-B089-4A2A-80AF-D2A15E8B1B4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E46A08A-4F23-4B53-B8C5-601E754EE02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7DD8350-3B8E-4D00-A94A-D11AAACD2D8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BE6B30C-9075-4BA7-8161-7955519DE58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1852630875945c9" /><Relationship Type="http://schemas.openxmlformats.org/officeDocument/2006/relationships/slideLayout" Target="/ppt/slideLayouts/slideLayout1.xml" Id="R02d06c4c88c840ca" /><Relationship Type="http://schemas.openxmlformats.org/officeDocument/2006/relationships/slideLayout" Target="/ppt/slideLayouts/slideLayout2.xml" Id="Rcc6b7e6a56ca4865" /><Relationship Type="http://schemas.openxmlformats.org/officeDocument/2006/relationships/slideLayout" Target="/ppt/slideLayouts/slideLayout3.xml" Id="Rf7cef8956ac84d44" /><Relationship Type="http://schemas.openxmlformats.org/officeDocument/2006/relationships/slideLayout" Target="/ppt/slideLayouts/slideLayout4.xml" Id="R6d14ba20aba44f3b" /><Relationship Type="http://schemas.openxmlformats.org/officeDocument/2006/relationships/slideLayout" Target="/ppt/slideLayouts/slideLayout5.xml" Id="R7d8b8f4abc5040e2" /><Relationship Type="http://schemas.openxmlformats.org/officeDocument/2006/relationships/slideLayout" Target="/ppt/slideLayouts/slideLayout6.xml" Id="Rcddfdc2b16fd4c3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2d06c4c88c840ca"/>
    <p:sldLayoutId xmlns:r="http://schemas.openxmlformats.org/officeDocument/2006/relationships" id="2147483650" r:id="Rcc6b7e6a56ca4865"/>
    <p:sldLayoutId xmlns:r="http://schemas.openxmlformats.org/officeDocument/2006/relationships" id="2147483651" r:id="Rf7cef8956ac84d44"/>
    <p:sldLayoutId xmlns:r="http://schemas.openxmlformats.org/officeDocument/2006/relationships" id="2147483652" r:id="R6d14ba20aba44f3b"/>
    <p:sldLayoutId xmlns:r="http://schemas.openxmlformats.org/officeDocument/2006/relationships" id="2147483653" r:id="R7d8b8f4abc5040e2"/>
    <p:sldLayoutId xmlns:r="http://schemas.openxmlformats.org/officeDocument/2006/relationships" id="2147483654" r:id="Rcddfdc2b16fd4c3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Inventory Image Tagging">
  <a:themeElements>
    <a:clrScheme name="Inventory Image Tagging">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Inventory Image Tagging">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de52cd0903143dc" /><Relationship Type="http://schemas.openxmlformats.org/officeDocument/2006/relationships/notesSlide" Target="/ppt/notesSlides/notesSlide1.xml" Id="R05419e42dc45414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120d1152fd84936" /><Relationship Type="http://schemas.openxmlformats.org/officeDocument/2006/relationships/notesSlide" Target="/ppt/notesSlides/notesSlide2.xml" Id="Rf99dbb2d7c6f475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732d12eaa7d4b83" /><Relationship Type="http://schemas.openxmlformats.org/officeDocument/2006/relationships/notesSlide" Target="/ppt/notesSlides/notesSlide3.xml" Id="R026ad08db1cd439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6c3dfe884434f85" /><Relationship Type="http://schemas.openxmlformats.org/officeDocument/2006/relationships/image" Target="/ppt/media/image.png" Id="R1ded62c9db224209" /><Relationship Type="http://schemas.openxmlformats.org/officeDocument/2006/relationships/notesSlide" Target="/ppt/notesSlides/notesSlide4.xml" Id="R4219b3cd51e3444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8abf8e35db14241" /><Relationship Type="http://schemas.openxmlformats.org/officeDocument/2006/relationships/image" Target="/ppt/media/image2.png" Id="R914ba2b806fd4b44" /><Relationship Type="http://schemas.openxmlformats.org/officeDocument/2006/relationships/notesSlide" Target="/ppt/notesSlides/notesSlide5.xml" Id="R257fb492c2d64ed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625ead86691483c" /><Relationship Type="http://schemas.openxmlformats.org/officeDocument/2006/relationships/notesSlide" Target="/ppt/notesSlides/notesSlide6.xml" Id="R5f3fcd1c16dd4d3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9a1c8b000f44879" /><Relationship Type="http://schemas.openxmlformats.org/officeDocument/2006/relationships/notesSlide" Target="/ppt/notesSlides/notesSlide7.xml" Id="Rc945ae6d1f7f4ca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8422adc9e884d56" /><Relationship Type="http://schemas.openxmlformats.org/officeDocument/2006/relationships/notesSlide" Target="/ppt/notesSlides/notesSlide8.xml" Id="R3f673ccbfff54e5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df2ca67a8f148b0" /><Relationship Type="http://schemas.openxmlformats.org/officeDocument/2006/relationships/image" Target="/ppt/media/image3.png" Id="R3e1ca2b326bf481e" /><Relationship Type="http://schemas.openxmlformats.org/officeDocument/2006/relationships/notesSlide" Target="/ppt/notesSlides/notesSlide9.xml" Id="Re1c07cf1e2cb483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fe569cbe1e445fd" /><Relationship Type="http://schemas.openxmlformats.org/officeDocument/2006/relationships/chart" Target="/ppt/slides/charts/chart1.xml" Id="Ree6cdb4e28cf428f" /><Relationship Type="http://schemas.openxmlformats.org/officeDocument/2006/relationships/notesSlide" Target="/ppt/notesSlides/notesSlide10.xml" Id="Rdd8bd61e74ee46e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8c1b209448b4391" /><Relationship Type="http://schemas.openxmlformats.org/officeDocument/2006/relationships/image" Target="/ppt/media/image4.png" Id="R6490ce2091f04db0" /><Relationship Type="http://schemas.openxmlformats.org/officeDocument/2006/relationships/notesSlide" Target="/ppt/notesSlides/notesSlide11.xml" Id="R3fa88b8910c34fb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319762c6c7d4ab5" /><Relationship Type="http://schemas.openxmlformats.org/officeDocument/2006/relationships/notesSlide" Target="/ppt/notesSlides/notesSlide12.xml" Id="Rdc3ef9465237411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7dd22b6c92b4c97" /><Relationship Type="http://schemas.openxmlformats.org/officeDocument/2006/relationships/notesSlide" Target="/ppt/notesSlides/notesSlide13.xml" Id="R2140ac63664143a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Recall (%)</c:v>
          </c:tx>
          <c:spPr>
            <a:solidFill xmlns:a="http://schemas.openxmlformats.org/drawingml/2006/main">
              <a:srgbClr val="147D92"/>
            </a:solidFill>
          </c:spPr>
          <c:invertIfNegative val="0"/>
          <c:cat>
            <c:strRef>
              <c:f>'Chart Data'!$A$2:$A$11</c:f>
              <c:strCache>
                <c:ptCount val="10"/>
                <c:pt idx="0">
                  <c:v>T-shirt/top</c:v>
                </c:pt>
                <c:pt idx="1">
                  <c:v>Trouser</c:v>
                </c:pt>
                <c:pt idx="2">
                  <c:v>Pullover</c:v>
                </c:pt>
                <c:pt idx="3">
                  <c:v>Dress</c:v>
                </c:pt>
                <c:pt idx="4">
                  <c:v>Coat</c:v>
                </c:pt>
                <c:pt idx="5">
                  <c:v>Sandal</c:v>
                </c:pt>
                <c:pt idx="6">
                  <c:v>Shirt</c:v>
                </c:pt>
                <c:pt idx="7">
                  <c:v>Sneaker</c:v>
                </c:pt>
                <c:pt idx="8">
                  <c:v>Bag</c:v>
                </c:pt>
                <c:pt idx="9">
                  <c:v>Ankle boot</c:v>
                </c:pt>
              </c:strCache>
            </c:strRef>
          </c:cat>
          <c:val>
            <c:numRef>
              <c:f>'Chart Data'!$B$2:$B$11</c:f>
              <c:numCache>
                <c:formatCode>General</c:formatCode>
                <c:ptCount val="10"/>
                <c:pt idx="0">
                  <c:v>85.2</c:v>
                </c:pt>
                <c:pt idx="1">
                  <c:v>95.9</c:v>
                </c:pt>
                <c:pt idx="2">
                  <c:v>80.2</c:v>
                </c:pt>
                <c:pt idx="3">
                  <c:v>91</c:v>
                </c:pt>
                <c:pt idx="4">
                  <c:v>82.2</c:v>
                </c:pt>
                <c:pt idx="5">
                  <c:v>95.4</c:v>
                </c:pt>
                <c:pt idx="6">
                  <c:v>59.2</c:v>
                </c:pt>
                <c:pt idx="7">
                  <c:v>94.7</c:v>
                </c:pt>
                <c:pt idx="8">
                  <c:v>97.5</c:v>
                </c:pt>
                <c:pt idx="9">
                  <c:v>94.8</c:v>
                </c:pt>
              </c:numCache>
            </c:numRef>
          </c: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Helvetica Neue"/>
                <a:ea typeface="Helvetica Neue"/>
                <a:cs typeface="Helvetica Neue"/>
              </a:defRPr>
            </a:pPr>
          </a:p>
        </c:txPr>
        <c:crossAx val="48672768"/>
      </c:catAx>
      <c:valAx>
        <c:axId val="48672768"/>
        <c:scaling>
          <c:orientation val="minMax"/>
          <c:max val="100"/>
          <c:min val="0"/>
        </c:scaling>
        <c:delete val="0"/>
        <c:axPos val="l"/>
        <c:title>
          <c:tx>
            <c:rich>
              <a:bodyPr xmlns:a="http://schemas.openxmlformats.org/drawingml/2006/main"/>
              <a:lstStyle xmlns:a="http://schemas.openxmlformats.org/drawingml/2006/main"/>
              <a:p xmlns:a="http://schemas.openxmlformats.org/drawingml/2006/main">
                <a:r>
                  <a:rPr sz="1500">
                    <a:latin typeface="Helvetica Neue"/>
                    <a:ea typeface="Helvetica Neue"/>
                    <a:cs typeface="Helvetica Neue"/>
                  </a:rPr>
                  <a:t>Recall (%)</a:t>
                </a:r>
              </a:p>
            </c:rich>
          </c:tx>
          <c:overlay val="0"/>
          <c:txPr>
            <a:bodyPr xmlns:a="http://schemas.openxmlformats.org/drawingml/2006/main" anchorCtr="1"/>
            <a:lstStyle xmlns:a="http://schemas.openxmlformats.org/drawingml/2006/main"/>
            <a:p xmlns:a="http://schemas.openxmlformats.org/drawingml/2006/main">
              <a:pPr>
                <a:defRPr sz="1500">
                  <a:latin typeface="Helvetica Neue"/>
                  <a:ea typeface="Helvetica Neue"/>
                  <a:cs typeface="Helvetica Neue"/>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Helvetica Neue"/>
                <a:ea typeface="Helvetica Neue"/>
                <a:cs typeface="Helvetica Neue"/>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0574747-AABD-4D91-8BD3-32512D76C0F0}"/>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Inventory Image Tagging</a:t>
            </a:r>
          </a:p>
        </p:txBody>
      </p:sp>
      <p:sp>
        <p:nvSpPr>
          <p:cNvPr id="2" name="">
            <a:extLst xmlns:a="http://schemas.openxmlformats.org/drawingml/2006/main">
              <a:ext uri="{FF2B5EF4-FFF2-40B4-BE49-F238E27FC236}">
                <a16:creationId xmlns:a16="http://schemas.microsoft.com/office/drawing/2014/main" id="{76000A23-3CE8-4F1B-9173-4BCF0F115229}"/>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B0017F95-71CA-4F2A-8923-57D58C7770C8}"/>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01</a:t>
            </a:r>
          </a:p>
        </p:txBody>
      </p:sp>
      <p:sp>
        <p:nvSpPr>
          <p:cNvPr id="4" name="">
            <a:extLst xmlns:a="http://schemas.openxmlformats.org/drawingml/2006/main">
              <a:ext uri="{FF2B5EF4-FFF2-40B4-BE49-F238E27FC236}">
                <a16:creationId xmlns:a16="http://schemas.microsoft.com/office/drawing/2014/main" id="{E580A82F-C5C0-44AD-A78D-1055356553B1}"/>
              </a:ext>
            </a:extLst>
          </p:cNvPr>
          <p:cNvSpPr>
            <a:spLocks xmlns:a="http://schemas.openxmlformats.org/drawingml/2006/main" noGrp="1"/>
          </p:cNvSpPr>
          <p:nvPr/>
        </p:nvSpPr>
        <p:spPr>
          <a:xfrm xmlns:a="http://schemas.openxmlformats.org/drawingml/2006/main">
            <a:off x="714375" y="1905000"/>
            <a:ext cx="10668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1">
                <a:solidFill>
                  <a:srgbClr val="185B70"/>
                </a:solidFill>
                <a:latin typeface="Helvetica Neue"/>
                <a:ea typeface="Helvetica Neue"/>
                <a:cs typeface="Helvetica Neue"/>
              </a:defRPr>
            </a:defPPr>
            <a:lvl1pPr>
              <a:defRPr sz="4200" b="1">
                <a:solidFill>
                  <a:srgbClr val="185B70"/>
                </a:solidFill>
                <a:latin typeface="Helvetica Neue"/>
                <a:ea typeface="Helvetica Neue"/>
                <a:cs typeface="Helvetica Neue"/>
              </a:defRPr>
            </a:lvl1pPr>
            <a:lvl2pPr>
              <a:defRPr sz="4200" b="1">
                <a:solidFill>
                  <a:srgbClr val="185B70"/>
                </a:solidFill>
                <a:latin typeface="Helvetica Neue"/>
                <a:ea typeface="Helvetica Neue"/>
                <a:cs typeface="Helvetica Neue"/>
              </a:defRPr>
            </a:lvl2pPr>
            <a:lvl3pPr>
              <a:defRPr sz="4200" b="1">
                <a:solidFill>
                  <a:srgbClr val="185B70"/>
                </a:solidFill>
                <a:latin typeface="Helvetica Neue"/>
                <a:ea typeface="Helvetica Neue"/>
                <a:cs typeface="Helvetica Neue"/>
              </a:defRPr>
            </a:lvl3pPr>
            <a:lvl4pPr>
              <a:defRPr sz="4200" b="1">
                <a:solidFill>
                  <a:srgbClr val="185B70"/>
                </a:solidFill>
                <a:latin typeface="Helvetica Neue"/>
                <a:ea typeface="Helvetica Neue"/>
                <a:cs typeface="Helvetica Neue"/>
              </a:defRPr>
            </a:lvl4pPr>
            <a:lvl5pPr>
              <a:defRPr sz="4200" b="1">
                <a:solidFill>
                  <a:srgbClr val="185B70"/>
                </a:solidFill>
                <a:latin typeface="Helvetica Neue"/>
                <a:ea typeface="Helvetica Neue"/>
                <a:cs typeface="Helvetica Neue"/>
              </a:defRPr>
            </a:lvl5pPr>
            <a:lvl6pPr>
              <a:defRPr sz="4200" b="1">
                <a:solidFill>
                  <a:srgbClr val="185B70"/>
                </a:solidFill>
                <a:latin typeface="Helvetica Neue"/>
                <a:ea typeface="Helvetica Neue"/>
                <a:cs typeface="Helvetica Neue"/>
              </a:defRPr>
            </a:lvl6pPr>
            <a:lvl7pPr>
              <a:defRPr sz="4200" b="1">
                <a:solidFill>
                  <a:srgbClr val="185B70"/>
                </a:solidFill>
                <a:latin typeface="Helvetica Neue"/>
                <a:ea typeface="Helvetica Neue"/>
                <a:cs typeface="Helvetica Neue"/>
              </a:defRPr>
            </a:lvl7pPr>
            <a:lvl8pPr>
              <a:defRPr sz="4200" b="1">
                <a:solidFill>
                  <a:srgbClr val="185B70"/>
                </a:solidFill>
                <a:latin typeface="Helvetica Neue"/>
                <a:ea typeface="Helvetica Neue"/>
                <a:cs typeface="Helvetica Neue"/>
              </a:defRPr>
            </a:lvl8pPr>
            <a:lvl9pPr>
              <a:defRPr sz="4200" b="1">
                <a:solidFill>
                  <a:srgbClr val="185B70"/>
                </a:solidFill>
                <a:latin typeface="Helvetica Neue"/>
                <a:ea typeface="Helvetica Neue"/>
                <a:cs typeface="Helvetica Neue"/>
              </a:defRPr>
            </a:lvl9pPr>
          </a:lstStyle>
          <a:p xmlns:a="http://schemas.openxmlformats.org/drawingml/2006/main">
            <a:pPr>
              <a:defRPr sz="4200" b="1">
                <a:solidFill>
                  <a:srgbClr val="185B70"/>
                </a:solidFill>
                <a:latin typeface="Helvetica Neue"/>
                <a:ea typeface="Helvetica Neue"/>
                <a:cs typeface="Helvetica Neue"/>
              </a:defRPr>
            </a:pPr>
            <a:r>
              <a:rPr sz="4200" b="1">
                <a:solidFill>
                  <a:srgbClr val="185B70"/>
                </a:solidFill>
                <a:latin typeface="Helvetica Neue"/>
                <a:ea typeface="Helvetica Neue"/>
                <a:cs typeface="Helvetica Neue"/>
              </a:rPr>
              <a:t>Handcrafted visual features</a:t>
            </a:r>
          </a:p>
          <a:p xmlns:a="http://schemas.openxmlformats.org/drawingml/2006/main">
            <a:pPr>
              <a:defRPr sz="4200" b="1">
                <a:solidFill>
                  <a:srgbClr val="185B70"/>
                </a:solidFill>
                <a:latin typeface="Helvetica Neue"/>
                <a:ea typeface="Helvetica Neue"/>
                <a:cs typeface="Helvetica Neue"/>
              </a:defRPr>
            </a:pPr>
            <a:r>
              <a:rPr sz="4200" b="1">
                <a:solidFill>
                  <a:srgbClr val="185B70"/>
                </a:solidFill>
                <a:latin typeface="Helvetica Neue"/>
                <a:ea typeface="Helvetica Neue"/>
                <a:cs typeface="Helvetica Neue"/>
              </a:rPr>
              <a:t>and classical classifiers</a:t>
            </a:r>
          </a:p>
        </p:txBody>
      </p:sp>
      <p:sp>
        <p:nvSpPr>
          <p:cNvPr id="5" name="">
            <a:extLst xmlns:a="http://schemas.openxmlformats.org/drawingml/2006/main">
              <a:ext uri="{FF2B5EF4-FFF2-40B4-BE49-F238E27FC236}">
                <a16:creationId xmlns:a16="http://schemas.microsoft.com/office/drawing/2014/main" id="{56537D15-7FA6-4367-9460-E4B9B0B9015D}"/>
              </a:ext>
            </a:extLst>
          </p:cNvPr>
          <p:cNvSpPr>
            <a:spLocks xmlns:a="http://schemas.openxmlformats.org/drawingml/2006/main" noGrp="1"/>
          </p:cNvSpPr>
          <p:nvPr/>
        </p:nvSpPr>
        <p:spPr>
          <a:xfrm xmlns:a="http://schemas.openxmlformats.org/drawingml/2006/main">
            <a:off x="742950" y="40957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20333F"/>
                </a:solidFill>
                <a:latin typeface="Helvetica Neue"/>
                <a:ea typeface="Helvetica Neue"/>
                <a:cs typeface="Helvetica Neue"/>
              </a:defRPr>
            </a:defPPr>
            <a:lvl1pPr>
              <a:defRPr sz="2325" b="0">
                <a:solidFill>
                  <a:srgbClr val="20333F"/>
                </a:solidFill>
                <a:latin typeface="Helvetica Neue"/>
                <a:ea typeface="Helvetica Neue"/>
                <a:cs typeface="Helvetica Neue"/>
              </a:defRPr>
            </a:lvl1pPr>
            <a:lvl2pPr>
              <a:defRPr sz="2325" b="0">
                <a:solidFill>
                  <a:srgbClr val="20333F"/>
                </a:solidFill>
                <a:latin typeface="Helvetica Neue"/>
                <a:ea typeface="Helvetica Neue"/>
                <a:cs typeface="Helvetica Neue"/>
              </a:defRPr>
            </a:lvl2pPr>
            <a:lvl3pPr>
              <a:defRPr sz="2325" b="0">
                <a:solidFill>
                  <a:srgbClr val="20333F"/>
                </a:solidFill>
                <a:latin typeface="Helvetica Neue"/>
                <a:ea typeface="Helvetica Neue"/>
                <a:cs typeface="Helvetica Neue"/>
              </a:defRPr>
            </a:lvl3pPr>
            <a:lvl4pPr>
              <a:defRPr sz="2325" b="0">
                <a:solidFill>
                  <a:srgbClr val="20333F"/>
                </a:solidFill>
                <a:latin typeface="Helvetica Neue"/>
                <a:ea typeface="Helvetica Neue"/>
                <a:cs typeface="Helvetica Neue"/>
              </a:defRPr>
            </a:lvl4pPr>
            <a:lvl5pPr>
              <a:defRPr sz="2325" b="0">
                <a:solidFill>
                  <a:srgbClr val="20333F"/>
                </a:solidFill>
                <a:latin typeface="Helvetica Neue"/>
                <a:ea typeface="Helvetica Neue"/>
                <a:cs typeface="Helvetica Neue"/>
              </a:defRPr>
            </a:lvl5pPr>
            <a:lvl6pPr>
              <a:defRPr sz="2325" b="0">
                <a:solidFill>
                  <a:srgbClr val="20333F"/>
                </a:solidFill>
                <a:latin typeface="Helvetica Neue"/>
                <a:ea typeface="Helvetica Neue"/>
                <a:cs typeface="Helvetica Neue"/>
              </a:defRPr>
            </a:lvl6pPr>
            <a:lvl7pPr>
              <a:defRPr sz="2325" b="0">
                <a:solidFill>
                  <a:srgbClr val="20333F"/>
                </a:solidFill>
                <a:latin typeface="Helvetica Neue"/>
                <a:ea typeface="Helvetica Neue"/>
                <a:cs typeface="Helvetica Neue"/>
              </a:defRPr>
            </a:lvl7pPr>
            <a:lvl8pPr>
              <a:defRPr sz="2325" b="0">
                <a:solidFill>
                  <a:srgbClr val="20333F"/>
                </a:solidFill>
                <a:latin typeface="Helvetica Neue"/>
                <a:ea typeface="Helvetica Neue"/>
                <a:cs typeface="Helvetica Neue"/>
              </a:defRPr>
            </a:lvl8pPr>
            <a:lvl9pPr>
              <a:defRPr sz="2325" b="0">
                <a:solidFill>
                  <a:srgbClr val="20333F"/>
                </a:solidFill>
                <a:latin typeface="Helvetica Neue"/>
                <a:ea typeface="Helvetica Neue"/>
                <a:cs typeface="Helvetica Neue"/>
              </a:defRPr>
            </a:lvl9pPr>
          </a:lstStyle>
          <a:p xmlns:a="http://schemas.openxmlformats.org/drawingml/2006/main">
            <a:pPr>
              <a:defRPr sz="2325" b="0">
                <a:solidFill>
                  <a:srgbClr val="20333F"/>
                </a:solidFill>
                <a:latin typeface="Helvetica Neue"/>
                <a:ea typeface="Helvetica Neue"/>
                <a:cs typeface="Helvetica Neue"/>
              </a:defRPr>
            </a:pPr>
            <a:r>
              <a:rPr sz="2325" b="0">
                <a:solidFill>
                  <a:srgbClr val="20333F"/>
                </a:solidFill>
                <a:latin typeface="Helvetica Neue"/>
                <a:ea typeface="Helvetica Neue"/>
                <a:cs typeface="Helvetica Neue"/>
              </a:rPr>
              <a:t>Fashion-MNIST, ten clothing categories</a:t>
            </a:r>
          </a:p>
        </p:txBody>
      </p:sp>
      <p:sp>
        <p:nvSpPr>
          <p:cNvPr id="6" name="">
            <a:extLst xmlns:a="http://schemas.openxmlformats.org/drawingml/2006/main">
              <a:ext uri="{FF2B5EF4-FFF2-40B4-BE49-F238E27FC236}">
                <a16:creationId xmlns:a16="http://schemas.microsoft.com/office/drawing/2014/main" id="{2D647A47-B3EC-47DF-9CDD-AD0B6F86B88A}"/>
              </a:ext>
            </a:extLst>
          </p:cNvPr>
          <p:cNvSpPr>
            <a:spLocks xmlns:a="http://schemas.openxmlformats.org/drawingml/2006/main" noGrp="1"/>
          </p:cNvSpPr>
          <p:nvPr/>
        </p:nvSpPr>
        <p:spPr>
          <a:xfrm xmlns:a="http://schemas.openxmlformats.org/drawingml/2006/main">
            <a:off x="742950" y="5048250"/>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607582"/>
                </a:solidFill>
                <a:latin typeface="Helvetica Neue"/>
                <a:ea typeface="Helvetica Neue"/>
                <a:cs typeface="Helvetica Neue"/>
              </a:defRPr>
            </a:defPPr>
            <a:lvl1pPr>
              <a:defRPr sz="2025" b="0">
                <a:solidFill>
                  <a:srgbClr val="607582"/>
                </a:solidFill>
                <a:latin typeface="Helvetica Neue"/>
                <a:ea typeface="Helvetica Neue"/>
                <a:cs typeface="Helvetica Neue"/>
              </a:defRPr>
            </a:lvl1pPr>
            <a:lvl2pPr>
              <a:defRPr sz="2025" b="0">
                <a:solidFill>
                  <a:srgbClr val="607582"/>
                </a:solidFill>
                <a:latin typeface="Helvetica Neue"/>
                <a:ea typeface="Helvetica Neue"/>
                <a:cs typeface="Helvetica Neue"/>
              </a:defRPr>
            </a:lvl2pPr>
            <a:lvl3pPr>
              <a:defRPr sz="2025" b="0">
                <a:solidFill>
                  <a:srgbClr val="607582"/>
                </a:solidFill>
                <a:latin typeface="Helvetica Neue"/>
                <a:ea typeface="Helvetica Neue"/>
                <a:cs typeface="Helvetica Neue"/>
              </a:defRPr>
            </a:lvl3pPr>
            <a:lvl4pPr>
              <a:defRPr sz="2025" b="0">
                <a:solidFill>
                  <a:srgbClr val="607582"/>
                </a:solidFill>
                <a:latin typeface="Helvetica Neue"/>
                <a:ea typeface="Helvetica Neue"/>
                <a:cs typeface="Helvetica Neue"/>
              </a:defRPr>
            </a:lvl4pPr>
            <a:lvl5pPr>
              <a:defRPr sz="2025" b="0">
                <a:solidFill>
                  <a:srgbClr val="607582"/>
                </a:solidFill>
                <a:latin typeface="Helvetica Neue"/>
                <a:ea typeface="Helvetica Neue"/>
                <a:cs typeface="Helvetica Neue"/>
              </a:defRPr>
            </a:lvl5pPr>
            <a:lvl6pPr>
              <a:defRPr sz="2025" b="0">
                <a:solidFill>
                  <a:srgbClr val="607582"/>
                </a:solidFill>
                <a:latin typeface="Helvetica Neue"/>
                <a:ea typeface="Helvetica Neue"/>
                <a:cs typeface="Helvetica Neue"/>
              </a:defRPr>
            </a:lvl6pPr>
            <a:lvl7pPr>
              <a:defRPr sz="2025" b="0">
                <a:solidFill>
                  <a:srgbClr val="607582"/>
                </a:solidFill>
                <a:latin typeface="Helvetica Neue"/>
                <a:ea typeface="Helvetica Neue"/>
                <a:cs typeface="Helvetica Neue"/>
              </a:defRPr>
            </a:lvl7pPr>
            <a:lvl8pPr>
              <a:defRPr sz="2025" b="0">
                <a:solidFill>
                  <a:srgbClr val="607582"/>
                </a:solidFill>
                <a:latin typeface="Helvetica Neue"/>
                <a:ea typeface="Helvetica Neue"/>
                <a:cs typeface="Helvetica Neue"/>
              </a:defRPr>
            </a:lvl8pPr>
            <a:lvl9pPr>
              <a:defRPr sz="2025" b="0">
                <a:solidFill>
                  <a:srgbClr val="607582"/>
                </a:solidFill>
                <a:latin typeface="Helvetica Neue"/>
                <a:ea typeface="Helvetica Neue"/>
                <a:cs typeface="Helvetica Neue"/>
              </a:defRPr>
            </a:lvl9pPr>
          </a:lstStyle>
          <a:p xmlns:a="http://schemas.openxmlformats.org/drawingml/2006/main">
            <a:pPr>
              <a:defRPr sz="2025" b="0">
                <a:solidFill>
                  <a:srgbClr val="607582"/>
                </a:solidFill>
                <a:latin typeface="Helvetica Neue"/>
                <a:ea typeface="Helvetica Neue"/>
                <a:cs typeface="Helvetica Neue"/>
              </a:defRPr>
            </a:pPr>
            <a:r>
              <a:rPr sz="2025" b="0">
                <a:solidFill>
                  <a:srgbClr val="607582"/>
                </a:solidFill>
                <a:latin typeface="Helvetica Neue"/>
                <a:ea typeface="Helvetica Neue"/>
                <a:cs typeface="Helvetica Neue"/>
              </a:rPr>
              <a:t>Aryan · Divyanshu Singh · Jatin Kumar Singh</a:t>
            </a:r>
          </a:p>
          <a:p xmlns:a="http://schemas.openxmlformats.org/drawingml/2006/main">
            <a:pPr>
              <a:defRPr sz="2025" b="0">
                <a:solidFill>
                  <a:srgbClr val="607582"/>
                </a:solidFill>
                <a:latin typeface="Helvetica Neue"/>
                <a:ea typeface="Helvetica Neue"/>
                <a:cs typeface="Helvetica Neue"/>
              </a:defRPr>
            </a:pPr>
            <a:r>
              <a:rPr sz="2025" b="0">
                <a:solidFill>
                  <a:srgbClr val="607582"/>
                </a:solidFill>
                <a:latin typeface="Helvetica Neue"/>
                <a:ea typeface="Helvetica Neue"/>
                <a:cs typeface="Helvetica Neue"/>
              </a:rPr>
              <a:t>Jatin Verma · Kushagra Bhardwaj</a:t>
            </a:r>
          </a:p>
        </p:txBody>
      </p:sp>
    </p:spTree>
    <p:extLst>
      <p:ext uri="{BB962C8B-B14F-4D97-AF65-F5344CB8AC3E}">
        <p14:creationId xmlns:p14="http://schemas.microsoft.com/office/powerpoint/2010/main" val="944690110"/>
      </p:ext>
    </p:extLst>
  </p:cSld>
</p:sld>
</file>

<file path=ppt/slides/slide2.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6FCCC4D-E47F-4FB7-BE96-4E4D64E04F70}"/>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Clothing category prediction</a:t>
            </a:r>
          </a:p>
        </p:txBody>
      </p:sp>
      <p:sp>
        <p:nvSpPr>
          <p:cNvPr id="2" name="">
            <a:extLst xmlns:a="http://schemas.openxmlformats.org/drawingml/2006/main">
              <a:ext uri="{FF2B5EF4-FFF2-40B4-BE49-F238E27FC236}">
                <a16:creationId xmlns:a16="http://schemas.microsoft.com/office/drawing/2014/main" id="{5BDE9F9C-F9AF-4ABE-A0F0-0E4FC6C0B52E}"/>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D4FFA1DC-CDEB-4172-9111-F50B51EAE095}"/>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1D141734-9955-4BD8-8F03-A16AD423ED2B}"/>
              </a:ext>
            </a:extLst>
          </p:cNvPr>
          <p:cNvSpPr>
            <a:spLocks xmlns:a="http://schemas.openxmlformats.org/drawingml/2006/main" noGrp="1"/>
          </p:cNvSpPr>
          <p:nvPr/>
        </p:nvSpPr>
        <p:spPr>
          <a:xfrm xmlns:a="http://schemas.openxmlformats.org/drawingml/2006/main">
            <a:off x="714375" y="1524000"/>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33F"/>
                </a:solidFill>
                <a:latin typeface="Helvetica Neue"/>
                <a:ea typeface="Helvetica Neue"/>
                <a:cs typeface="Helvetica Neue"/>
              </a:defRPr>
            </a:defPPr>
            <a:lvl1pPr>
              <a:defRPr sz="2250" b="0">
                <a:solidFill>
                  <a:srgbClr val="20333F"/>
                </a:solidFill>
                <a:latin typeface="Helvetica Neue"/>
                <a:ea typeface="Helvetica Neue"/>
                <a:cs typeface="Helvetica Neue"/>
              </a:defRPr>
            </a:lvl1pPr>
            <a:lvl2pPr>
              <a:defRPr sz="2250" b="0">
                <a:solidFill>
                  <a:srgbClr val="20333F"/>
                </a:solidFill>
                <a:latin typeface="Helvetica Neue"/>
                <a:ea typeface="Helvetica Neue"/>
                <a:cs typeface="Helvetica Neue"/>
              </a:defRPr>
            </a:lvl2pPr>
            <a:lvl3pPr>
              <a:defRPr sz="2250" b="0">
                <a:solidFill>
                  <a:srgbClr val="20333F"/>
                </a:solidFill>
                <a:latin typeface="Helvetica Neue"/>
                <a:ea typeface="Helvetica Neue"/>
                <a:cs typeface="Helvetica Neue"/>
              </a:defRPr>
            </a:lvl3pPr>
            <a:lvl4pPr>
              <a:defRPr sz="2250" b="0">
                <a:solidFill>
                  <a:srgbClr val="20333F"/>
                </a:solidFill>
                <a:latin typeface="Helvetica Neue"/>
                <a:ea typeface="Helvetica Neue"/>
                <a:cs typeface="Helvetica Neue"/>
              </a:defRPr>
            </a:lvl4pPr>
            <a:lvl5pPr>
              <a:defRPr sz="2250" b="0">
                <a:solidFill>
                  <a:srgbClr val="20333F"/>
                </a:solidFill>
                <a:latin typeface="Helvetica Neue"/>
                <a:ea typeface="Helvetica Neue"/>
                <a:cs typeface="Helvetica Neue"/>
              </a:defRPr>
            </a:lvl5pPr>
            <a:lvl6pPr>
              <a:defRPr sz="2250" b="0">
                <a:solidFill>
                  <a:srgbClr val="20333F"/>
                </a:solidFill>
                <a:latin typeface="Helvetica Neue"/>
                <a:ea typeface="Helvetica Neue"/>
                <a:cs typeface="Helvetica Neue"/>
              </a:defRPr>
            </a:lvl6pPr>
            <a:lvl7pPr>
              <a:defRPr sz="2250" b="0">
                <a:solidFill>
                  <a:srgbClr val="20333F"/>
                </a:solidFill>
                <a:latin typeface="Helvetica Neue"/>
                <a:ea typeface="Helvetica Neue"/>
                <a:cs typeface="Helvetica Neue"/>
              </a:defRPr>
            </a:lvl7pPr>
            <a:lvl8pPr>
              <a:defRPr sz="2250" b="0">
                <a:solidFill>
                  <a:srgbClr val="20333F"/>
                </a:solidFill>
                <a:latin typeface="Helvetica Neue"/>
                <a:ea typeface="Helvetica Neue"/>
                <a:cs typeface="Helvetica Neue"/>
              </a:defRPr>
            </a:lvl8pPr>
            <a:lvl9pPr>
              <a:defRPr sz="2250" b="0">
                <a:solidFill>
                  <a:srgbClr val="20333F"/>
                </a:solidFill>
                <a:latin typeface="Helvetica Neue"/>
                <a:ea typeface="Helvetica Neue"/>
                <a:cs typeface="Helvetica Neue"/>
              </a:defRPr>
            </a:lvl9pPr>
          </a:lstStyle>
          <a:p xmlns:a="http://schemas.openxmlformats.org/drawingml/2006/main">
            <a:pPr>
              <a:defRPr sz="2250" b="0">
                <a:solidFill>
                  <a:srgbClr val="20333F"/>
                </a:solidFill>
                <a:latin typeface="Helvetica Neue"/>
                <a:ea typeface="Helvetica Neue"/>
                <a:cs typeface="Helvetica Neue"/>
              </a:defRPr>
            </a:pPr>
            <a:r>
              <a:rPr sz="2250" b="0">
                <a:solidFill>
                  <a:srgbClr val="20333F"/>
                </a:solidFill>
                <a:latin typeface="Helvetica Neue"/>
                <a:ea typeface="Helvetica Neue"/>
                <a:cs typeface="Helvetica Neue"/>
              </a:rPr>
              <a:t>Input: one upright 28 × 28 grayscale clothing image</a:t>
            </a:r>
          </a:p>
        </p:txBody>
      </p:sp>
      <p:sp>
        <p:nvSpPr>
          <p:cNvPr id="5" name="">
            <a:extLst xmlns:a="http://schemas.openxmlformats.org/drawingml/2006/main">
              <a:ext uri="{FF2B5EF4-FFF2-40B4-BE49-F238E27FC236}">
                <a16:creationId xmlns:a16="http://schemas.microsoft.com/office/drawing/2014/main" id="{0CAE8EE5-FA2C-41BB-9BC7-395DE953A4BB}"/>
              </a:ext>
            </a:extLst>
          </p:cNvPr>
          <p:cNvSpPr>
            <a:spLocks xmlns:a="http://schemas.openxmlformats.org/drawingml/2006/main" noGrp="1"/>
          </p:cNvSpPr>
          <p:nvPr/>
        </p:nvSpPr>
        <p:spPr>
          <a:xfrm xmlns:a="http://schemas.openxmlformats.org/drawingml/2006/main">
            <a:off x="714375" y="2476500"/>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33F"/>
                </a:solidFill>
                <a:latin typeface="Helvetica Neue"/>
                <a:ea typeface="Helvetica Neue"/>
                <a:cs typeface="Helvetica Neue"/>
              </a:defRPr>
            </a:defPPr>
            <a:lvl1pPr>
              <a:defRPr sz="2250" b="0">
                <a:solidFill>
                  <a:srgbClr val="20333F"/>
                </a:solidFill>
                <a:latin typeface="Helvetica Neue"/>
                <a:ea typeface="Helvetica Neue"/>
                <a:cs typeface="Helvetica Neue"/>
              </a:defRPr>
            </a:lvl1pPr>
            <a:lvl2pPr>
              <a:defRPr sz="2250" b="0">
                <a:solidFill>
                  <a:srgbClr val="20333F"/>
                </a:solidFill>
                <a:latin typeface="Helvetica Neue"/>
                <a:ea typeface="Helvetica Neue"/>
                <a:cs typeface="Helvetica Neue"/>
              </a:defRPr>
            </a:lvl2pPr>
            <a:lvl3pPr>
              <a:defRPr sz="2250" b="0">
                <a:solidFill>
                  <a:srgbClr val="20333F"/>
                </a:solidFill>
                <a:latin typeface="Helvetica Neue"/>
                <a:ea typeface="Helvetica Neue"/>
                <a:cs typeface="Helvetica Neue"/>
              </a:defRPr>
            </a:lvl3pPr>
            <a:lvl4pPr>
              <a:defRPr sz="2250" b="0">
                <a:solidFill>
                  <a:srgbClr val="20333F"/>
                </a:solidFill>
                <a:latin typeface="Helvetica Neue"/>
                <a:ea typeface="Helvetica Neue"/>
                <a:cs typeface="Helvetica Neue"/>
              </a:defRPr>
            </a:lvl4pPr>
            <a:lvl5pPr>
              <a:defRPr sz="2250" b="0">
                <a:solidFill>
                  <a:srgbClr val="20333F"/>
                </a:solidFill>
                <a:latin typeface="Helvetica Neue"/>
                <a:ea typeface="Helvetica Neue"/>
                <a:cs typeface="Helvetica Neue"/>
              </a:defRPr>
            </a:lvl5pPr>
            <a:lvl6pPr>
              <a:defRPr sz="2250" b="0">
                <a:solidFill>
                  <a:srgbClr val="20333F"/>
                </a:solidFill>
                <a:latin typeface="Helvetica Neue"/>
                <a:ea typeface="Helvetica Neue"/>
                <a:cs typeface="Helvetica Neue"/>
              </a:defRPr>
            </a:lvl6pPr>
            <a:lvl7pPr>
              <a:defRPr sz="2250" b="0">
                <a:solidFill>
                  <a:srgbClr val="20333F"/>
                </a:solidFill>
                <a:latin typeface="Helvetica Neue"/>
                <a:ea typeface="Helvetica Neue"/>
                <a:cs typeface="Helvetica Neue"/>
              </a:defRPr>
            </a:lvl7pPr>
            <a:lvl8pPr>
              <a:defRPr sz="2250" b="0">
                <a:solidFill>
                  <a:srgbClr val="20333F"/>
                </a:solidFill>
                <a:latin typeface="Helvetica Neue"/>
                <a:ea typeface="Helvetica Neue"/>
                <a:cs typeface="Helvetica Neue"/>
              </a:defRPr>
            </a:lvl8pPr>
            <a:lvl9pPr>
              <a:defRPr sz="2250" b="0">
                <a:solidFill>
                  <a:srgbClr val="20333F"/>
                </a:solidFill>
                <a:latin typeface="Helvetica Neue"/>
                <a:ea typeface="Helvetica Neue"/>
                <a:cs typeface="Helvetica Neue"/>
              </a:defRPr>
            </a:lvl9pPr>
          </a:lstStyle>
          <a:p xmlns:a="http://schemas.openxmlformats.org/drawingml/2006/main">
            <a:pPr>
              <a:defRPr sz="2250" b="0">
                <a:solidFill>
                  <a:srgbClr val="20333F"/>
                </a:solidFill>
                <a:latin typeface="Helvetica Neue"/>
                <a:ea typeface="Helvetica Neue"/>
                <a:cs typeface="Helvetica Neue"/>
              </a:defRPr>
            </a:pPr>
            <a:r>
              <a:rPr sz="2250" b="0">
                <a:solidFill>
                  <a:srgbClr val="20333F"/>
                </a:solidFill>
                <a:latin typeface="Helvetica Neue"/>
                <a:ea typeface="Helvetica Neue"/>
                <a:cs typeface="Helvetica Neue"/>
              </a:rPr>
              <a:t>Output: one category from ten possible labels</a:t>
            </a:r>
          </a:p>
        </p:txBody>
      </p:sp>
      <p:sp>
        <p:nvSpPr>
          <p:cNvPr id="6" name="">
            <a:extLst xmlns:a="http://schemas.openxmlformats.org/drawingml/2006/main">
              <a:ext uri="{FF2B5EF4-FFF2-40B4-BE49-F238E27FC236}">
                <a16:creationId xmlns:a16="http://schemas.microsoft.com/office/drawing/2014/main" id="{9F86B1B0-CEE6-46A0-A1A1-A02531EF380A}"/>
              </a:ext>
            </a:extLst>
          </p:cNvPr>
          <p:cNvSpPr>
            <a:spLocks xmlns:a="http://schemas.openxmlformats.org/drawingml/2006/main" noGrp="1"/>
          </p:cNvSpPr>
          <p:nvPr/>
        </p:nvSpPr>
        <p:spPr>
          <a:xfrm xmlns:a="http://schemas.openxmlformats.org/drawingml/2006/main">
            <a:off x="714375" y="3429000"/>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33F"/>
                </a:solidFill>
                <a:latin typeface="Helvetica Neue"/>
                <a:ea typeface="Helvetica Neue"/>
                <a:cs typeface="Helvetica Neue"/>
              </a:defRPr>
            </a:defPPr>
            <a:lvl1pPr>
              <a:defRPr sz="2250" b="0">
                <a:solidFill>
                  <a:srgbClr val="20333F"/>
                </a:solidFill>
                <a:latin typeface="Helvetica Neue"/>
                <a:ea typeface="Helvetica Neue"/>
                <a:cs typeface="Helvetica Neue"/>
              </a:defRPr>
            </a:lvl1pPr>
            <a:lvl2pPr>
              <a:defRPr sz="2250" b="0">
                <a:solidFill>
                  <a:srgbClr val="20333F"/>
                </a:solidFill>
                <a:latin typeface="Helvetica Neue"/>
                <a:ea typeface="Helvetica Neue"/>
                <a:cs typeface="Helvetica Neue"/>
              </a:defRPr>
            </a:lvl2pPr>
            <a:lvl3pPr>
              <a:defRPr sz="2250" b="0">
                <a:solidFill>
                  <a:srgbClr val="20333F"/>
                </a:solidFill>
                <a:latin typeface="Helvetica Neue"/>
                <a:ea typeface="Helvetica Neue"/>
                <a:cs typeface="Helvetica Neue"/>
              </a:defRPr>
            </a:lvl3pPr>
            <a:lvl4pPr>
              <a:defRPr sz="2250" b="0">
                <a:solidFill>
                  <a:srgbClr val="20333F"/>
                </a:solidFill>
                <a:latin typeface="Helvetica Neue"/>
                <a:ea typeface="Helvetica Neue"/>
                <a:cs typeface="Helvetica Neue"/>
              </a:defRPr>
            </a:lvl4pPr>
            <a:lvl5pPr>
              <a:defRPr sz="2250" b="0">
                <a:solidFill>
                  <a:srgbClr val="20333F"/>
                </a:solidFill>
                <a:latin typeface="Helvetica Neue"/>
                <a:ea typeface="Helvetica Neue"/>
                <a:cs typeface="Helvetica Neue"/>
              </a:defRPr>
            </a:lvl5pPr>
            <a:lvl6pPr>
              <a:defRPr sz="2250" b="0">
                <a:solidFill>
                  <a:srgbClr val="20333F"/>
                </a:solidFill>
                <a:latin typeface="Helvetica Neue"/>
                <a:ea typeface="Helvetica Neue"/>
                <a:cs typeface="Helvetica Neue"/>
              </a:defRPr>
            </a:lvl6pPr>
            <a:lvl7pPr>
              <a:defRPr sz="2250" b="0">
                <a:solidFill>
                  <a:srgbClr val="20333F"/>
                </a:solidFill>
                <a:latin typeface="Helvetica Neue"/>
                <a:ea typeface="Helvetica Neue"/>
                <a:cs typeface="Helvetica Neue"/>
              </a:defRPr>
            </a:lvl7pPr>
            <a:lvl8pPr>
              <a:defRPr sz="2250" b="0">
                <a:solidFill>
                  <a:srgbClr val="20333F"/>
                </a:solidFill>
                <a:latin typeface="Helvetica Neue"/>
                <a:ea typeface="Helvetica Neue"/>
                <a:cs typeface="Helvetica Neue"/>
              </a:defRPr>
            </a:lvl8pPr>
            <a:lvl9pPr>
              <a:defRPr sz="2250" b="0">
                <a:solidFill>
                  <a:srgbClr val="20333F"/>
                </a:solidFill>
                <a:latin typeface="Helvetica Neue"/>
                <a:ea typeface="Helvetica Neue"/>
                <a:cs typeface="Helvetica Neue"/>
              </a:defRPr>
            </a:lvl9pPr>
          </a:lstStyle>
          <a:p xmlns:a="http://schemas.openxmlformats.org/drawingml/2006/main">
            <a:pPr>
              <a:defRPr sz="2250" b="0">
                <a:solidFill>
                  <a:srgbClr val="20333F"/>
                </a:solidFill>
                <a:latin typeface="Helvetica Neue"/>
                <a:ea typeface="Helvetica Neue"/>
                <a:cs typeface="Helvetica Neue"/>
              </a:defRPr>
            </a:pPr>
            <a:r>
              <a:rPr sz="2250" b="0">
                <a:solidFill>
                  <a:srgbClr val="20333F"/>
                </a:solidFill>
                <a:latin typeface="Helvetica Neue"/>
                <a:ea typeface="Helvetica Neue"/>
                <a:cs typeface="Helvetica Neue"/>
              </a:rPr>
              <a:t>Compare pixels and HOG under the same four classifiers</a:t>
            </a:r>
          </a:p>
        </p:txBody>
      </p:sp>
      <p:sp>
        <p:nvSpPr>
          <p:cNvPr id="7" name="">
            <a:extLst xmlns:a="http://schemas.openxmlformats.org/drawingml/2006/main">
              <a:ext uri="{FF2B5EF4-FFF2-40B4-BE49-F238E27FC236}">
                <a16:creationId xmlns:a16="http://schemas.microsoft.com/office/drawing/2014/main" id="{68761241-F3C4-4B0F-ADEC-B4A750A568D5}"/>
              </a:ext>
            </a:extLst>
          </p:cNvPr>
          <p:cNvSpPr>
            <a:spLocks xmlns:a="http://schemas.openxmlformats.org/drawingml/2006/main" noGrp="1"/>
          </p:cNvSpPr>
          <p:nvPr/>
        </p:nvSpPr>
        <p:spPr>
          <a:xfrm xmlns:a="http://schemas.openxmlformats.org/drawingml/2006/main">
            <a:off x="714375" y="4381500"/>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33F"/>
                </a:solidFill>
                <a:latin typeface="Helvetica Neue"/>
                <a:ea typeface="Helvetica Neue"/>
                <a:cs typeface="Helvetica Neue"/>
              </a:defRPr>
            </a:defPPr>
            <a:lvl1pPr>
              <a:defRPr sz="2250" b="0">
                <a:solidFill>
                  <a:srgbClr val="20333F"/>
                </a:solidFill>
                <a:latin typeface="Helvetica Neue"/>
                <a:ea typeface="Helvetica Neue"/>
                <a:cs typeface="Helvetica Neue"/>
              </a:defRPr>
            </a:lvl1pPr>
            <a:lvl2pPr>
              <a:defRPr sz="2250" b="0">
                <a:solidFill>
                  <a:srgbClr val="20333F"/>
                </a:solidFill>
                <a:latin typeface="Helvetica Neue"/>
                <a:ea typeface="Helvetica Neue"/>
                <a:cs typeface="Helvetica Neue"/>
              </a:defRPr>
            </a:lvl2pPr>
            <a:lvl3pPr>
              <a:defRPr sz="2250" b="0">
                <a:solidFill>
                  <a:srgbClr val="20333F"/>
                </a:solidFill>
                <a:latin typeface="Helvetica Neue"/>
                <a:ea typeface="Helvetica Neue"/>
                <a:cs typeface="Helvetica Neue"/>
              </a:defRPr>
            </a:lvl3pPr>
            <a:lvl4pPr>
              <a:defRPr sz="2250" b="0">
                <a:solidFill>
                  <a:srgbClr val="20333F"/>
                </a:solidFill>
                <a:latin typeface="Helvetica Neue"/>
                <a:ea typeface="Helvetica Neue"/>
                <a:cs typeface="Helvetica Neue"/>
              </a:defRPr>
            </a:lvl4pPr>
            <a:lvl5pPr>
              <a:defRPr sz="2250" b="0">
                <a:solidFill>
                  <a:srgbClr val="20333F"/>
                </a:solidFill>
                <a:latin typeface="Helvetica Neue"/>
                <a:ea typeface="Helvetica Neue"/>
                <a:cs typeface="Helvetica Neue"/>
              </a:defRPr>
            </a:lvl5pPr>
            <a:lvl6pPr>
              <a:defRPr sz="2250" b="0">
                <a:solidFill>
                  <a:srgbClr val="20333F"/>
                </a:solidFill>
                <a:latin typeface="Helvetica Neue"/>
                <a:ea typeface="Helvetica Neue"/>
                <a:cs typeface="Helvetica Neue"/>
              </a:defRPr>
            </a:lvl6pPr>
            <a:lvl7pPr>
              <a:defRPr sz="2250" b="0">
                <a:solidFill>
                  <a:srgbClr val="20333F"/>
                </a:solidFill>
                <a:latin typeface="Helvetica Neue"/>
                <a:ea typeface="Helvetica Neue"/>
                <a:cs typeface="Helvetica Neue"/>
              </a:defRPr>
            </a:lvl7pPr>
            <a:lvl8pPr>
              <a:defRPr sz="2250" b="0">
                <a:solidFill>
                  <a:srgbClr val="20333F"/>
                </a:solidFill>
                <a:latin typeface="Helvetica Neue"/>
                <a:ea typeface="Helvetica Neue"/>
                <a:cs typeface="Helvetica Neue"/>
              </a:defRPr>
            </a:lvl8pPr>
            <a:lvl9pPr>
              <a:defRPr sz="2250" b="0">
                <a:solidFill>
                  <a:srgbClr val="20333F"/>
                </a:solidFill>
                <a:latin typeface="Helvetica Neue"/>
                <a:ea typeface="Helvetica Neue"/>
                <a:cs typeface="Helvetica Neue"/>
              </a:defRPr>
            </a:lvl9pPr>
          </a:lstStyle>
          <a:p xmlns:a="http://schemas.openxmlformats.org/drawingml/2006/main">
            <a:pPr>
              <a:defRPr sz="2250" b="0">
                <a:solidFill>
                  <a:srgbClr val="20333F"/>
                </a:solidFill>
                <a:latin typeface="Helvetica Neue"/>
                <a:ea typeface="Helvetica Neue"/>
                <a:cs typeface="Helvetica Neue"/>
              </a:defRPr>
            </a:pPr>
            <a:r>
              <a:rPr sz="2250" b="0">
                <a:solidFill>
                  <a:srgbClr val="20333F"/>
                </a:solidFill>
                <a:latin typeface="Helvetica Neue"/>
                <a:ea typeface="Helvetica Neue"/>
                <a:cs typeface="Helvetica Neue"/>
              </a:rPr>
              <a:t>Compare errors, model size and prediction time</a:t>
            </a:r>
          </a:p>
        </p:txBody>
      </p:sp>
    </p:spTree>
    <p:extLst>
      <p:ext uri="{BB962C8B-B14F-4D97-AF65-F5344CB8AC3E}">
        <p14:creationId xmlns:p14="http://schemas.microsoft.com/office/powerpoint/2010/main" val="1913136787"/>
      </p:ext>
    </p:extLst>
  </p:cSld>
</p:sld>
</file>

<file path=ppt/slides/slide3.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FEECF1F-B9B0-4A45-9D7E-1E87D05FA504}"/>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Dataset and shared split</a:t>
            </a:r>
          </a:p>
        </p:txBody>
      </p:sp>
      <p:sp>
        <p:nvSpPr>
          <p:cNvPr id="2" name="">
            <a:extLst xmlns:a="http://schemas.openxmlformats.org/drawingml/2006/main">
              <a:ext uri="{FF2B5EF4-FFF2-40B4-BE49-F238E27FC236}">
                <a16:creationId xmlns:a16="http://schemas.microsoft.com/office/drawing/2014/main" id="{C7EBD208-8D49-44FA-98D7-C30D4361478A}"/>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CFC49D1D-EAB3-4FFA-8EB6-6C0E2B72943E}"/>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03</a:t>
            </a:r>
          </a:p>
        </p:txBody>
      </p:sp>
      <p:graphicFrame>
        <p:nvGraphicFramePr>
          <p:cNvPr id="4" name="">
            <a:extLst xmlns:a="http://schemas.openxmlformats.org/drawingml/2006/main">
              <a:ext uri="{FF2B5EF4-FFF2-40B4-BE49-F238E27FC236}">
                <a16:creationId xmlns:a16="http://schemas.microsoft.com/office/drawing/2014/main" id="{6557B232-45CD-4022-96C5-18D8D736D9D8}"/>
              </a:ext>
            </a:extLst>
          </p:cNvPr>
          <p:cNvGraphicFramePr/>
          <p:nvPr/>
        </p:nvGraphicFramePr>
        <p:xfrm>
          <a:off xmlns:a="http://schemas.openxmlformats.org/drawingml/2006/main" x="714375" y="1524000"/>
          <a:ext xmlns:a="http://schemas.openxmlformats.org/drawingml/2006/main" cx="10715625" cy="2619375"/>
        </p:xfrm>
        <a:graphic xmlns:a="http://schemas.openxmlformats.org/drawingml/2006/main">
          <a:graphicData uri="http://schemas.openxmlformats.org/drawingml/2006/table">
            <a:tbl>
              <a:tblPr/>
              <a:tblGrid>
                <a:gridCol w="4667250"/>
                <a:gridCol w="2857500"/>
                <a:gridCol w="3190875"/>
              </a:tblGrid>
              <a:tr h="654844">
                <a:tc>
                  <a:txBody>
                    <a:bodyPr/>
                    <a:lstStyle/>
                    <a:p>
                      <a:r>
                        <a:rPr sz="1800" b="1">
                          <a:solidFill>
                            <a:srgbClr val="FFFFFF"/>
                          </a:solidFill>
                          <a:latin typeface="Helvetica Neue"/>
                          <a:ea typeface="Helvetica Neue"/>
                          <a:cs typeface="Helvetica Neue"/>
                        </a:rPr>
                        <a:t>Partition</a:t>
                      </a:r>
                    </a:p>
                  </a:txBody>
                  <a:tcPr marL="91440" marR="91440" marT="45720" marB="45720">
                    <a:solidFill>
                      <a:srgbClr val="185B70"/>
                    </a:solidFill>
                  </a:tcPr>
                </a:tc>
                <a:tc>
                  <a:txBody>
                    <a:bodyPr/>
                    <a:lstStyle/>
                    <a:p>
                      <a:r>
                        <a:rPr sz="1800" b="1">
                          <a:solidFill>
                            <a:srgbClr val="FFFFFF"/>
                          </a:solidFill>
                          <a:latin typeface="Helvetica Neue"/>
                          <a:ea typeface="Helvetica Neue"/>
                          <a:cs typeface="Helvetica Neue"/>
                        </a:rPr>
                        <a:t>Images</a:t>
                      </a:r>
                    </a:p>
                  </a:txBody>
                  <a:tcPr marL="91440" marR="91440" marT="45720" marB="45720">
                    <a:solidFill>
                      <a:srgbClr val="185B70"/>
                    </a:solidFill>
                  </a:tcPr>
                </a:tc>
                <a:tc>
                  <a:txBody>
                    <a:bodyPr/>
                    <a:lstStyle/>
                    <a:p>
                      <a:r>
                        <a:rPr sz="1800" b="1">
                          <a:solidFill>
                            <a:srgbClr val="FFFFFF"/>
                          </a:solidFill>
                          <a:latin typeface="Helvetica Neue"/>
                          <a:ea typeface="Helvetica Neue"/>
                          <a:cs typeface="Helvetica Neue"/>
                        </a:rPr>
                        <a:t>Images per class</a:t>
                      </a:r>
                    </a:p>
                  </a:txBody>
                  <a:tcPr marL="91440" marR="91440" marT="45720" marB="45720">
                    <a:solidFill>
                      <a:srgbClr val="185B70"/>
                    </a:solidFill>
                  </a:tcPr>
                </a:tc>
              </a:tr>
              <a:tr h="654844">
                <a:tc>
                  <a:txBody>
                    <a:bodyPr/>
                    <a:lstStyle/>
                    <a:p>
                      <a:r>
                        <a:rPr sz="1800" b="0">
                          <a:solidFill>
                            <a:srgbClr val="20333F"/>
                          </a:solidFill>
                          <a:latin typeface="Helvetica Neue"/>
                          <a:ea typeface="Helvetica Neue"/>
                          <a:cs typeface="Helvetica Neue"/>
                        </a:rPr>
                        <a:t>Training</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48,000</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4,800</a:t>
                      </a:r>
                    </a:p>
                  </a:txBody>
                  <a:tcPr marL="91440" marR="91440" marT="45720" marB="45720">
                    <a:solidFill>
                      <a:srgbClr val="EDF3F5"/>
                    </a:solidFill>
                  </a:tcPr>
                </a:tc>
              </a:tr>
              <a:tr h="654844">
                <a:tc>
                  <a:txBody>
                    <a:bodyPr/>
                    <a:lstStyle/>
                    <a:p>
                      <a:r>
                        <a:rPr sz="1800" b="0">
                          <a:solidFill>
                            <a:srgbClr val="20333F"/>
                          </a:solidFill>
                          <a:latin typeface="Helvetica Neue"/>
                          <a:ea typeface="Helvetica Neue"/>
                          <a:cs typeface="Helvetica Neue"/>
                        </a:rPr>
                        <a:t>Validation</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12,000</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1,200</a:t>
                      </a:r>
                    </a:p>
                  </a:txBody>
                  <a:tcPr marL="91440" marR="91440" marT="45720" marB="45720">
                    <a:solidFill>
                      <a:srgbClr val="FFFFFF"/>
                    </a:solidFill>
                  </a:tcPr>
                </a:tc>
              </a:tr>
              <a:tr h="654844">
                <a:tc>
                  <a:txBody>
                    <a:bodyPr/>
                    <a:lstStyle/>
                    <a:p>
                      <a:r>
                        <a:rPr sz="1800" b="0">
                          <a:solidFill>
                            <a:srgbClr val="20333F"/>
                          </a:solidFill>
                          <a:latin typeface="Helvetica Neue"/>
                          <a:ea typeface="Helvetica Neue"/>
                          <a:cs typeface="Helvetica Neue"/>
                        </a:rPr>
                        <a:t>Official test</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10,000</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1,000</a:t>
                      </a:r>
                    </a:p>
                  </a:txBody>
                  <a:tcPr marL="91440" marR="91440" marT="45720" marB="45720">
                    <a:solidFill>
                      <a:srgbClr val="EDF3F5"/>
                    </a:solidFill>
                  </a:tcPr>
                </a:tc>
              </a:tr>
            </a:tbl>
          </a:graphicData>
        </a:graphic>
      </p:graphicFrame>
      <p:sp>
        <p:nvSpPr>
          <p:cNvPr id="5" name="">
            <a:extLst xmlns:a="http://schemas.openxmlformats.org/drawingml/2006/main">
              <a:ext uri="{FF2B5EF4-FFF2-40B4-BE49-F238E27FC236}">
                <a16:creationId xmlns:a16="http://schemas.microsoft.com/office/drawing/2014/main" id="{B046D777-9C7E-4665-A48E-122E4A97CDE8}"/>
              </a:ext>
            </a:extLst>
          </p:cNvPr>
          <p:cNvSpPr>
            <a:spLocks xmlns:a="http://schemas.openxmlformats.org/drawingml/2006/main" noGrp="1"/>
          </p:cNvSpPr>
          <p:nvPr/>
        </p:nvSpPr>
        <p:spPr>
          <a:xfrm xmlns:a="http://schemas.openxmlformats.org/drawingml/2006/main">
            <a:off x="714375" y="44767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Seed 42, equal class proportions, no split overlap</a:t>
            </a:r>
          </a:p>
        </p:txBody>
      </p:sp>
      <p:sp>
        <p:nvSpPr>
          <p:cNvPr id="6" name="">
            <a:extLst xmlns:a="http://schemas.openxmlformats.org/drawingml/2006/main">
              <a:ext uri="{FF2B5EF4-FFF2-40B4-BE49-F238E27FC236}">
                <a16:creationId xmlns:a16="http://schemas.microsoft.com/office/drawing/2014/main" id="{1A29EECB-9BCF-4794-926C-CD1B60203EE7}"/>
              </a:ext>
            </a:extLst>
          </p:cNvPr>
          <p:cNvSpPr>
            <a:spLocks xmlns:a="http://schemas.openxmlformats.org/drawingml/2006/main" noGrp="1"/>
          </p:cNvSpPr>
          <p:nvPr/>
        </p:nvSpPr>
        <p:spPr>
          <a:xfrm xmlns:a="http://schemas.openxmlformats.org/drawingml/2006/main">
            <a:off x="714375" y="52387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0333F"/>
                </a:solidFill>
                <a:latin typeface="Helvetica Neue"/>
                <a:ea typeface="Helvetica Neue"/>
                <a:cs typeface="Helvetica Neue"/>
              </a:defRPr>
            </a:defPPr>
            <a:lvl1pPr>
              <a:defRPr sz="2025" b="0">
                <a:solidFill>
                  <a:srgbClr val="20333F"/>
                </a:solidFill>
                <a:latin typeface="Helvetica Neue"/>
                <a:ea typeface="Helvetica Neue"/>
                <a:cs typeface="Helvetica Neue"/>
              </a:defRPr>
            </a:lvl1pPr>
            <a:lvl2pPr>
              <a:defRPr sz="2025" b="0">
                <a:solidFill>
                  <a:srgbClr val="20333F"/>
                </a:solidFill>
                <a:latin typeface="Helvetica Neue"/>
                <a:ea typeface="Helvetica Neue"/>
                <a:cs typeface="Helvetica Neue"/>
              </a:defRPr>
            </a:lvl2pPr>
            <a:lvl3pPr>
              <a:defRPr sz="2025" b="0">
                <a:solidFill>
                  <a:srgbClr val="20333F"/>
                </a:solidFill>
                <a:latin typeface="Helvetica Neue"/>
                <a:ea typeface="Helvetica Neue"/>
                <a:cs typeface="Helvetica Neue"/>
              </a:defRPr>
            </a:lvl3pPr>
            <a:lvl4pPr>
              <a:defRPr sz="2025" b="0">
                <a:solidFill>
                  <a:srgbClr val="20333F"/>
                </a:solidFill>
                <a:latin typeface="Helvetica Neue"/>
                <a:ea typeface="Helvetica Neue"/>
                <a:cs typeface="Helvetica Neue"/>
              </a:defRPr>
            </a:lvl4pPr>
            <a:lvl5pPr>
              <a:defRPr sz="2025" b="0">
                <a:solidFill>
                  <a:srgbClr val="20333F"/>
                </a:solidFill>
                <a:latin typeface="Helvetica Neue"/>
                <a:ea typeface="Helvetica Neue"/>
                <a:cs typeface="Helvetica Neue"/>
              </a:defRPr>
            </a:lvl5pPr>
            <a:lvl6pPr>
              <a:defRPr sz="2025" b="0">
                <a:solidFill>
                  <a:srgbClr val="20333F"/>
                </a:solidFill>
                <a:latin typeface="Helvetica Neue"/>
                <a:ea typeface="Helvetica Neue"/>
                <a:cs typeface="Helvetica Neue"/>
              </a:defRPr>
            </a:lvl6pPr>
            <a:lvl7pPr>
              <a:defRPr sz="2025" b="0">
                <a:solidFill>
                  <a:srgbClr val="20333F"/>
                </a:solidFill>
                <a:latin typeface="Helvetica Neue"/>
                <a:ea typeface="Helvetica Neue"/>
                <a:cs typeface="Helvetica Neue"/>
              </a:defRPr>
            </a:lvl7pPr>
            <a:lvl8pPr>
              <a:defRPr sz="2025" b="0">
                <a:solidFill>
                  <a:srgbClr val="20333F"/>
                </a:solidFill>
                <a:latin typeface="Helvetica Neue"/>
                <a:ea typeface="Helvetica Neue"/>
                <a:cs typeface="Helvetica Neue"/>
              </a:defRPr>
            </a:lvl8pPr>
            <a:lvl9pPr>
              <a:defRPr sz="2025" b="0">
                <a:solidFill>
                  <a:srgbClr val="20333F"/>
                </a:solidFill>
                <a:latin typeface="Helvetica Neue"/>
                <a:ea typeface="Helvetica Neue"/>
                <a:cs typeface="Helvetica Neue"/>
              </a:defRPr>
            </a:lvl9pPr>
          </a:lstStyle>
          <a:p xmlns:a="http://schemas.openxmlformats.org/drawingml/2006/main">
            <a:pPr>
              <a:defRPr sz="2025" b="0">
                <a:solidFill>
                  <a:srgbClr val="20333F"/>
                </a:solidFill>
                <a:latin typeface="Helvetica Neue"/>
                <a:ea typeface="Helvetica Neue"/>
                <a:cs typeface="Helvetica Neue"/>
              </a:defRPr>
            </a:pPr>
            <a:r>
              <a:rPr sz="2025" b="0">
                <a:solidFill>
                  <a:srgbClr val="20333F"/>
                </a:solidFill>
                <a:latin typeface="Helvetica Neue"/>
                <a:ea typeface="Helvetica Neue"/>
                <a:cs typeface="Helvetica Neue"/>
              </a:rPr>
              <a:t>Archive checksums match. No exact training duplicates or blank images</a:t>
            </a:r>
          </a:p>
        </p:txBody>
      </p:sp>
    </p:spTree>
    <p:extLst>
      <p:ext uri="{BB962C8B-B14F-4D97-AF65-F5344CB8AC3E}">
        <p14:creationId xmlns:p14="http://schemas.microsoft.com/office/powerpoint/2010/main" val="788760010"/>
      </p:ext>
    </p:extLst>
  </p:cSld>
</p:sld>
</file>

<file path=ppt/slides/slide4.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03E9A26-4AD4-41A6-8D0D-25E338D01339}"/>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Training images</a:t>
            </a:r>
          </a:p>
        </p:txBody>
      </p:sp>
      <p:sp>
        <p:nvSpPr>
          <p:cNvPr id="2" name="">
            <a:extLst xmlns:a="http://schemas.openxmlformats.org/drawingml/2006/main">
              <a:ext uri="{FF2B5EF4-FFF2-40B4-BE49-F238E27FC236}">
                <a16:creationId xmlns:a16="http://schemas.microsoft.com/office/drawing/2014/main" id="{501A2D03-B10D-48E4-9A7A-1B10076E272D}"/>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A0BEA951-E657-4F88-B82E-66386780E89D}"/>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04</a:t>
            </a:r>
          </a:p>
        </p:txBody>
      </p:sp>
      <p:pic>
        <p:nvPicPr>
          <p:cNvPr id="4" name="">
            <a:extLst xmlns:a="http://schemas.openxmlformats.org/drawingml/2006/main">
              <a:ext uri="{FF2B5EF4-FFF2-40B4-BE49-F238E27FC236}">
                <a16:creationId xmlns:a16="http://schemas.microsoft.com/office/drawing/2014/main" id="{D58F431D-6DB7-4D68-9593-12977D4A81A6}"/>
              </a:ext>
            </a:extLst>
          </p:cNvPr>
          <p:cNvPicPr>
            <a:picLocks xmlns:a="http://schemas.openxmlformats.org/drawingml/2006/main" noChangeAspect="1"/>
          </p:cNvPicPr>
          <p:nvPr/>
        </p:nvPicPr>
        <p:blipFill>
          <a:blip xmlns:r="http://schemas.openxmlformats.org/officeDocument/2006/relationships" xmlns:a="http://schemas.openxmlformats.org/drawingml/2006/main" r:embed="R1ded62c9db224209"/>
          <a:stretch xmlns:a="http://schemas.openxmlformats.org/drawingml/2006/main"/>
        </p:blipFill>
        <p:spPr>
          <a:xfrm xmlns:a="http://schemas.openxmlformats.org/drawingml/2006/main">
            <a:off x="619125" y="1788621"/>
            <a:ext cx="10953750" cy="3661757"/>
          </a:xfrm>
          <a:prstGeom xmlns:a="http://schemas.openxmlformats.org/drawingml/2006/main" prst="rect">
            <a:avLst/>
          </a:prstGeom>
        </p:spPr>
      </p:pic>
    </p:spTree>
    <p:extLst>
      <p:ext uri="{BB962C8B-B14F-4D97-AF65-F5344CB8AC3E}">
        <p14:creationId xmlns:p14="http://schemas.microsoft.com/office/powerpoint/2010/main" val="2089997890"/>
      </p:ext>
    </p:extLst>
  </p:cSld>
</p:sld>
</file>

<file path=ppt/slides/slide5.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4CCA84B-73FD-4625-9276-F4B685302D0F}"/>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Pixels and HOG</a:t>
            </a:r>
          </a:p>
        </p:txBody>
      </p:sp>
      <p:sp>
        <p:nvSpPr>
          <p:cNvPr id="2" name="">
            <a:extLst xmlns:a="http://schemas.openxmlformats.org/drawingml/2006/main">
              <a:ext uri="{FF2B5EF4-FFF2-40B4-BE49-F238E27FC236}">
                <a16:creationId xmlns:a16="http://schemas.microsoft.com/office/drawing/2014/main" id="{0C29F190-331F-40F5-8246-2554673D0FEC}"/>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7272E91A-945F-424C-99BC-9071E63D1B3A}"/>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CEF06E76-5AE5-4258-85AE-07AC0A9A1FA2}"/>
              </a:ext>
            </a:extLst>
          </p:cNvPr>
          <p:cNvSpPr>
            <a:spLocks xmlns:a="http://schemas.openxmlformats.org/drawingml/2006/main" noGrp="1"/>
          </p:cNvSpPr>
          <p:nvPr/>
        </p:nvSpPr>
        <p:spPr>
          <a:xfrm xmlns:a="http://schemas.openxmlformats.org/drawingml/2006/main">
            <a:off x="714375" y="142875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20333F"/>
                </a:solidFill>
                <a:latin typeface="Helvetica Neue"/>
                <a:ea typeface="Helvetica Neue"/>
                <a:cs typeface="Helvetica Neue"/>
              </a:defRPr>
            </a:defPPr>
            <a:lvl1pPr>
              <a:defRPr sz="2325" b="0">
                <a:solidFill>
                  <a:srgbClr val="20333F"/>
                </a:solidFill>
                <a:latin typeface="Helvetica Neue"/>
                <a:ea typeface="Helvetica Neue"/>
                <a:cs typeface="Helvetica Neue"/>
              </a:defRPr>
            </a:lvl1pPr>
            <a:lvl2pPr>
              <a:defRPr sz="2325" b="0">
                <a:solidFill>
                  <a:srgbClr val="20333F"/>
                </a:solidFill>
                <a:latin typeface="Helvetica Neue"/>
                <a:ea typeface="Helvetica Neue"/>
                <a:cs typeface="Helvetica Neue"/>
              </a:defRPr>
            </a:lvl2pPr>
            <a:lvl3pPr>
              <a:defRPr sz="2325" b="0">
                <a:solidFill>
                  <a:srgbClr val="20333F"/>
                </a:solidFill>
                <a:latin typeface="Helvetica Neue"/>
                <a:ea typeface="Helvetica Neue"/>
                <a:cs typeface="Helvetica Neue"/>
              </a:defRPr>
            </a:lvl3pPr>
            <a:lvl4pPr>
              <a:defRPr sz="2325" b="0">
                <a:solidFill>
                  <a:srgbClr val="20333F"/>
                </a:solidFill>
                <a:latin typeface="Helvetica Neue"/>
                <a:ea typeface="Helvetica Neue"/>
                <a:cs typeface="Helvetica Neue"/>
              </a:defRPr>
            </a:lvl4pPr>
            <a:lvl5pPr>
              <a:defRPr sz="2325" b="0">
                <a:solidFill>
                  <a:srgbClr val="20333F"/>
                </a:solidFill>
                <a:latin typeface="Helvetica Neue"/>
                <a:ea typeface="Helvetica Neue"/>
                <a:cs typeface="Helvetica Neue"/>
              </a:defRPr>
            </a:lvl5pPr>
            <a:lvl6pPr>
              <a:defRPr sz="2325" b="0">
                <a:solidFill>
                  <a:srgbClr val="20333F"/>
                </a:solidFill>
                <a:latin typeface="Helvetica Neue"/>
                <a:ea typeface="Helvetica Neue"/>
                <a:cs typeface="Helvetica Neue"/>
              </a:defRPr>
            </a:lvl6pPr>
            <a:lvl7pPr>
              <a:defRPr sz="2325" b="0">
                <a:solidFill>
                  <a:srgbClr val="20333F"/>
                </a:solidFill>
                <a:latin typeface="Helvetica Neue"/>
                <a:ea typeface="Helvetica Neue"/>
                <a:cs typeface="Helvetica Neue"/>
              </a:defRPr>
            </a:lvl7pPr>
            <a:lvl8pPr>
              <a:defRPr sz="2325" b="0">
                <a:solidFill>
                  <a:srgbClr val="20333F"/>
                </a:solidFill>
                <a:latin typeface="Helvetica Neue"/>
                <a:ea typeface="Helvetica Neue"/>
                <a:cs typeface="Helvetica Neue"/>
              </a:defRPr>
            </a:lvl8pPr>
            <a:lvl9pPr>
              <a:defRPr sz="2325" b="0">
                <a:solidFill>
                  <a:srgbClr val="20333F"/>
                </a:solidFill>
                <a:latin typeface="Helvetica Neue"/>
                <a:ea typeface="Helvetica Neue"/>
                <a:cs typeface="Helvetica Neue"/>
              </a:defRPr>
            </a:lvl9pPr>
          </a:lstStyle>
          <a:p xmlns:a="http://schemas.openxmlformats.org/drawingml/2006/main">
            <a:pPr>
              <a:defRPr sz="2325" b="0">
                <a:solidFill>
                  <a:srgbClr val="20333F"/>
                </a:solidFill>
                <a:latin typeface="Helvetica Neue"/>
                <a:ea typeface="Helvetica Neue"/>
                <a:cs typeface="Helvetica Neue"/>
              </a:defRPr>
            </a:pPr>
            <a:r>
              <a:rPr sz="2325" b="0">
                <a:solidFill>
                  <a:srgbClr val="20333F"/>
                </a:solidFill>
                <a:latin typeface="Helvetica Neue"/>
                <a:ea typeface="Helvetica Neue"/>
                <a:cs typeface="Helvetica Neue"/>
              </a:rPr>
              <a:t>Pixels: 784 brightness values scaled to [0,1]</a:t>
            </a:r>
          </a:p>
        </p:txBody>
      </p:sp>
      <p:sp>
        <p:nvSpPr>
          <p:cNvPr id="5" name="">
            <a:extLst xmlns:a="http://schemas.openxmlformats.org/drawingml/2006/main">
              <a:ext uri="{FF2B5EF4-FFF2-40B4-BE49-F238E27FC236}">
                <a16:creationId xmlns:a16="http://schemas.microsoft.com/office/drawing/2014/main" id="{E29DAD78-70B6-4B65-8F61-F1E6AE41CE4E}"/>
              </a:ext>
            </a:extLst>
          </p:cNvPr>
          <p:cNvSpPr>
            <a:spLocks xmlns:a="http://schemas.openxmlformats.org/drawingml/2006/main" noGrp="1"/>
          </p:cNvSpPr>
          <p:nvPr/>
        </p:nvSpPr>
        <p:spPr>
          <a:xfrm xmlns:a="http://schemas.openxmlformats.org/drawingml/2006/main">
            <a:off x="714375" y="209550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20333F"/>
                </a:solidFill>
                <a:latin typeface="Helvetica Neue"/>
                <a:ea typeface="Helvetica Neue"/>
                <a:cs typeface="Helvetica Neue"/>
              </a:defRPr>
            </a:defPPr>
            <a:lvl1pPr>
              <a:defRPr sz="2325" b="0">
                <a:solidFill>
                  <a:srgbClr val="20333F"/>
                </a:solidFill>
                <a:latin typeface="Helvetica Neue"/>
                <a:ea typeface="Helvetica Neue"/>
                <a:cs typeface="Helvetica Neue"/>
              </a:defRPr>
            </a:lvl1pPr>
            <a:lvl2pPr>
              <a:defRPr sz="2325" b="0">
                <a:solidFill>
                  <a:srgbClr val="20333F"/>
                </a:solidFill>
                <a:latin typeface="Helvetica Neue"/>
                <a:ea typeface="Helvetica Neue"/>
                <a:cs typeface="Helvetica Neue"/>
              </a:defRPr>
            </a:lvl2pPr>
            <a:lvl3pPr>
              <a:defRPr sz="2325" b="0">
                <a:solidFill>
                  <a:srgbClr val="20333F"/>
                </a:solidFill>
                <a:latin typeface="Helvetica Neue"/>
                <a:ea typeface="Helvetica Neue"/>
                <a:cs typeface="Helvetica Neue"/>
              </a:defRPr>
            </a:lvl3pPr>
            <a:lvl4pPr>
              <a:defRPr sz="2325" b="0">
                <a:solidFill>
                  <a:srgbClr val="20333F"/>
                </a:solidFill>
                <a:latin typeface="Helvetica Neue"/>
                <a:ea typeface="Helvetica Neue"/>
                <a:cs typeface="Helvetica Neue"/>
              </a:defRPr>
            </a:lvl4pPr>
            <a:lvl5pPr>
              <a:defRPr sz="2325" b="0">
                <a:solidFill>
                  <a:srgbClr val="20333F"/>
                </a:solidFill>
                <a:latin typeface="Helvetica Neue"/>
                <a:ea typeface="Helvetica Neue"/>
                <a:cs typeface="Helvetica Neue"/>
              </a:defRPr>
            </a:lvl5pPr>
            <a:lvl6pPr>
              <a:defRPr sz="2325" b="0">
                <a:solidFill>
                  <a:srgbClr val="20333F"/>
                </a:solidFill>
                <a:latin typeface="Helvetica Neue"/>
                <a:ea typeface="Helvetica Neue"/>
                <a:cs typeface="Helvetica Neue"/>
              </a:defRPr>
            </a:lvl6pPr>
            <a:lvl7pPr>
              <a:defRPr sz="2325" b="0">
                <a:solidFill>
                  <a:srgbClr val="20333F"/>
                </a:solidFill>
                <a:latin typeface="Helvetica Neue"/>
                <a:ea typeface="Helvetica Neue"/>
                <a:cs typeface="Helvetica Neue"/>
              </a:defRPr>
            </a:lvl7pPr>
            <a:lvl8pPr>
              <a:defRPr sz="2325" b="0">
                <a:solidFill>
                  <a:srgbClr val="20333F"/>
                </a:solidFill>
                <a:latin typeface="Helvetica Neue"/>
                <a:ea typeface="Helvetica Neue"/>
                <a:cs typeface="Helvetica Neue"/>
              </a:defRPr>
            </a:lvl8pPr>
            <a:lvl9pPr>
              <a:defRPr sz="2325" b="0">
                <a:solidFill>
                  <a:srgbClr val="20333F"/>
                </a:solidFill>
                <a:latin typeface="Helvetica Neue"/>
                <a:ea typeface="Helvetica Neue"/>
                <a:cs typeface="Helvetica Neue"/>
              </a:defRPr>
            </a:lvl9pPr>
          </a:lstStyle>
          <a:p xmlns:a="http://schemas.openxmlformats.org/drawingml/2006/main">
            <a:pPr>
              <a:defRPr sz="2325" b="0">
                <a:solidFill>
                  <a:srgbClr val="20333F"/>
                </a:solidFill>
                <a:latin typeface="Helvetica Neue"/>
                <a:ea typeface="Helvetica Neue"/>
                <a:cs typeface="Helvetica Neue"/>
              </a:defRPr>
            </a:pPr>
            <a:r>
              <a:rPr sz="2325" b="0">
                <a:solidFill>
                  <a:srgbClr val="20333F"/>
                </a:solidFill>
                <a:latin typeface="Helvetica Neue"/>
                <a:ea typeface="Helvetica Neue"/>
                <a:cs typeface="Helvetica Neue"/>
              </a:rPr>
              <a:t>HOG: edge directions grouped into normalized histograms</a:t>
            </a:r>
          </a:p>
        </p:txBody>
      </p:sp>
      <p:pic>
        <p:nvPicPr>
          <p:cNvPr id="6" name="">
            <a:extLst xmlns:a="http://schemas.openxmlformats.org/drawingml/2006/main">
              <a:ext uri="{FF2B5EF4-FFF2-40B4-BE49-F238E27FC236}">
                <a16:creationId xmlns:a16="http://schemas.microsoft.com/office/drawing/2014/main" id="{B520757F-D094-4E71-B3BA-4DAEC0A120C6}"/>
              </a:ext>
            </a:extLst>
          </p:cNvPr>
          <p:cNvPicPr>
            <a:picLocks xmlns:a="http://schemas.openxmlformats.org/drawingml/2006/main" noChangeAspect="1"/>
          </p:cNvPicPr>
          <p:nvPr/>
        </p:nvPicPr>
        <p:blipFill>
          <a:blip xmlns:r="http://schemas.openxmlformats.org/officeDocument/2006/relationships" xmlns:a="http://schemas.openxmlformats.org/drawingml/2006/main" r:embed="R914ba2b806fd4b44"/>
          <a:stretch xmlns:a="http://schemas.openxmlformats.org/drawingml/2006/main"/>
        </p:blipFill>
        <p:spPr>
          <a:xfrm xmlns:a="http://schemas.openxmlformats.org/drawingml/2006/main">
            <a:off x="3487771" y="2857500"/>
            <a:ext cx="5216457" cy="2476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847D3EE-BB5A-4A0C-B5C9-A0FF77AE673C}"/>
              </a:ext>
            </a:extLst>
          </p:cNvPr>
          <p:cNvSpPr>
            <a:spLocks xmlns:a="http://schemas.openxmlformats.org/drawingml/2006/main" noGrp="1"/>
          </p:cNvSpPr>
          <p:nvPr/>
        </p:nvSpPr>
        <p:spPr>
          <a:xfrm xmlns:a="http://schemas.openxmlformats.org/drawingml/2006/main">
            <a:off x="714375" y="55530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0333F"/>
                </a:solidFill>
                <a:latin typeface="Helvetica Neue"/>
                <a:ea typeface="Helvetica Neue"/>
                <a:cs typeface="Helvetica Neue"/>
              </a:defRPr>
            </a:defPPr>
            <a:lvl1pPr>
              <a:defRPr sz="1950" b="0">
                <a:solidFill>
                  <a:srgbClr val="20333F"/>
                </a:solidFill>
                <a:latin typeface="Helvetica Neue"/>
                <a:ea typeface="Helvetica Neue"/>
                <a:cs typeface="Helvetica Neue"/>
              </a:defRPr>
            </a:lvl1pPr>
            <a:lvl2pPr>
              <a:defRPr sz="1950" b="0">
                <a:solidFill>
                  <a:srgbClr val="20333F"/>
                </a:solidFill>
                <a:latin typeface="Helvetica Neue"/>
                <a:ea typeface="Helvetica Neue"/>
                <a:cs typeface="Helvetica Neue"/>
              </a:defRPr>
            </a:lvl2pPr>
            <a:lvl3pPr>
              <a:defRPr sz="1950" b="0">
                <a:solidFill>
                  <a:srgbClr val="20333F"/>
                </a:solidFill>
                <a:latin typeface="Helvetica Neue"/>
                <a:ea typeface="Helvetica Neue"/>
                <a:cs typeface="Helvetica Neue"/>
              </a:defRPr>
            </a:lvl3pPr>
            <a:lvl4pPr>
              <a:defRPr sz="1950" b="0">
                <a:solidFill>
                  <a:srgbClr val="20333F"/>
                </a:solidFill>
                <a:latin typeface="Helvetica Neue"/>
                <a:ea typeface="Helvetica Neue"/>
                <a:cs typeface="Helvetica Neue"/>
              </a:defRPr>
            </a:lvl4pPr>
            <a:lvl5pPr>
              <a:defRPr sz="1950" b="0">
                <a:solidFill>
                  <a:srgbClr val="20333F"/>
                </a:solidFill>
                <a:latin typeface="Helvetica Neue"/>
                <a:ea typeface="Helvetica Neue"/>
                <a:cs typeface="Helvetica Neue"/>
              </a:defRPr>
            </a:lvl5pPr>
            <a:lvl6pPr>
              <a:defRPr sz="1950" b="0">
                <a:solidFill>
                  <a:srgbClr val="20333F"/>
                </a:solidFill>
                <a:latin typeface="Helvetica Neue"/>
                <a:ea typeface="Helvetica Neue"/>
                <a:cs typeface="Helvetica Neue"/>
              </a:defRPr>
            </a:lvl6pPr>
            <a:lvl7pPr>
              <a:defRPr sz="1950" b="0">
                <a:solidFill>
                  <a:srgbClr val="20333F"/>
                </a:solidFill>
                <a:latin typeface="Helvetica Neue"/>
                <a:ea typeface="Helvetica Neue"/>
                <a:cs typeface="Helvetica Neue"/>
              </a:defRPr>
            </a:lvl7pPr>
            <a:lvl8pPr>
              <a:defRPr sz="1950" b="0">
                <a:solidFill>
                  <a:srgbClr val="20333F"/>
                </a:solidFill>
                <a:latin typeface="Helvetica Neue"/>
                <a:ea typeface="Helvetica Neue"/>
                <a:cs typeface="Helvetica Neue"/>
              </a:defRPr>
            </a:lvl8pPr>
            <a:lvl9pPr>
              <a:defRPr sz="1950" b="0">
                <a:solidFill>
                  <a:srgbClr val="20333F"/>
                </a:solidFill>
                <a:latin typeface="Helvetica Neue"/>
                <a:ea typeface="Helvetica Neue"/>
                <a:cs typeface="Helvetica Neue"/>
              </a:defRPr>
            </a:lvl9pPr>
          </a:lstStyle>
          <a:p xmlns:a="http://schemas.openxmlformats.org/drawingml/2006/main">
            <a:pPr>
              <a:defRPr sz="1950" b="0">
                <a:solidFill>
                  <a:srgbClr val="20333F"/>
                </a:solidFill>
                <a:latin typeface="Helvetica Neue"/>
                <a:ea typeface="Helvetica Neue"/>
                <a:cs typeface="Helvetica Neue"/>
              </a:defRPr>
            </a:pPr>
            <a:r>
              <a:rPr sz="1950" b="0">
                <a:solidFill>
                  <a:srgbClr val="20333F"/>
                </a:solidFill>
                <a:latin typeface="Helvetica Neue"/>
                <a:ea typeface="Helvetica Neue"/>
                <a:cs typeface="Helvetica Neue"/>
              </a:rPr>
              <a:t>7-pixel cells and 2 × 2-cell blocks give 324 values</a:t>
            </a:r>
          </a:p>
        </p:txBody>
      </p:sp>
    </p:spTree>
    <p:extLst>
      <p:ext uri="{BB962C8B-B14F-4D97-AF65-F5344CB8AC3E}">
        <p14:creationId xmlns:p14="http://schemas.microsoft.com/office/powerpoint/2010/main" val="2052028754"/>
      </p:ext>
    </p:extLst>
  </p:cSld>
</p:sld>
</file>

<file path=ppt/slides/slide6.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0E9C373-939C-4075-B28D-3139978C26F7}"/>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Eight classical comparisons</a:t>
            </a:r>
          </a:p>
        </p:txBody>
      </p:sp>
      <p:sp>
        <p:nvSpPr>
          <p:cNvPr id="2" name="">
            <a:extLst xmlns:a="http://schemas.openxmlformats.org/drawingml/2006/main">
              <a:ext uri="{FF2B5EF4-FFF2-40B4-BE49-F238E27FC236}">
                <a16:creationId xmlns:a16="http://schemas.microsoft.com/office/drawing/2014/main" id="{0F46B52E-7760-408F-8403-DAA11CAEC962}"/>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136BCB61-B3B0-4458-8DB1-D3FBB9E14439}"/>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06</a:t>
            </a:r>
          </a:p>
        </p:txBody>
      </p:sp>
      <p:graphicFrame>
        <p:nvGraphicFramePr>
          <p:cNvPr id="4" name="">
            <a:extLst xmlns:a="http://schemas.openxmlformats.org/drawingml/2006/main">
              <a:ext uri="{FF2B5EF4-FFF2-40B4-BE49-F238E27FC236}">
                <a16:creationId xmlns:a16="http://schemas.microsoft.com/office/drawing/2014/main" id="{9D5B65B8-6169-4652-9911-BB99C2EC51D8}"/>
              </a:ext>
            </a:extLst>
          </p:cNvPr>
          <p:cNvGraphicFramePr/>
          <p:nvPr/>
        </p:nvGraphicFramePr>
        <p:xfrm>
          <a:off xmlns:a="http://schemas.openxmlformats.org/drawingml/2006/main" x="666750" y="1524000"/>
          <a:ext xmlns:a="http://schemas.openxmlformats.org/drawingml/2006/main" cx="10858500" cy="3524250"/>
        </p:xfrm>
        <a:graphic xmlns:a="http://schemas.openxmlformats.org/drawingml/2006/main">
          <a:graphicData uri="http://schemas.openxmlformats.org/drawingml/2006/table">
            <a:tbl>
              <a:tblPr/>
              <a:tblGrid>
                <a:gridCol w="3333750"/>
                <a:gridCol w="4762500"/>
                <a:gridCol w="2762250"/>
              </a:tblGrid>
              <a:tr h="704850">
                <a:tc>
                  <a:txBody>
                    <a:bodyPr/>
                    <a:lstStyle/>
                    <a:p>
                      <a:r>
                        <a:rPr sz="1800" b="1">
                          <a:solidFill>
                            <a:srgbClr val="FFFFFF"/>
                          </a:solidFill>
                          <a:latin typeface="Helvetica Neue"/>
                          <a:ea typeface="Helvetica Neue"/>
                          <a:cs typeface="Helvetica Neue"/>
                        </a:rPr>
                        <a:t>Classifier</a:t>
                      </a:r>
                    </a:p>
                  </a:txBody>
                  <a:tcPr marL="91440" marR="91440" marT="45720" marB="45720">
                    <a:solidFill>
                      <a:srgbClr val="185B70"/>
                    </a:solidFill>
                  </a:tcPr>
                </a:tc>
                <a:tc>
                  <a:txBody>
                    <a:bodyPr/>
                    <a:lstStyle/>
                    <a:p>
                      <a:r>
                        <a:rPr sz="1800" b="1">
                          <a:solidFill>
                            <a:srgbClr val="FFFFFF"/>
                          </a:solidFill>
                          <a:latin typeface="Helvetica Neue"/>
                          <a:ea typeface="Helvetica Neue"/>
                          <a:cs typeface="Helvetica Neue"/>
                        </a:rPr>
                        <a:t>Main idea</a:t>
                      </a:r>
                    </a:p>
                  </a:txBody>
                  <a:tcPr marL="91440" marR="91440" marT="45720" marB="45720">
                    <a:solidFill>
                      <a:srgbClr val="185B70"/>
                    </a:solidFill>
                  </a:tcPr>
                </a:tc>
                <a:tc>
                  <a:txBody>
                    <a:bodyPr/>
                    <a:lstStyle/>
                    <a:p>
                      <a:r>
                        <a:rPr sz="1800" b="1">
                          <a:solidFill>
                            <a:srgbClr val="FFFFFF"/>
                          </a:solidFill>
                          <a:latin typeface="Helvetica Neue"/>
                          <a:ea typeface="Helvetica Neue"/>
                          <a:cs typeface="Helvetica Neue"/>
                        </a:rPr>
                        <a:t>Two settings</a:t>
                      </a:r>
                    </a:p>
                  </a:txBody>
                  <a:tcPr marL="91440" marR="91440" marT="45720" marB="45720">
                    <a:solidFill>
                      <a:srgbClr val="185B70"/>
                    </a:solidFill>
                  </a:tcPr>
                </a:tc>
              </a:tr>
              <a:tr h="704850">
                <a:tc>
                  <a:txBody>
                    <a:bodyPr/>
                    <a:lstStyle/>
                    <a:p>
                      <a:r>
                        <a:rPr sz="1800" b="0">
                          <a:solidFill>
                            <a:srgbClr val="20333F"/>
                          </a:solidFill>
                          <a:latin typeface="Helvetica Neue"/>
                          <a:ea typeface="Helvetica Neue"/>
                          <a:cs typeface="Helvetica Neue"/>
                        </a:rPr>
                        <a:t>Logistic Regression</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Regularized linear scores</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C: 0.1, 1</a:t>
                      </a:r>
                    </a:p>
                  </a:txBody>
                  <a:tcPr marL="91440" marR="91440" marT="45720" marB="45720">
                    <a:solidFill>
                      <a:srgbClr val="EDF3F5"/>
                    </a:solidFill>
                  </a:tcPr>
                </a:tc>
              </a:tr>
              <a:tr h="704850">
                <a:tc>
                  <a:txBody>
                    <a:bodyPr/>
                    <a:lstStyle/>
                    <a:p>
                      <a:r>
                        <a:rPr sz="1800" b="0">
                          <a:solidFill>
                            <a:srgbClr val="20333F"/>
                          </a:solidFill>
                          <a:latin typeface="Helvetica Neue"/>
                          <a:ea typeface="Helvetica Neue"/>
                          <a:cs typeface="Helvetica Neue"/>
                        </a:rPr>
                        <a:t>k-NN</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Nearby examples vote</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k: 3, 5</a:t>
                      </a:r>
                    </a:p>
                  </a:txBody>
                  <a:tcPr marL="91440" marR="91440" marT="45720" marB="45720">
                    <a:solidFill>
                      <a:srgbClr val="FFFFFF"/>
                    </a:solidFill>
                  </a:tcPr>
                </a:tc>
              </a:tr>
              <a:tr h="704850">
                <a:tc>
                  <a:txBody>
                    <a:bodyPr/>
                    <a:lstStyle/>
                    <a:p>
                      <a:r>
                        <a:rPr sz="1800" b="0">
                          <a:solidFill>
                            <a:srgbClr val="20333F"/>
                          </a:solidFill>
                          <a:latin typeface="Helvetica Neue"/>
                          <a:ea typeface="Helvetica Neue"/>
                          <a:cs typeface="Helvetica Neue"/>
                        </a:rPr>
                        <a:t>Random Forest</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Combine randomized trees</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200 / 400 trees</a:t>
                      </a:r>
                    </a:p>
                  </a:txBody>
                  <a:tcPr marL="91440" marR="91440" marT="45720" marB="45720">
                    <a:solidFill>
                      <a:srgbClr val="EDF3F5"/>
                    </a:solidFill>
                  </a:tcPr>
                </a:tc>
              </a:tr>
              <a:tr h="704850">
                <a:tc>
                  <a:txBody>
                    <a:bodyPr/>
                    <a:lstStyle/>
                    <a:p>
                      <a:r>
                        <a:rPr sz="1800" b="0">
                          <a:solidFill>
                            <a:srgbClr val="20333F"/>
                          </a:solidFill>
                          <a:latin typeface="Helvetica Neue"/>
                          <a:ea typeface="Helvetica Neue"/>
                          <a:cs typeface="Helvetica Neue"/>
                        </a:rPr>
                        <a:t>Linear SVM</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Margin-based boundaries</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C: 0.1, 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69567F3-44A5-4BF0-89F3-24388E843246}"/>
              </a:ext>
            </a:extLst>
          </p:cNvPr>
          <p:cNvSpPr>
            <a:spLocks xmlns:a="http://schemas.openxmlformats.org/drawingml/2006/main" noGrp="1"/>
          </p:cNvSpPr>
          <p:nvPr/>
        </p:nvSpPr>
        <p:spPr>
          <a:xfrm xmlns:a="http://schemas.openxmlformats.org/drawingml/2006/main">
            <a:off x="714375" y="53816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33F"/>
                </a:solidFill>
                <a:latin typeface="Helvetica Neue"/>
                <a:ea typeface="Helvetica Neue"/>
                <a:cs typeface="Helvetica Neue"/>
              </a:defRPr>
            </a:defPPr>
            <a:lvl1pPr>
              <a:defRPr sz="2250" b="0">
                <a:solidFill>
                  <a:srgbClr val="20333F"/>
                </a:solidFill>
                <a:latin typeface="Helvetica Neue"/>
                <a:ea typeface="Helvetica Neue"/>
                <a:cs typeface="Helvetica Neue"/>
              </a:defRPr>
            </a:lvl1pPr>
            <a:lvl2pPr>
              <a:defRPr sz="2250" b="0">
                <a:solidFill>
                  <a:srgbClr val="20333F"/>
                </a:solidFill>
                <a:latin typeface="Helvetica Neue"/>
                <a:ea typeface="Helvetica Neue"/>
                <a:cs typeface="Helvetica Neue"/>
              </a:defRPr>
            </a:lvl2pPr>
            <a:lvl3pPr>
              <a:defRPr sz="2250" b="0">
                <a:solidFill>
                  <a:srgbClr val="20333F"/>
                </a:solidFill>
                <a:latin typeface="Helvetica Neue"/>
                <a:ea typeface="Helvetica Neue"/>
                <a:cs typeface="Helvetica Neue"/>
              </a:defRPr>
            </a:lvl3pPr>
            <a:lvl4pPr>
              <a:defRPr sz="2250" b="0">
                <a:solidFill>
                  <a:srgbClr val="20333F"/>
                </a:solidFill>
                <a:latin typeface="Helvetica Neue"/>
                <a:ea typeface="Helvetica Neue"/>
                <a:cs typeface="Helvetica Neue"/>
              </a:defRPr>
            </a:lvl4pPr>
            <a:lvl5pPr>
              <a:defRPr sz="2250" b="0">
                <a:solidFill>
                  <a:srgbClr val="20333F"/>
                </a:solidFill>
                <a:latin typeface="Helvetica Neue"/>
                <a:ea typeface="Helvetica Neue"/>
                <a:cs typeface="Helvetica Neue"/>
              </a:defRPr>
            </a:lvl5pPr>
            <a:lvl6pPr>
              <a:defRPr sz="2250" b="0">
                <a:solidFill>
                  <a:srgbClr val="20333F"/>
                </a:solidFill>
                <a:latin typeface="Helvetica Neue"/>
                <a:ea typeface="Helvetica Neue"/>
                <a:cs typeface="Helvetica Neue"/>
              </a:defRPr>
            </a:lvl6pPr>
            <a:lvl7pPr>
              <a:defRPr sz="2250" b="0">
                <a:solidFill>
                  <a:srgbClr val="20333F"/>
                </a:solidFill>
                <a:latin typeface="Helvetica Neue"/>
                <a:ea typeface="Helvetica Neue"/>
                <a:cs typeface="Helvetica Neue"/>
              </a:defRPr>
            </a:lvl7pPr>
            <a:lvl8pPr>
              <a:defRPr sz="2250" b="0">
                <a:solidFill>
                  <a:srgbClr val="20333F"/>
                </a:solidFill>
                <a:latin typeface="Helvetica Neue"/>
                <a:ea typeface="Helvetica Neue"/>
                <a:cs typeface="Helvetica Neue"/>
              </a:defRPr>
            </a:lvl8pPr>
            <a:lvl9pPr>
              <a:defRPr sz="2250" b="0">
                <a:solidFill>
                  <a:srgbClr val="20333F"/>
                </a:solidFill>
                <a:latin typeface="Helvetica Neue"/>
                <a:ea typeface="Helvetica Neue"/>
                <a:cs typeface="Helvetica Neue"/>
              </a:defRPr>
            </a:lvl9pPr>
          </a:lstStyle>
          <a:p xmlns:a="http://schemas.openxmlformats.org/drawingml/2006/main">
            <a:pPr>
              <a:defRPr sz="2250" b="0">
                <a:solidFill>
                  <a:srgbClr val="20333F"/>
                </a:solidFill>
                <a:latin typeface="Helvetica Neue"/>
                <a:ea typeface="Helvetica Neue"/>
                <a:cs typeface="Helvetica Neue"/>
              </a:defRPr>
            </a:pPr>
            <a:r>
              <a:rPr sz="2250" b="0">
                <a:solidFill>
                  <a:srgbClr val="20333F"/>
                </a:solidFill>
                <a:latin typeface="Helvetica Neue"/>
                <a:ea typeface="Helvetica Neue"/>
                <a:cs typeface="Helvetica Neue"/>
              </a:rPr>
              <a:t>Each classifier is fitted on pixels and HOG</a:t>
            </a:r>
          </a:p>
        </p:txBody>
      </p:sp>
    </p:spTree>
    <p:extLst>
      <p:ext uri="{BB962C8B-B14F-4D97-AF65-F5344CB8AC3E}">
        <p14:creationId xmlns:p14="http://schemas.microsoft.com/office/powerpoint/2010/main" val="1972585445"/>
      </p:ext>
    </p:extLst>
  </p:cSld>
</p:sld>
</file>

<file path=ppt/slides/slide7.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C057B24-C308-4553-A9B2-A99F13EAEAE1}"/>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Choose settings before testing</a:t>
            </a:r>
          </a:p>
        </p:txBody>
      </p:sp>
      <p:sp>
        <p:nvSpPr>
          <p:cNvPr id="2" name="">
            <a:extLst xmlns:a="http://schemas.openxmlformats.org/drawingml/2006/main">
              <a:ext uri="{FF2B5EF4-FFF2-40B4-BE49-F238E27FC236}">
                <a16:creationId xmlns:a16="http://schemas.microsoft.com/office/drawing/2014/main" id="{C67960E9-5985-4BE4-89E5-770A5718F5F6}"/>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BC1FF250-ADE7-43A5-94A1-8BB1AE4270D1}"/>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07</a:t>
            </a:r>
          </a:p>
        </p:txBody>
      </p:sp>
      <p:sp>
        <p:nvSpPr>
          <p:cNvPr id="4" name="">
            <a:extLst xmlns:a="http://schemas.openxmlformats.org/drawingml/2006/main">
              <a:ext uri="{FF2B5EF4-FFF2-40B4-BE49-F238E27FC236}">
                <a16:creationId xmlns:a16="http://schemas.microsoft.com/office/drawing/2014/main" id="{2001AD1E-B0A4-41F8-92F6-E7FB9D30FEFD}"/>
              </a:ext>
            </a:extLst>
          </p:cNvPr>
          <p:cNvSpPr>
            <a:spLocks xmlns:a="http://schemas.openxmlformats.org/drawingml/2006/main" noGrp="1"/>
          </p:cNvSpPr>
          <p:nvPr/>
        </p:nvSpPr>
        <p:spPr>
          <a:xfrm xmlns:a="http://schemas.openxmlformats.org/drawingml/2006/main">
            <a:off x="714375" y="1476375"/>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Train each combination on the same 48,000 images</a:t>
            </a:r>
          </a:p>
        </p:txBody>
      </p:sp>
      <p:sp>
        <p:nvSpPr>
          <p:cNvPr id="5" name="">
            <a:extLst xmlns:a="http://schemas.openxmlformats.org/drawingml/2006/main">
              <a:ext uri="{FF2B5EF4-FFF2-40B4-BE49-F238E27FC236}">
                <a16:creationId xmlns:a16="http://schemas.microsoft.com/office/drawing/2014/main" id="{408D069B-FE83-4B43-93BD-FD850CA9848B}"/>
              </a:ext>
            </a:extLst>
          </p:cNvPr>
          <p:cNvSpPr>
            <a:spLocks xmlns:a="http://schemas.openxmlformats.org/drawingml/2006/main" noGrp="1"/>
          </p:cNvSpPr>
          <p:nvPr/>
        </p:nvSpPr>
        <p:spPr>
          <a:xfrm xmlns:a="http://schemas.openxmlformats.org/drawingml/2006/main">
            <a:off x="714375" y="2476500"/>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Choose settings using the 12,000 validation images</a:t>
            </a:r>
          </a:p>
        </p:txBody>
      </p:sp>
      <p:sp>
        <p:nvSpPr>
          <p:cNvPr id="6" name="">
            <a:extLst xmlns:a="http://schemas.openxmlformats.org/drawingml/2006/main">
              <a:ext uri="{FF2B5EF4-FFF2-40B4-BE49-F238E27FC236}">
                <a16:creationId xmlns:a16="http://schemas.microsoft.com/office/drawing/2014/main" id="{0A1B0092-1294-4F83-AFF6-6AE8CD8AAFC7}"/>
              </a:ext>
            </a:extLst>
          </p:cNvPr>
          <p:cNvSpPr>
            <a:spLocks xmlns:a="http://schemas.openxmlformats.org/drawingml/2006/main" noGrp="1"/>
          </p:cNvSpPr>
          <p:nvPr/>
        </p:nvSpPr>
        <p:spPr>
          <a:xfrm xmlns:a="http://schemas.openxmlformats.org/drawingml/2006/main">
            <a:off x="714375" y="3476625"/>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Save the chosen models and their checksums</a:t>
            </a:r>
          </a:p>
        </p:txBody>
      </p:sp>
      <p:sp>
        <p:nvSpPr>
          <p:cNvPr id="7" name="">
            <a:extLst xmlns:a="http://schemas.openxmlformats.org/drawingml/2006/main">
              <a:ext uri="{FF2B5EF4-FFF2-40B4-BE49-F238E27FC236}">
                <a16:creationId xmlns:a16="http://schemas.microsoft.com/office/drawing/2014/main" id="{354D53EA-DBE5-4FB9-8098-08C29F9010ED}"/>
              </a:ext>
            </a:extLst>
          </p:cNvPr>
          <p:cNvSpPr>
            <a:spLocks xmlns:a="http://schemas.openxmlformats.org/drawingml/2006/main" noGrp="1"/>
          </p:cNvSpPr>
          <p:nvPr/>
        </p:nvSpPr>
        <p:spPr>
          <a:xfrm xmlns:a="http://schemas.openxmlformats.org/drawingml/2006/main">
            <a:off x="714375" y="4476750"/>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Evaluate once on the official 10,000 test images</a:t>
            </a:r>
          </a:p>
        </p:txBody>
      </p:sp>
    </p:spTree>
    <p:extLst>
      <p:ext uri="{BB962C8B-B14F-4D97-AF65-F5344CB8AC3E}">
        <p14:creationId xmlns:p14="http://schemas.microsoft.com/office/powerpoint/2010/main" val="470345767"/>
      </p:ext>
    </p:extLst>
  </p:cSld>
</p:sld>
</file>

<file path=ppt/slides/slide8.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A5945F6-4656-4CEB-8197-778847247B99}"/>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Test results for the eight core models</a:t>
            </a:r>
          </a:p>
        </p:txBody>
      </p:sp>
      <p:sp>
        <p:nvSpPr>
          <p:cNvPr id="2" name="">
            <a:extLst xmlns:a="http://schemas.openxmlformats.org/drawingml/2006/main">
              <a:ext uri="{FF2B5EF4-FFF2-40B4-BE49-F238E27FC236}">
                <a16:creationId xmlns:a16="http://schemas.microsoft.com/office/drawing/2014/main" id="{EFFEF223-4A5C-49D7-9BFF-9E6E2621DA66}"/>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6CBF856E-224F-49D7-97E1-F53CB566EC35}"/>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08</a:t>
            </a:r>
          </a:p>
        </p:txBody>
      </p:sp>
      <p:graphicFrame>
        <p:nvGraphicFramePr>
          <p:cNvPr id="4" name="">
            <a:extLst xmlns:a="http://schemas.openxmlformats.org/drawingml/2006/main">
              <a:ext uri="{FF2B5EF4-FFF2-40B4-BE49-F238E27FC236}">
                <a16:creationId xmlns:a16="http://schemas.microsoft.com/office/drawing/2014/main" id="{C3683CE6-04F5-4E6E-9EF9-D47A755F23D0}"/>
              </a:ext>
            </a:extLst>
          </p:cNvPr>
          <p:cNvGraphicFramePr/>
          <p:nvPr/>
        </p:nvGraphicFramePr>
        <p:xfrm>
          <a:off xmlns:a="http://schemas.openxmlformats.org/drawingml/2006/main" x="666750" y="1381125"/>
          <a:ext xmlns:a="http://schemas.openxmlformats.org/drawingml/2006/main" cx="10858500" cy="4524375"/>
        </p:xfrm>
        <a:graphic xmlns:a="http://schemas.openxmlformats.org/drawingml/2006/main">
          <a:graphicData uri="http://schemas.openxmlformats.org/drawingml/2006/table">
            <a:tbl>
              <a:tblPr/>
              <a:tblGrid>
                <a:gridCol w="6191250"/>
                <a:gridCol w="2333625"/>
                <a:gridCol w="2333625"/>
              </a:tblGrid>
              <a:tr h="502708">
                <a:tc>
                  <a:txBody>
                    <a:bodyPr/>
                    <a:lstStyle/>
                    <a:p>
                      <a:r>
                        <a:rPr sz="1800" b="1">
                          <a:solidFill>
                            <a:srgbClr val="FFFFFF"/>
                          </a:solidFill>
                          <a:latin typeface="Helvetica Neue"/>
                          <a:ea typeface="Helvetica Neue"/>
                          <a:cs typeface="Helvetica Neue"/>
                        </a:rPr>
                        <a:t>Model</a:t>
                      </a:r>
                    </a:p>
                  </a:txBody>
                  <a:tcPr marL="91440" marR="91440" marT="45720" marB="45720">
                    <a:solidFill>
                      <a:srgbClr val="185B70"/>
                    </a:solidFill>
                  </a:tcPr>
                </a:tc>
                <a:tc>
                  <a:txBody>
                    <a:bodyPr/>
                    <a:lstStyle/>
                    <a:p>
                      <a:r>
                        <a:rPr sz="1800" b="1">
                          <a:solidFill>
                            <a:srgbClr val="FFFFFF"/>
                          </a:solidFill>
                          <a:latin typeface="Helvetica Neue"/>
                          <a:ea typeface="Helvetica Neue"/>
                          <a:cs typeface="Helvetica Neue"/>
                        </a:rPr>
                        <a:t>Accuracy</a:t>
                      </a:r>
                    </a:p>
                  </a:txBody>
                  <a:tcPr marL="91440" marR="91440" marT="45720" marB="45720">
                    <a:solidFill>
                      <a:srgbClr val="185B70"/>
                    </a:solidFill>
                  </a:tcPr>
                </a:tc>
                <a:tc>
                  <a:txBody>
                    <a:bodyPr/>
                    <a:lstStyle/>
                    <a:p>
                      <a:r>
                        <a:rPr sz="1800" b="1">
                          <a:solidFill>
                            <a:srgbClr val="FFFFFF"/>
                          </a:solidFill>
                          <a:latin typeface="Helvetica Neue"/>
                          <a:ea typeface="Helvetica Neue"/>
                          <a:cs typeface="Helvetica Neue"/>
                        </a:rPr>
                        <a:t>Macro F1</a:t>
                      </a:r>
                    </a:p>
                  </a:txBody>
                  <a:tcPr marL="91440" marR="91440" marT="45720" marB="45720">
                    <a:solidFill>
                      <a:srgbClr val="185B70"/>
                    </a:solidFill>
                  </a:tcPr>
                </a:tc>
              </a:tr>
              <a:tr h="502708">
                <a:tc>
                  <a:txBody>
                    <a:bodyPr/>
                    <a:lstStyle/>
                    <a:p>
                      <a:r>
                        <a:rPr sz="1800" b="0">
                          <a:solidFill>
                            <a:srgbClr val="20333F"/>
                          </a:solidFill>
                          <a:latin typeface="Helvetica Neue"/>
                          <a:ea typeface="Helvetica Neue"/>
                          <a:cs typeface="Helvetica Neue"/>
                        </a:rPr>
                        <a:t>Pixels + RF</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87.61%</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0.8747</a:t>
                      </a:r>
                    </a:p>
                  </a:txBody>
                  <a:tcPr marL="91440" marR="91440" marT="45720" marB="45720">
                    <a:solidFill>
                      <a:srgbClr val="EDF3F5"/>
                    </a:solidFill>
                  </a:tcPr>
                </a:tc>
              </a:tr>
              <a:tr h="502708">
                <a:tc>
                  <a:txBody>
                    <a:bodyPr/>
                    <a:lstStyle/>
                    <a:p>
                      <a:r>
                        <a:rPr sz="1800" b="0">
                          <a:solidFill>
                            <a:srgbClr val="20333F"/>
                          </a:solidFill>
                          <a:latin typeface="Helvetica Neue"/>
                          <a:ea typeface="Helvetica Neue"/>
                          <a:cs typeface="Helvetica Neue"/>
                        </a:rPr>
                        <a:t>Pixels + k-NN</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85.09%</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0.8515</a:t>
                      </a:r>
                    </a:p>
                  </a:txBody>
                  <a:tcPr marL="91440" marR="91440" marT="45720" marB="45720">
                    <a:solidFill>
                      <a:srgbClr val="FFFFFF"/>
                    </a:solidFill>
                  </a:tcPr>
                </a:tc>
              </a:tr>
              <a:tr h="502708">
                <a:tc>
                  <a:txBody>
                    <a:bodyPr/>
                    <a:lstStyle/>
                    <a:p>
                      <a:r>
                        <a:rPr sz="1800" b="0">
                          <a:solidFill>
                            <a:srgbClr val="20333F"/>
                          </a:solidFill>
                          <a:latin typeface="Helvetica Neue"/>
                          <a:ea typeface="Helvetica Neue"/>
                          <a:cs typeface="Helvetica Neue"/>
                        </a:rPr>
                        <a:t>Pixels + LR</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83.96%</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0.8390</a:t>
                      </a:r>
                    </a:p>
                  </a:txBody>
                  <a:tcPr marL="91440" marR="91440" marT="45720" marB="45720">
                    <a:solidFill>
                      <a:srgbClr val="EDF3F5"/>
                    </a:solidFill>
                  </a:tcPr>
                </a:tc>
              </a:tr>
              <a:tr h="502708">
                <a:tc>
                  <a:txBody>
                    <a:bodyPr/>
                    <a:lstStyle/>
                    <a:p>
                      <a:r>
                        <a:rPr sz="1800" b="0">
                          <a:solidFill>
                            <a:srgbClr val="20333F"/>
                          </a:solidFill>
                          <a:latin typeface="Helvetica Neue"/>
                          <a:ea typeface="Helvetica Neue"/>
                          <a:cs typeface="Helvetica Neue"/>
                        </a:rPr>
                        <a:t>Pixels + linear SVM</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83.97%</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0.8373</a:t>
                      </a:r>
                    </a:p>
                  </a:txBody>
                  <a:tcPr marL="91440" marR="91440" marT="45720" marB="45720">
                    <a:solidFill>
                      <a:srgbClr val="FFFFFF"/>
                    </a:solidFill>
                  </a:tcPr>
                </a:tc>
              </a:tr>
              <a:tr h="502708">
                <a:tc>
                  <a:txBody>
                    <a:bodyPr/>
                    <a:lstStyle/>
                    <a:p>
                      <a:r>
                        <a:rPr sz="1800" b="0">
                          <a:solidFill>
                            <a:srgbClr val="20333F"/>
                          </a:solidFill>
                          <a:latin typeface="Helvetica Neue"/>
                          <a:ea typeface="Helvetica Neue"/>
                          <a:cs typeface="Helvetica Neue"/>
                        </a:rPr>
                        <a:t>HOG + LR</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84.55%</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0.8450</a:t>
                      </a:r>
                    </a:p>
                  </a:txBody>
                  <a:tcPr marL="91440" marR="91440" marT="45720" marB="45720">
                    <a:solidFill>
                      <a:srgbClr val="EDF3F5"/>
                    </a:solidFill>
                  </a:tcPr>
                </a:tc>
              </a:tr>
              <a:tr h="502708">
                <a:tc>
                  <a:txBody>
                    <a:bodyPr/>
                    <a:lstStyle/>
                    <a:p>
                      <a:r>
                        <a:rPr sz="1800" b="0">
                          <a:solidFill>
                            <a:srgbClr val="20333F"/>
                          </a:solidFill>
                          <a:latin typeface="Helvetica Neue"/>
                          <a:ea typeface="Helvetica Neue"/>
                          <a:cs typeface="Helvetica Neue"/>
                        </a:rPr>
                        <a:t>HOG + linear SVM</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84.01%</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0.8385</a:t>
                      </a:r>
                    </a:p>
                  </a:txBody>
                  <a:tcPr marL="91440" marR="91440" marT="45720" marB="45720">
                    <a:solidFill>
                      <a:srgbClr val="FFFFFF"/>
                    </a:solidFill>
                  </a:tcPr>
                </a:tc>
              </a:tr>
              <a:tr h="502708">
                <a:tc>
                  <a:txBody>
                    <a:bodyPr/>
                    <a:lstStyle/>
                    <a:p>
                      <a:r>
                        <a:rPr sz="1800" b="0">
                          <a:solidFill>
                            <a:srgbClr val="20333F"/>
                          </a:solidFill>
                          <a:latin typeface="Helvetica Neue"/>
                          <a:ea typeface="Helvetica Neue"/>
                          <a:cs typeface="Helvetica Neue"/>
                        </a:rPr>
                        <a:t>HOG + RF</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84.59%</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0.8455</a:t>
                      </a:r>
                    </a:p>
                  </a:txBody>
                  <a:tcPr marL="91440" marR="91440" marT="45720" marB="45720">
                    <a:solidFill>
                      <a:srgbClr val="EDF3F5"/>
                    </a:solidFill>
                  </a:tcPr>
                </a:tc>
              </a:tr>
              <a:tr h="502708">
                <a:tc>
                  <a:txBody>
                    <a:bodyPr/>
                    <a:lstStyle/>
                    <a:p>
                      <a:r>
                        <a:rPr sz="1800" b="0">
                          <a:solidFill>
                            <a:srgbClr val="20333F"/>
                          </a:solidFill>
                          <a:latin typeface="Helvetica Neue"/>
                          <a:ea typeface="Helvetica Neue"/>
                          <a:cs typeface="Helvetica Neue"/>
                        </a:rPr>
                        <a:t>HOG + k-NN</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83.81%</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0.8382</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660353046"/>
      </p:ext>
    </p:extLst>
  </p:cSld>
</p:sld>
</file>

<file path=ppt/slides/slide9.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7ECFEE7-97C7-451F-B533-6C393A652498}"/>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Selected model: Pixels + Random Forest</a:t>
            </a:r>
          </a:p>
        </p:txBody>
      </p:sp>
      <p:sp>
        <p:nvSpPr>
          <p:cNvPr id="2" name="">
            <a:extLst xmlns:a="http://schemas.openxmlformats.org/drawingml/2006/main">
              <a:ext uri="{FF2B5EF4-FFF2-40B4-BE49-F238E27FC236}">
                <a16:creationId xmlns:a16="http://schemas.microsoft.com/office/drawing/2014/main" id="{607FED1F-D8D5-4025-A3E6-98C0E4258CD9}"/>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5E38C751-E1DE-43F1-89D2-E8027175D4F2}"/>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09</a:t>
            </a:r>
          </a:p>
        </p:txBody>
      </p:sp>
      <p:pic>
        <p:nvPicPr>
          <p:cNvPr id="4" name="">
            <a:extLst xmlns:a="http://schemas.openxmlformats.org/drawingml/2006/main">
              <a:ext uri="{FF2B5EF4-FFF2-40B4-BE49-F238E27FC236}">
                <a16:creationId xmlns:a16="http://schemas.microsoft.com/office/drawing/2014/main" id="{36A3F537-2A81-4EA5-A743-BC424EFC5FFB}"/>
              </a:ext>
            </a:extLst>
          </p:cNvPr>
          <p:cNvPicPr>
            <a:picLocks xmlns:a="http://schemas.openxmlformats.org/drawingml/2006/main" noChangeAspect="1"/>
          </p:cNvPicPr>
          <p:nvPr/>
        </p:nvPicPr>
        <p:blipFill>
          <a:blip xmlns:r="http://schemas.openxmlformats.org/officeDocument/2006/relationships" xmlns:a="http://schemas.openxmlformats.org/drawingml/2006/main" r:embed="R3e1ca2b326bf481e"/>
          <a:stretch xmlns:a="http://schemas.openxmlformats.org/drawingml/2006/main"/>
        </p:blipFill>
        <p:spPr>
          <a:xfrm xmlns:a="http://schemas.openxmlformats.org/drawingml/2006/main">
            <a:off x="1537891" y="1381125"/>
            <a:ext cx="5115719" cy="46196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4BA9ED0-0370-4F7F-B961-60A8FDD2A040}"/>
              </a:ext>
            </a:extLst>
          </p:cNvPr>
          <p:cNvSpPr>
            <a:spLocks xmlns:a="http://schemas.openxmlformats.org/drawingml/2006/main" noGrp="1"/>
          </p:cNvSpPr>
          <p:nvPr/>
        </p:nvSpPr>
        <p:spPr>
          <a:xfrm xmlns:a="http://schemas.openxmlformats.org/drawingml/2006/main">
            <a:off x="7858125" y="2095500"/>
            <a:ext cx="3619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85B70"/>
                </a:solidFill>
                <a:latin typeface="Helvetica Neue"/>
                <a:ea typeface="Helvetica Neue"/>
                <a:cs typeface="Helvetica Neue"/>
              </a:defRPr>
            </a:defPPr>
            <a:lvl1pPr>
              <a:defRPr sz="3000" b="1">
                <a:solidFill>
                  <a:srgbClr val="185B70"/>
                </a:solidFill>
                <a:latin typeface="Helvetica Neue"/>
                <a:ea typeface="Helvetica Neue"/>
                <a:cs typeface="Helvetica Neue"/>
              </a:defRPr>
            </a:lvl1pPr>
            <a:lvl2pPr>
              <a:defRPr sz="3000" b="1">
                <a:solidFill>
                  <a:srgbClr val="185B70"/>
                </a:solidFill>
                <a:latin typeface="Helvetica Neue"/>
                <a:ea typeface="Helvetica Neue"/>
                <a:cs typeface="Helvetica Neue"/>
              </a:defRPr>
            </a:lvl2pPr>
            <a:lvl3pPr>
              <a:defRPr sz="3000" b="1">
                <a:solidFill>
                  <a:srgbClr val="185B70"/>
                </a:solidFill>
                <a:latin typeface="Helvetica Neue"/>
                <a:ea typeface="Helvetica Neue"/>
                <a:cs typeface="Helvetica Neue"/>
              </a:defRPr>
            </a:lvl3pPr>
            <a:lvl4pPr>
              <a:defRPr sz="3000" b="1">
                <a:solidFill>
                  <a:srgbClr val="185B70"/>
                </a:solidFill>
                <a:latin typeface="Helvetica Neue"/>
                <a:ea typeface="Helvetica Neue"/>
                <a:cs typeface="Helvetica Neue"/>
              </a:defRPr>
            </a:lvl4pPr>
            <a:lvl5pPr>
              <a:defRPr sz="3000" b="1">
                <a:solidFill>
                  <a:srgbClr val="185B70"/>
                </a:solidFill>
                <a:latin typeface="Helvetica Neue"/>
                <a:ea typeface="Helvetica Neue"/>
                <a:cs typeface="Helvetica Neue"/>
              </a:defRPr>
            </a:lvl5pPr>
            <a:lvl6pPr>
              <a:defRPr sz="3000" b="1">
                <a:solidFill>
                  <a:srgbClr val="185B70"/>
                </a:solidFill>
                <a:latin typeface="Helvetica Neue"/>
                <a:ea typeface="Helvetica Neue"/>
                <a:cs typeface="Helvetica Neue"/>
              </a:defRPr>
            </a:lvl6pPr>
            <a:lvl7pPr>
              <a:defRPr sz="3000" b="1">
                <a:solidFill>
                  <a:srgbClr val="185B70"/>
                </a:solidFill>
                <a:latin typeface="Helvetica Neue"/>
                <a:ea typeface="Helvetica Neue"/>
                <a:cs typeface="Helvetica Neue"/>
              </a:defRPr>
            </a:lvl7pPr>
            <a:lvl8pPr>
              <a:defRPr sz="3000" b="1">
                <a:solidFill>
                  <a:srgbClr val="185B70"/>
                </a:solidFill>
                <a:latin typeface="Helvetica Neue"/>
                <a:ea typeface="Helvetica Neue"/>
                <a:cs typeface="Helvetica Neue"/>
              </a:defRPr>
            </a:lvl8pPr>
            <a:lvl9pPr>
              <a:defRPr sz="3000" b="1">
                <a:solidFill>
                  <a:srgbClr val="185B70"/>
                </a:solidFill>
                <a:latin typeface="Helvetica Neue"/>
                <a:ea typeface="Helvetica Neue"/>
                <a:cs typeface="Helvetica Neue"/>
              </a:defRPr>
            </a:lvl9pPr>
          </a:lstStyle>
          <a:p xmlns:a="http://schemas.openxmlformats.org/drawingml/2006/main">
            <a:pPr>
              <a:defRPr sz="3000" b="1">
                <a:solidFill>
                  <a:srgbClr val="185B70"/>
                </a:solidFill>
                <a:latin typeface="Helvetica Neue"/>
                <a:ea typeface="Helvetica Neue"/>
                <a:cs typeface="Helvetica Neue"/>
              </a:defRPr>
            </a:pPr>
            <a:r>
              <a:rPr sz="3000" b="1">
                <a:solidFill>
                  <a:srgbClr val="185B70"/>
                </a:solidFill>
                <a:latin typeface="Helvetica Neue"/>
                <a:ea typeface="Helvetica Neue"/>
                <a:cs typeface="Helvetica Neue"/>
              </a:rPr>
              <a:t>87.61% accuracy</a:t>
            </a:r>
          </a:p>
        </p:txBody>
      </p:sp>
      <p:sp>
        <p:nvSpPr>
          <p:cNvPr id="6" name="">
            <a:extLst xmlns:a="http://schemas.openxmlformats.org/drawingml/2006/main">
              <a:ext uri="{FF2B5EF4-FFF2-40B4-BE49-F238E27FC236}">
                <a16:creationId xmlns:a16="http://schemas.microsoft.com/office/drawing/2014/main" id="{B7215643-0533-478D-9C6B-CD3E873DFEF7}"/>
              </a:ext>
            </a:extLst>
          </p:cNvPr>
          <p:cNvSpPr>
            <a:spLocks xmlns:a="http://schemas.openxmlformats.org/drawingml/2006/main" noGrp="1"/>
          </p:cNvSpPr>
          <p:nvPr/>
        </p:nvSpPr>
        <p:spPr>
          <a:xfrm xmlns:a="http://schemas.openxmlformats.org/drawingml/2006/main">
            <a:off x="7858125" y="3238500"/>
            <a:ext cx="3619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20333F"/>
                </a:solidFill>
                <a:latin typeface="Helvetica Neue"/>
                <a:ea typeface="Helvetica Neue"/>
                <a:cs typeface="Helvetica Neue"/>
              </a:defRPr>
            </a:defPPr>
            <a:lvl1pPr>
              <a:defRPr sz="2400" b="0">
                <a:solidFill>
                  <a:srgbClr val="20333F"/>
                </a:solidFill>
                <a:latin typeface="Helvetica Neue"/>
                <a:ea typeface="Helvetica Neue"/>
                <a:cs typeface="Helvetica Neue"/>
              </a:defRPr>
            </a:lvl1pPr>
            <a:lvl2pPr>
              <a:defRPr sz="2400" b="0">
                <a:solidFill>
                  <a:srgbClr val="20333F"/>
                </a:solidFill>
                <a:latin typeface="Helvetica Neue"/>
                <a:ea typeface="Helvetica Neue"/>
                <a:cs typeface="Helvetica Neue"/>
              </a:defRPr>
            </a:lvl2pPr>
            <a:lvl3pPr>
              <a:defRPr sz="2400" b="0">
                <a:solidFill>
                  <a:srgbClr val="20333F"/>
                </a:solidFill>
                <a:latin typeface="Helvetica Neue"/>
                <a:ea typeface="Helvetica Neue"/>
                <a:cs typeface="Helvetica Neue"/>
              </a:defRPr>
            </a:lvl3pPr>
            <a:lvl4pPr>
              <a:defRPr sz="2400" b="0">
                <a:solidFill>
                  <a:srgbClr val="20333F"/>
                </a:solidFill>
                <a:latin typeface="Helvetica Neue"/>
                <a:ea typeface="Helvetica Neue"/>
                <a:cs typeface="Helvetica Neue"/>
              </a:defRPr>
            </a:lvl4pPr>
            <a:lvl5pPr>
              <a:defRPr sz="2400" b="0">
                <a:solidFill>
                  <a:srgbClr val="20333F"/>
                </a:solidFill>
                <a:latin typeface="Helvetica Neue"/>
                <a:ea typeface="Helvetica Neue"/>
                <a:cs typeface="Helvetica Neue"/>
              </a:defRPr>
            </a:lvl5pPr>
            <a:lvl6pPr>
              <a:defRPr sz="2400" b="0">
                <a:solidFill>
                  <a:srgbClr val="20333F"/>
                </a:solidFill>
                <a:latin typeface="Helvetica Neue"/>
                <a:ea typeface="Helvetica Neue"/>
                <a:cs typeface="Helvetica Neue"/>
              </a:defRPr>
            </a:lvl6pPr>
            <a:lvl7pPr>
              <a:defRPr sz="2400" b="0">
                <a:solidFill>
                  <a:srgbClr val="20333F"/>
                </a:solidFill>
                <a:latin typeface="Helvetica Neue"/>
                <a:ea typeface="Helvetica Neue"/>
                <a:cs typeface="Helvetica Neue"/>
              </a:defRPr>
            </a:lvl7pPr>
            <a:lvl8pPr>
              <a:defRPr sz="2400" b="0">
                <a:solidFill>
                  <a:srgbClr val="20333F"/>
                </a:solidFill>
                <a:latin typeface="Helvetica Neue"/>
                <a:ea typeface="Helvetica Neue"/>
                <a:cs typeface="Helvetica Neue"/>
              </a:defRPr>
            </a:lvl8pPr>
            <a:lvl9pPr>
              <a:defRPr sz="2400" b="0">
                <a:solidFill>
                  <a:srgbClr val="20333F"/>
                </a:solidFill>
                <a:latin typeface="Helvetica Neue"/>
                <a:ea typeface="Helvetica Neue"/>
                <a:cs typeface="Helvetica Neue"/>
              </a:defRPr>
            </a:lvl9pPr>
          </a:lstStyle>
          <a:p xmlns:a="http://schemas.openxmlformats.org/drawingml/2006/main">
            <a:pPr>
              <a:defRPr sz="2400" b="0">
                <a:solidFill>
                  <a:srgbClr val="20333F"/>
                </a:solidFill>
                <a:latin typeface="Helvetica Neue"/>
                <a:ea typeface="Helvetica Neue"/>
                <a:cs typeface="Helvetica Neue"/>
              </a:defRPr>
            </a:pPr>
            <a:r>
              <a:rPr sz="2400" b="0">
                <a:solidFill>
                  <a:srgbClr val="20333F"/>
                </a:solidFill>
                <a:latin typeface="Helvetica Neue"/>
                <a:ea typeface="Helvetica Neue"/>
                <a:cs typeface="Helvetica Neue"/>
              </a:rPr>
              <a:t>0.8747 macro F1</a:t>
            </a:r>
          </a:p>
        </p:txBody>
      </p:sp>
      <p:sp>
        <p:nvSpPr>
          <p:cNvPr id="7" name="">
            <a:extLst xmlns:a="http://schemas.openxmlformats.org/drawingml/2006/main">
              <a:ext uri="{FF2B5EF4-FFF2-40B4-BE49-F238E27FC236}">
                <a16:creationId xmlns:a16="http://schemas.microsoft.com/office/drawing/2014/main" id="{3D63AB9B-9723-4626-9AF7-9654588010E3}"/>
              </a:ext>
            </a:extLst>
          </p:cNvPr>
          <p:cNvSpPr>
            <a:spLocks xmlns:a="http://schemas.openxmlformats.org/drawingml/2006/main" noGrp="1"/>
          </p:cNvSpPr>
          <p:nvPr/>
        </p:nvSpPr>
        <p:spPr>
          <a:xfrm xmlns:a="http://schemas.openxmlformats.org/drawingml/2006/main">
            <a:off x="7858125" y="4429125"/>
            <a:ext cx="3619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0333F"/>
                </a:solidFill>
                <a:latin typeface="Helvetica Neue"/>
                <a:ea typeface="Helvetica Neue"/>
                <a:cs typeface="Helvetica Neue"/>
              </a:defRPr>
            </a:defPPr>
            <a:lvl1pPr>
              <a:defRPr sz="1950" b="0">
                <a:solidFill>
                  <a:srgbClr val="20333F"/>
                </a:solidFill>
                <a:latin typeface="Helvetica Neue"/>
                <a:ea typeface="Helvetica Neue"/>
                <a:cs typeface="Helvetica Neue"/>
              </a:defRPr>
            </a:lvl1pPr>
            <a:lvl2pPr>
              <a:defRPr sz="1950" b="0">
                <a:solidFill>
                  <a:srgbClr val="20333F"/>
                </a:solidFill>
                <a:latin typeface="Helvetica Neue"/>
                <a:ea typeface="Helvetica Neue"/>
                <a:cs typeface="Helvetica Neue"/>
              </a:defRPr>
            </a:lvl2pPr>
            <a:lvl3pPr>
              <a:defRPr sz="1950" b="0">
                <a:solidFill>
                  <a:srgbClr val="20333F"/>
                </a:solidFill>
                <a:latin typeface="Helvetica Neue"/>
                <a:ea typeface="Helvetica Neue"/>
                <a:cs typeface="Helvetica Neue"/>
              </a:defRPr>
            </a:lvl3pPr>
            <a:lvl4pPr>
              <a:defRPr sz="1950" b="0">
                <a:solidFill>
                  <a:srgbClr val="20333F"/>
                </a:solidFill>
                <a:latin typeface="Helvetica Neue"/>
                <a:ea typeface="Helvetica Neue"/>
                <a:cs typeface="Helvetica Neue"/>
              </a:defRPr>
            </a:lvl4pPr>
            <a:lvl5pPr>
              <a:defRPr sz="1950" b="0">
                <a:solidFill>
                  <a:srgbClr val="20333F"/>
                </a:solidFill>
                <a:latin typeface="Helvetica Neue"/>
                <a:ea typeface="Helvetica Neue"/>
                <a:cs typeface="Helvetica Neue"/>
              </a:defRPr>
            </a:lvl5pPr>
            <a:lvl6pPr>
              <a:defRPr sz="1950" b="0">
                <a:solidFill>
                  <a:srgbClr val="20333F"/>
                </a:solidFill>
                <a:latin typeface="Helvetica Neue"/>
                <a:ea typeface="Helvetica Neue"/>
                <a:cs typeface="Helvetica Neue"/>
              </a:defRPr>
            </a:lvl6pPr>
            <a:lvl7pPr>
              <a:defRPr sz="1950" b="0">
                <a:solidFill>
                  <a:srgbClr val="20333F"/>
                </a:solidFill>
                <a:latin typeface="Helvetica Neue"/>
                <a:ea typeface="Helvetica Neue"/>
                <a:cs typeface="Helvetica Neue"/>
              </a:defRPr>
            </a:lvl7pPr>
            <a:lvl8pPr>
              <a:defRPr sz="1950" b="0">
                <a:solidFill>
                  <a:srgbClr val="20333F"/>
                </a:solidFill>
                <a:latin typeface="Helvetica Neue"/>
                <a:ea typeface="Helvetica Neue"/>
                <a:cs typeface="Helvetica Neue"/>
              </a:defRPr>
            </a:lvl8pPr>
            <a:lvl9pPr>
              <a:defRPr sz="1950" b="0">
                <a:solidFill>
                  <a:srgbClr val="20333F"/>
                </a:solidFill>
                <a:latin typeface="Helvetica Neue"/>
                <a:ea typeface="Helvetica Neue"/>
                <a:cs typeface="Helvetica Neue"/>
              </a:defRPr>
            </a:lvl9pPr>
          </a:lstStyle>
          <a:p xmlns:a="http://schemas.openxmlformats.org/drawingml/2006/main">
            <a:pPr>
              <a:defRPr sz="1950" b="0">
                <a:solidFill>
                  <a:srgbClr val="20333F"/>
                </a:solidFill>
                <a:latin typeface="Helvetica Neue"/>
                <a:ea typeface="Helvetica Neue"/>
                <a:cs typeface="Helvetica Neue"/>
              </a:defRPr>
            </a:pPr>
            <a:r>
              <a:rPr sz="1950" b="0">
                <a:solidFill>
                  <a:srgbClr val="20333F"/>
                </a:solidFill>
                <a:latin typeface="Helvetica Neue"/>
                <a:ea typeface="Helvetica Neue"/>
                <a:cs typeface="Helvetica Neue"/>
              </a:rPr>
              <a:t>Chosen using validation data</a:t>
            </a:r>
          </a:p>
        </p:txBody>
      </p:sp>
    </p:spTree>
    <p:extLst>
      <p:ext uri="{BB962C8B-B14F-4D97-AF65-F5344CB8AC3E}">
        <p14:creationId xmlns:p14="http://schemas.microsoft.com/office/powerpoint/2010/main" val="295278558"/>
      </p:ext>
    </p:extLst>
  </p:cSld>
</p:sld>
</file>

<file path=ppt/slides/slide10.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0E2DC0F-A556-42ED-9F5E-3C6DB3D652CB}"/>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Per-category recall</a:t>
            </a:r>
          </a:p>
        </p:txBody>
      </p:sp>
      <p:sp>
        <p:nvSpPr>
          <p:cNvPr id="2" name="">
            <a:extLst xmlns:a="http://schemas.openxmlformats.org/drawingml/2006/main">
              <a:ext uri="{FF2B5EF4-FFF2-40B4-BE49-F238E27FC236}">
                <a16:creationId xmlns:a16="http://schemas.microsoft.com/office/drawing/2014/main" id="{73625DA4-D90C-4E73-B402-B4625D8E7114}"/>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E80BB18E-C491-414B-AAED-8799D9E5D641}"/>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10</a:t>
            </a:r>
          </a:p>
        </p:txBody>
      </p:sp>
      <p:graphicFrame>
        <p:nvGraphicFramePr>
          <p:cNvPr id="4" name="Chart">
            <a:extLst xmlns:a="http://schemas.openxmlformats.org/drawingml/2006/main">
              <a:ext uri="{FF2B5EF4-FFF2-40B4-BE49-F238E27FC236}">
                <a16:creationId xmlns:a16="http://schemas.microsoft.com/office/drawing/2014/main" id="{FBB381BD-6F20-496E-8645-70262DBE20A0}"/>
              </a:ext>
            </a:extLst>
          </p:cNvPr>
          <p:cNvGraphicFramePr/>
          <p:nvPr/>
        </p:nvGraphicFramePr>
        <p:xfrm>
          <a:off xmlns:a="http://schemas.openxmlformats.org/drawingml/2006/main" x="714375" y="1428750"/>
          <a:ext xmlns:a="http://schemas.openxmlformats.org/drawingml/2006/main" cx="10763250" cy="4381500"/>
        </p:xfrm>
        <a:graphic xmlns:a="http://schemas.openxmlformats.org/drawingml/2006/main">
          <a:graphicData uri="http://schemas.openxmlformats.org/drawingml/2006/chart">
            <c:chart xmlns:r="http://schemas.openxmlformats.org/officeDocument/2006/relationships" xmlns:c="http://schemas.openxmlformats.org/drawingml/2006/chart" r:id="Ree6cdb4e28cf428f"/>
          </a:graphicData>
        </a:graphic>
      </p:graphicFrame>
    </p:spTree>
    <p:extLst>
      <p:ext uri="{BB962C8B-B14F-4D97-AF65-F5344CB8AC3E}">
        <p14:creationId xmlns:p14="http://schemas.microsoft.com/office/powerpoint/2010/main" val="46770147"/>
      </p:ext>
    </p:extLst>
  </p:cSld>
</p:sld>
</file>

<file path=ppt/slides/slide11.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7CD76D7-D4B1-45FB-9AC7-72480D94DB33}"/>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Common upper-body mistakes</a:t>
            </a:r>
          </a:p>
        </p:txBody>
      </p:sp>
      <p:sp>
        <p:nvSpPr>
          <p:cNvPr id="2" name="">
            <a:extLst xmlns:a="http://schemas.openxmlformats.org/drawingml/2006/main">
              <a:ext uri="{FF2B5EF4-FFF2-40B4-BE49-F238E27FC236}">
                <a16:creationId xmlns:a16="http://schemas.microsoft.com/office/drawing/2014/main" id="{9A6AB95B-2EB2-4B8D-9C55-C61729E83139}"/>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67AA6A68-1095-4A4E-804F-3DFCA2D2871B}"/>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11</a:t>
            </a:r>
          </a:p>
        </p:txBody>
      </p:sp>
      <p:pic>
        <p:nvPicPr>
          <p:cNvPr id="4" name="">
            <a:extLst xmlns:a="http://schemas.openxmlformats.org/drawingml/2006/main">
              <a:ext uri="{FF2B5EF4-FFF2-40B4-BE49-F238E27FC236}">
                <a16:creationId xmlns:a16="http://schemas.microsoft.com/office/drawing/2014/main" id="{57563DC1-D392-43B0-93D3-941B735BC4D3}"/>
              </a:ext>
            </a:extLst>
          </p:cNvPr>
          <p:cNvPicPr>
            <a:picLocks xmlns:a="http://schemas.openxmlformats.org/drawingml/2006/main" noChangeAspect="1"/>
          </p:cNvPicPr>
          <p:nvPr/>
        </p:nvPicPr>
        <p:blipFill>
          <a:blip xmlns:r="http://schemas.openxmlformats.org/officeDocument/2006/relationships" xmlns:a="http://schemas.openxmlformats.org/drawingml/2006/main" r:embed="R6490ce2091f04db0"/>
          <a:stretch xmlns:a="http://schemas.openxmlformats.org/drawingml/2006/main"/>
        </p:blipFill>
        <p:spPr>
          <a:xfrm xmlns:a="http://schemas.openxmlformats.org/drawingml/2006/main">
            <a:off x="1355964" y="1381125"/>
            <a:ext cx="5670072" cy="46196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D4837A5-9E9E-45DF-9DF4-3D3A8D794A40}"/>
              </a:ext>
            </a:extLst>
          </p:cNvPr>
          <p:cNvSpPr>
            <a:spLocks xmlns:a="http://schemas.openxmlformats.org/drawingml/2006/main" noGrp="1"/>
          </p:cNvSpPr>
          <p:nvPr/>
        </p:nvSpPr>
        <p:spPr>
          <a:xfrm xmlns:a="http://schemas.openxmlformats.org/drawingml/2006/main">
            <a:off x="8096250" y="1857375"/>
            <a:ext cx="3333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0333F"/>
                </a:solidFill>
                <a:latin typeface="Helvetica Neue"/>
                <a:ea typeface="Helvetica Neue"/>
                <a:cs typeface="Helvetica Neue"/>
              </a:defRPr>
            </a:defPPr>
            <a:lvl1pPr>
              <a:defRPr sz="1950" b="0">
                <a:solidFill>
                  <a:srgbClr val="20333F"/>
                </a:solidFill>
                <a:latin typeface="Helvetica Neue"/>
                <a:ea typeface="Helvetica Neue"/>
                <a:cs typeface="Helvetica Neue"/>
              </a:defRPr>
            </a:lvl1pPr>
            <a:lvl2pPr>
              <a:defRPr sz="1950" b="0">
                <a:solidFill>
                  <a:srgbClr val="20333F"/>
                </a:solidFill>
                <a:latin typeface="Helvetica Neue"/>
                <a:ea typeface="Helvetica Neue"/>
                <a:cs typeface="Helvetica Neue"/>
              </a:defRPr>
            </a:lvl2pPr>
            <a:lvl3pPr>
              <a:defRPr sz="1950" b="0">
                <a:solidFill>
                  <a:srgbClr val="20333F"/>
                </a:solidFill>
                <a:latin typeface="Helvetica Neue"/>
                <a:ea typeface="Helvetica Neue"/>
                <a:cs typeface="Helvetica Neue"/>
              </a:defRPr>
            </a:lvl3pPr>
            <a:lvl4pPr>
              <a:defRPr sz="1950" b="0">
                <a:solidFill>
                  <a:srgbClr val="20333F"/>
                </a:solidFill>
                <a:latin typeface="Helvetica Neue"/>
                <a:ea typeface="Helvetica Neue"/>
                <a:cs typeface="Helvetica Neue"/>
              </a:defRPr>
            </a:lvl4pPr>
            <a:lvl5pPr>
              <a:defRPr sz="1950" b="0">
                <a:solidFill>
                  <a:srgbClr val="20333F"/>
                </a:solidFill>
                <a:latin typeface="Helvetica Neue"/>
                <a:ea typeface="Helvetica Neue"/>
                <a:cs typeface="Helvetica Neue"/>
              </a:defRPr>
            </a:lvl5pPr>
            <a:lvl6pPr>
              <a:defRPr sz="1950" b="0">
                <a:solidFill>
                  <a:srgbClr val="20333F"/>
                </a:solidFill>
                <a:latin typeface="Helvetica Neue"/>
                <a:ea typeface="Helvetica Neue"/>
                <a:cs typeface="Helvetica Neue"/>
              </a:defRPr>
            </a:lvl6pPr>
            <a:lvl7pPr>
              <a:defRPr sz="1950" b="0">
                <a:solidFill>
                  <a:srgbClr val="20333F"/>
                </a:solidFill>
                <a:latin typeface="Helvetica Neue"/>
                <a:ea typeface="Helvetica Neue"/>
                <a:cs typeface="Helvetica Neue"/>
              </a:defRPr>
            </a:lvl7pPr>
            <a:lvl8pPr>
              <a:defRPr sz="1950" b="0">
                <a:solidFill>
                  <a:srgbClr val="20333F"/>
                </a:solidFill>
                <a:latin typeface="Helvetica Neue"/>
                <a:ea typeface="Helvetica Neue"/>
                <a:cs typeface="Helvetica Neue"/>
              </a:defRPr>
            </a:lvl8pPr>
            <a:lvl9pPr>
              <a:defRPr sz="1950" b="0">
                <a:solidFill>
                  <a:srgbClr val="20333F"/>
                </a:solidFill>
                <a:latin typeface="Helvetica Neue"/>
                <a:ea typeface="Helvetica Neue"/>
                <a:cs typeface="Helvetica Neue"/>
              </a:defRPr>
            </a:lvl9pPr>
          </a:lstStyle>
          <a:p xmlns:a="http://schemas.openxmlformats.org/drawingml/2006/main">
            <a:pPr>
              <a:defRPr sz="1950" b="0">
                <a:solidFill>
                  <a:srgbClr val="20333F"/>
                </a:solidFill>
                <a:latin typeface="Helvetica Neue"/>
                <a:ea typeface="Helvetica Neue"/>
                <a:cs typeface="Helvetica Neue"/>
              </a:defRPr>
            </a:pPr>
            <a:r>
              <a:rPr sz="1950" b="0">
                <a:solidFill>
                  <a:srgbClr val="20333F"/>
                </a:solidFill>
                <a:latin typeface="Helvetica Neue"/>
                <a:ea typeface="Helvetica Neue"/>
                <a:cs typeface="Helvetica Neue"/>
              </a:rPr>
              <a:t>Shirt as T-shirt/top</a:t>
            </a:r>
          </a:p>
          <a:p xmlns:a="http://schemas.openxmlformats.org/drawingml/2006/main">
            <a:pPr>
              <a:defRPr sz="1950" b="0">
                <a:solidFill>
                  <a:srgbClr val="20333F"/>
                </a:solidFill>
                <a:latin typeface="Helvetica Neue"/>
                <a:ea typeface="Helvetica Neue"/>
                <a:cs typeface="Helvetica Neue"/>
              </a:defRPr>
            </a:pPr>
            <a:r>
              <a:rPr sz="1950" b="0">
                <a:solidFill>
                  <a:srgbClr val="20333F"/>
                </a:solidFill>
                <a:latin typeface="Helvetica Neue"/>
                <a:ea typeface="Helvetica Neue"/>
                <a:cs typeface="Helvetica Neue"/>
              </a:rPr>
              <a:t>149 errors</a:t>
            </a:r>
          </a:p>
        </p:txBody>
      </p:sp>
      <p:sp>
        <p:nvSpPr>
          <p:cNvPr id="6" name="">
            <a:extLst xmlns:a="http://schemas.openxmlformats.org/drawingml/2006/main">
              <a:ext uri="{FF2B5EF4-FFF2-40B4-BE49-F238E27FC236}">
                <a16:creationId xmlns:a16="http://schemas.microsoft.com/office/drawing/2014/main" id="{6642100A-49E6-4647-96AF-47A3A3B42A50}"/>
              </a:ext>
            </a:extLst>
          </p:cNvPr>
          <p:cNvSpPr>
            <a:spLocks xmlns:a="http://schemas.openxmlformats.org/drawingml/2006/main" noGrp="1"/>
          </p:cNvSpPr>
          <p:nvPr/>
        </p:nvSpPr>
        <p:spPr>
          <a:xfrm xmlns:a="http://schemas.openxmlformats.org/drawingml/2006/main">
            <a:off x="8096250" y="3095625"/>
            <a:ext cx="3333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0333F"/>
                </a:solidFill>
                <a:latin typeface="Helvetica Neue"/>
                <a:ea typeface="Helvetica Neue"/>
                <a:cs typeface="Helvetica Neue"/>
              </a:defRPr>
            </a:defPPr>
            <a:lvl1pPr>
              <a:defRPr sz="1950" b="0">
                <a:solidFill>
                  <a:srgbClr val="20333F"/>
                </a:solidFill>
                <a:latin typeface="Helvetica Neue"/>
                <a:ea typeface="Helvetica Neue"/>
                <a:cs typeface="Helvetica Neue"/>
              </a:defRPr>
            </a:lvl1pPr>
            <a:lvl2pPr>
              <a:defRPr sz="1950" b="0">
                <a:solidFill>
                  <a:srgbClr val="20333F"/>
                </a:solidFill>
                <a:latin typeface="Helvetica Neue"/>
                <a:ea typeface="Helvetica Neue"/>
                <a:cs typeface="Helvetica Neue"/>
              </a:defRPr>
            </a:lvl2pPr>
            <a:lvl3pPr>
              <a:defRPr sz="1950" b="0">
                <a:solidFill>
                  <a:srgbClr val="20333F"/>
                </a:solidFill>
                <a:latin typeface="Helvetica Neue"/>
                <a:ea typeface="Helvetica Neue"/>
                <a:cs typeface="Helvetica Neue"/>
              </a:defRPr>
            </a:lvl3pPr>
            <a:lvl4pPr>
              <a:defRPr sz="1950" b="0">
                <a:solidFill>
                  <a:srgbClr val="20333F"/>
                </a:solidFill>
                <a:latin typeface="Helvetica Neue"/>
                <a:ea typeface="Helvetica Neue"/>
                <a:cs typeface="Helvetica Neue"/>
              </a:defRPr>
            </a:lvl4pPr>
            <a:lvl5pPr>
              <a:defRPr sz="1950" b="0">
                <a:solidFill>
                  <a:srgbClr val="20333F"/>
                </a:solidFill>
                <a:latin typeface="Helvetica Neue"/>
                <a:ea typeface="Helvetica Neue"/>
                <a:cs typeface="Helvetica Neue"/>
              </a:defRPr>
            </a:lvl5pPr>
            <a:lvl6pPr>
              <a:defRPr sz="1950" b="0">
                <a:solidFill>
                  <a:srgbClr val="20333F"/>
                </a:solidFill>
                <a:latin typeface="Helvetica Neue"/>
                <a:ea typeface="Helvetica Neue"/>
                <a:cs typeface="Helvetica Neue"/>
              </a:defRPr>
            </a:lvl6pPr>
            <a:lvl7pPr>
              <a:defRPr sz="1950" b="0">
                <a:solidFill>
                  <a:srgbClr val="20333F"/>
                </a:solidFill>
                <a:latin typeface="Helvetica Neue"/>
                <a:ea typeface="Helvetica Neue"/>
                <a:cs typeface="Helvetica Neue"/>
              </a:defRPr>
            </a:lvl7pPr>
            <a:lvl8pPr>
              <a:defRPr sz="1950" b="0">
                <a:solidFill>
                  <a:srgbClr val="20333F"/>
                </a:solidFill>
                <a:latin typeface="Helvetica Neue"/>
                <a:ea typeface="Helvetica Neue"/>
                <a:cs typeface="Helvetica Neue"/>
              </a:defRPr>
            </a:lvl8pPr>
            <a:lvl9pPr>
              <a:defRPr sz="1950" b="0">
                <a:solidFill>
                  <a:srgbClr val="20333F"/>
                </a:solidFill>
                <a:latin typeface="Helvetica Neue"/>
                <a:ea typeface="Helvetica Neue"/>
                <a:cs typeface="Helvetica Neue"/>
              </a:defRPr>
            </a:lvl9pPr>
          </a:lstStyle>
          <a:p xmlns:a="http://schemas.openxmlformats.org/drawingml/2006/main">
            <a:pPr>
              <a:defRPr sz="1950" b="0">
                <a:solidFill>
                  <a:srgbClr val="20333F"/>
                </a:solidFill>
                <a:latin typeface="Helvetica Neue"/>
                <a:ea typeface="Helvetica Neue"/>
                <a:cs typeface="Helvetica Neue"/>
              </a:defRPr>
            </a:pPr>
            <a:r>
              <a:rPr sz="1950" b="0">
                <a:solidFill>
                  <a:srgbClr val="20333F"/>
                </a:solidFill>
                <a:latin typeface="Helvetica Neue"/>
                <a:ea typeface="Helvetica Neue"/>
                <a:cs typeface="Helvetica Neue"/>
              </a:rPr>
              <a:t>Shirt as Pullover</a:t>
            </a:r>
          </a:p>
          <a:p xmlns:a="http://schemas.openxmlformats.org/drawingml/2006/main">
            <a:pPr>
              <a:defRPr sz="1950" b="0">
                <a:solidFill>
                  <a:srgbClr val="20333F"/>
                </a:solidFill>
                <a:latin typeface="Helvetica Neue"/>
                <a:ea typeface="Helvetica Neue"/>
                <a:cs typeface="Helvetica Neue"/>
              </a:defRPr>
            </a:pPr>
            <a:r>
              <a:rPr sz="1950" b="0">
                <a:solidFill>
                  <a:srgbClr val="20333F"/>
                </a:solidFill>
                <a:latin typeface="Helvetica Neue"/>
                <a:ea typeface="Helvetica Neue"/>
                <a:cs typeface="Helvetica Neue"/>
              </a:rPr>
              <a:t>124 errors</a:t>
            </a:r>
          </a:p>
        </p:txBody>
      </p:sp>
      <p:sp>
        <p:nvSpPr>
          <p:cNvPr id="7" name="">
            <a:extLst xmlns:a="http://schemas.openxmlformats.org/drawingml/2006/main">
              <a:ext uri="{FF2B5EF4-FFF2-40B4-BE49-F238E27FC236}">
                <a16:creationId xmlns:a16="http://schemas.microsoft.com/office/drawing/2014/main" id="{CB898F58-8939-4295-812F-0AA6263C1B48}"/>
              </a:ext>
            </a:extLst>
          </p:cNvPr>
          <p:cNvSpPr>
            <a:spLocks xmlns:a="http://schemas.openxmlformats.org/drawingml/2006/main" noGrp="1"/>
          </p:cNvSpPr>
          <p:nvPr/>
        </p:nvSpPr>
        <p:spPr>
          <a:xfrm xmlns:a="http://schemas.openxmlformats.org/drawingml/2006/main">
            <a:off x="8096250" y="4333875"/>
            <a:ext cx="3333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0333F"/>
                </a:solidFill>
                <a:latin typeface="Helvetica Neue"/>
                <a:ea typeface="Helvetica Neue"/>
                <a:cs typeface="Helvetica Neue"/>
              </a:defRPr>
            </a:defPPr>
            <a:lvl1pPr>
              <a:defRPr sz="1950" b="0">
                <a:solidFill>
                  <a:srgbClr val="20333F"/>
                </a:solidFill>
                <a:latin typeface="Helvetica Neue"/>
                <a:ea typeface="Helvetica Neue"/>
                <a:cs typeface="Helvetica Neue"/>
              </a:defRPr>
            </a:lvl1pPr>
            <a:lvl2pPr>
              <a:defRPr sz="1950" b="0">
                <a:solidFill>
                  <a:srgbClr val="20333F"/>
                </a:solidFill>
                <a:latin typeface="Helvetica Neue"/>
                <a:ea typeface="Helvetica Neue"/>
                <a:cs typeface="Helvetica Neue"/>
              </a:defRPr>
            </a:lvl2pPr>
            <a:lvl3pPr>
              <a:defRPr sz="1950" b="0">
                <a:solidFill>
                  <a:srgbClr val="20333F"/>
                </a:solidFill>
                <a:latin typeface="Helvetica Neue"/>
                <a:ea typeface="Helvetica Neue"/>
                <a:cs typeface="Helvetica Neue"/>
              </a:defRPr>
            </a:lvl3pPr>
            <a:lvl4pPr>
              <a:defRPr sz="1950" b="0">
                <a:solidFill>
                  <a:srgbClr val="20333F"/>
                </a:solidFill>
                <a:latin typeface="Helvetica Neue"/>
                <a:ea typeface="Helvetica Neue"/>
                <a:cs typeface="Helvetica Neue"/>
              </a:defRPr>
            </a:lvl4pPr>
            <a:lvl5pPr>
              <a:defRPr sz="1950" b="0">
                <a:solidFill>
                  <a:srgbClr val="20333F"/>
                </a:solidFill>
                <a:latin typeface="Helvetica Neue"/>
                <a:ea typeface="Helvetica Neue"/>
                <a:cs typeface="Helvetica Neue"/>
              </a:defRPr>
            </a:lvl5pPr>
            <a:lvl6pPr>
              <a:defRPr sz="1950" b="0">
                <a:solidFill>
                  <a:srgbClr val="20333F"/>
                </a:solidFill>
                <a:latin typeface="Helvetica Neue"/>
                <a:ea typeface="Helvetica Neue"/>
                <a:cs typeface="Helvetica Neue"/>
              </a:defRPr>
            </a:lvl6pPr>
            <a:lvl7pPr>
              <a:defRPr sz="1950" b="0">
                <a:solidFill>
                  <a:srgbClr val="20333F"/>
                </a:solidFill>
                <a:latin typeface="Helvetica Neue"/>
                <a:ea typeface="Helvetica Neue"/>
                <a:cs typeface="Helvetica Neue"/>
              </a:defRPr>
            </a:lvl7pPr>
            <a:lvl8pPr>
              <a:defRPr sz="1950" b="0">
                <a:solidFill>
                  <a:srgbClr val="20333F"/>
                </a:solidFill>
                <a:latin typeface="Helvetica Neue"/>
                <a:ea typeface="Helvetica Neue"/>
                <a:cs typeface="Helvetica Neue"/>
              </a:defRPr>
            </a:lvl8pPr>
            <a:lvl9pPr>
              <a:defRPr sz="1950" b="0">
                <a:solidFill>
                  <a:srgbClr val="20333F"/>
                </a:solidFill>
                <a:latin typeface="Helvetica Neue"/>
                <a:ea typeface="Helvetica Neue"/>
                <a:cs typeface="Helvetica Neue"/>
              </a:defRPr>
            </a:lvl9pPr>
          </a:lstStyle>
          <a:p xmlns:a="http://schemas.openxmlformats.org/drawingml/2006/main">
            <a:pPr>
              <a:defRPr sz="1950" b="0">
                <a:solidFill>
                  <a:srgbClr val="20333F"/>
                </a:solidFill>
                <a:latin typeface="Helvetica Neue"/>
                <a:ea typeface="Helvetica Neue"/>
                <a:cs typeface="Helvetica Neue"/>
              </a:defRPr>
            </a:pPr>
            <a:r>
              <a:rPr sz="1950" b="0">
                <a:solidFill>
                  <a:srgbClr val="20333F"/>
                </a:solidFill>
                <a:latin typeface="Helvetica Neue"/>
                <a:ea typeface="Helvetica Neue"/>
                <a:cs typeface="Helvetica Neue"/>
              </a:rPr>
              <a:t>Pullover as Coat</a:t>
            </a:r>
          </a:p>
          <a:p xmlns:a="http://schemas.openxmlformats.org/drawingml/2006/main">
            <a:pPr>
              <a:defRPr sz="1950" b="0">
                <a:solidFill>
                  <a:srgbClr val="20333F"/>
                </a:solidFill>
                <a:latin typeface="Helvetica Neue"/>
                <a:ea typeface="Helvetica Neue"/>
                <a:cs typeface="Helvetica Neue"/>
              </a:defRPr>
            </a:pPr>
            <a:r>
              <a:rPr sz="1950" b="0">
                <a:solidFill>
                  <a:srgbClr val="20333F"/>
                </a:solidFill>
                <a:latin typeface="Helvetica Neue"/>
                <a:ea typeface="Helvetica Neue"/>
                <a:cs typeface="Helvetica Neue"/>
              </a:rPr>
              <a:t>116 errors</a:t>
            </a:r>
          </a:p>
        </p:txBody>
      </p:sp>
    </p:spTree>
    <p:extLst>
      <p:ext uri="{BB962C8B-B14F-4D97-AF65-F5344CB8AC3E}">
        <p14:creationId xmlns:p14="http://schemas.microsoft.com/office/powerpoint/2010/main" val="171262258"/>
      </p:ext>
    </p:extLst>
  </p:cSld>
</p:sld>
</file>

<file path=ppt/slides/slide12.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F988E82-9CD0-451D-AAA0-B0E9AA63BA85}"/>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Prediction time and model size</a:t>
            </a:r>
          </a:p>
        </p:txBody>
      </p:sp>
      <p:sp>
        <p:nvSpPr>
          <p:cNvPr id="2" name="">
            <a:extLst xmlns:a="http://schemas.openxmlformats.org/drawingml/2006/main">
              <a:ext uri="{FF2B5EF4-FFF2-40B4-BE49-F238E27FC236}">
                <a16:creationId xmlns:a16="http://schemas.microsoft.com/office/drawing/2014/main" id="{E165FC9E-21BA-46FD-A618-DBCC40E925E3}"/>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BD54857E-0F45-49B3-B7BC-7F0604C56867}"/>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12</a:t>
            </a:r>
          </a:p>
        </p:txBody>
      </p:sp>
      <p:graphicFrame>
        <p:nvGraphicFramePr>
          <p:cNvPr id="4" name="">
            <a:extLst xmlns:a="http://schemas.openxmlformats.org/drawingml/2006/main">
              <a:ext uri="{FF2B5EF4-FFF2-40B4-BE49-F238E27FC236}">
                <a16:creationId xmlns:a16="http://schemas.microsoft.com/office/drawing/2014/main" id="{38ACBC6A-6F3E-4B14-90B1-C477F1F76D8C}"/>
              </a:ext>
            </a:extLst>
          </p:cNvPr>
          <p:cNvGraphicFramePr/>
          <p:nvPr/>
        </p:nvGraphicFramePr>
        <p:xfrm>
          <a:off xmlns:a="http://schemas.openxmlformats.org/drawingml/2006/main" x="714375" y="1476375"/>
          <a:ext xmlns:a="http://schemas.openxmlformats.org/drawingml/2006/main" cx="10715625" cy="3524250"/>
        </p:xfrm>
        <a:graphic xmlns:a="http://schemas.openxmlformats.org/drawingml/2006/main">
          <a:graphicData uri="http://schemas.openxmlformats.org/drawingml/2006/table">
            <a:tbl>
              <a:tblPr/>
              <a:tblGrid>
                <a:gridCol w="6191250"/>
                <a:gridCol w="4524375"/>
              </a:tblGrid>
              <a:tr h="704850">
                <a:tc>
                  <a:txBody>
                    <a:bodyPr/>
                    <a:lstStyle/>
                    <a:p>
                      <a:r>
                        <a:rPr sz="1800" b="1">
                          <a:solidFill>
                            <a:srgbClr val="FFFFFF"/>
                          </a:solidFill>
                          <a:latin typeface="Helvetica Neue"/>
                          <a:ea typeface="Helvetica Neue"/>
                          <a:cs typeface="Helvetica Neue"/>
                        </a:rPr>
                        <a:t>Measure</a:t>
                      </a:r>
                    </a:p>
                  </a:txBody>
                  <a:tcPr marL="91440" marR="91440" marT="45720" marB="45720">
                    <a:solidFill>
                      <a:srgbClr val="185B70"/>
                    </a:solidFill>
                  </a:tcPr>
                </a:tc>
                <a:tc>
                  <a:txBody>
                    <a:bodyPr/>
                    <a:lstStyle/>
                    <a:p>
                      <a:r>
                        <a:rPr sz="1800" b="1">
                          <a:solidFill>
                            <a:srgbClr val="FFFFFF"/>
                          </a:solidFill>
                          <a:latin typeface="Helvetica Neue"/>
                          <a:ea typeface="Helvetica Neue"/>
                          <a:cs typeface="Helvetica Neue"/>
                        </a:rPr>
                        <a:t>Selected model</a:t>
                      </a:r>
                    </a:p>
                  </a:txBody>
                  <a:tcPr marL="91440" marR="91440" marT="45720" marB="45720">
                    <a:solidFill>
                      <a:srgbClr val="185B70"/>
                    </a:solidFill>
                  </a:tcPr>
                </a:tc>
              </a:tr>
              <a:tr h="704850">
                <a:tc>
                  <a:txBody>
                    <a:bodyPr/>
                    <a:lstStyle/>
                    <a:p>
                      <a:r>
                        <a:rPr sz="1800" b="0">
                          <a:solidFill>
                            <a:srgbClr val="20333F"/>
                          </a:solidFill>
                          <a:latin typeface="Helvetica Neue"/>
                          <a:ea typeface="Helvetica Neue"/>
                          <a:cs typeface="Helvetica Neue"/>
                        </a:rPr>
                        <a:t>Single-image median</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24.98 ms</a:t>
                      </a:r>
                    </a:p>
                  </a:txBody>
                  <a:tcPr marL="91440" marR="91440" marT="45720" marB="45720">
                    <a:solidFill>
                      <a:srgbClr val="EDF3F5"/>
                    </a:solidFill>
                  </a:tcPr>
                </a:tc>
              </a:tr>
              <a:tr h="704850">
                <a:tc>
                  <a:txBody>
                    <a:bodyPr/>
                    <a:lstStyle/>
                    <a:p>
                      <a:r>
                        <a:rPr sz="1800" b="0">
                          <a:solidFill>
                            <a:srgbClr val="20333F"/>
                          </a:solidFill>
                          <a:latin typeface="Helvetica Neue"/>
                          <a:ea typeface="Helvetica Neue"/>
                          <a:cs typeface="Helvetica Neue"/>
                        </a:rPr>
                        <a:t>Batch throughput</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5120 images/s</a:t>
                      </a:r>
                    </a:p>
                  </a:txBody>
                  <a:tcPr marL="91440" marR="91440" marT="45720" marB="45720">
                    <a:solidFill>
                      <a:srgbClr val="FFFFFF"/>
                    </a:solidFill>
                  </a:tcPr>
                </a:tc>
              </a:tr>
              <a:tr h="704850">
                <a:tc>
                  <a:txBody>
                    <a:bodyPr/>
                    <a:lstStyle/>
                    <a:p>
                      <a:r>
                        <a:rPr sz="1800" b="0">
                          <a:solidFill>
                            <a:srgbClr val="20333F"/>
                          </a:solidFill>
                          <a:latin typeface="Helvetica Neue"/>
                          <a:ea typeface="Helvetica Neue"/>
                          <a:cs typeface="Helvetica Neue"/>
                        </a:rPr>
                        <a:t>Saved model size</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69.96 MiB</a:t>
                      </a:r>
                    </a:p>
                  </a:txBody>
                  <a:tcPr marL="91440" marR="91440" marT="45720" marB="45720">
                    <a:solidFill>
                      <a:srgbClr val="EDF3F5"/>
                    </a:solidFill>
                  </a:tcPr>
                </a:tc>
              </a:tr>
              <a:tr h="704850">
                <a:tc>
                  <a:txBody>
                    <a:bodyPr/>
                    <a:lstStyle/>
                    <a:p>
                      <a:r>
                        <a:rPr sz="1800" b="0">
                          <a:solidFill>
                            <a:srgbClr val="20333F"/>
                          </a:solidFill>
                          <a:latin typeface="Helvetica Neue"/>
                          <a:ea typeface="Helvetica Neue"/>
                          <a:cs typeface="Helvetica Neue"/>
                        </a:rPr>
                        <a:t>tree nodes</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3264176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205962C-CF5E-4F8E-B50A-67C8997DF823}"/>
              </a:ext>
            </a:extLst>
          </p:cNvPr>
          <p:cNvSpPr>
            <a:spLocks xmlns:a="http://schemas.openxmlformats.org/drawingml/2006/main" noGrp="1"/>
          </p:cNvSpPr>
          <p:nvPr/>
        </p:nvSpPr>
        <p:spPr>
          <a:xfrm xmlns:a="http://schemas.openxmlformats.org/drawingml/2006/main">
            <a:off x="714375" y="54292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0333F"/>
                </a:solidFill>
                <a:latin typeface="Helvetica Neue"/>
                <a:ea typeface="Helvetica Neue"/>
                <a:cs typeface="Helvetica Neue"/>
              </a:defRPr>
            </a:defPPr>
            <a:lvl1pPr>
              <a:defRPr sz="1950" b="0">
                <a:solidFill>
                  <a:srgbClr val="20333F"/>
                </a:solidFill>
                <a:latin typeface="Helvetica Neue"/>
                <a:ea typeface="Helvetica Neue"/>
                <a:cs typeface="Helvetica Neue"/>
              </a:defRPr>
            </a:lvl1pPr>
            <a:lvl2pPr>
              <a:defRPr sz="1950" b="0">
                <a:solidFill>
                  <a:srgbClr val="20333F"/>
                </a:solidFill>
                <a:latin typeface="Helvetica Neue"/>
                <a:ea typeface="Helvetica Neue"/>
                <a:cs typeface="Helvetica Neue"/>
              </a:defRPr>
            </a:lvl2pPr>
            <a:lvl3pPr>
              <a:defRPr sz="1950" b="0">
                <a:solidFill>
                  <a:srgbClr val="20333F"/>
                </a:solidFill>
                <a:latin typeface="Helvetica Neue"/>
                <a:ea typeface="Helvetica Neue"/>
                <a:cs typeface="Helvetica Neue"/>
              </a:defRPr>
            </a:lvl3pPr>
            <a:lvl4pPr>
              <a:defRPr sz="1950" b="0">
                <a:solidFill>
                  <a:srgbClr val="20333F"/>
                </a:solidFill>
                <a:latin typeface="Helvetica Neue"/>
                <a:ea typeface="Helvetica Neue"/>
                <a:cs typeface="Helvetica Neue"/>
              </a:defRPr>
            </a:lvl4pPr>
            <a:lvl5pPr>
              <a:defRPr sz="1950" b="0">
                <a:solidFill>
                  <a:srgbClr val="20333F"/>
                </a:solidFill>
                <a:latin typeface="Helvetica Neue"/>
                <a:ea typeface="Helvetica Neue"/>
                <a:cs typeface="Helvetica Neue"/>
              </a:defRPr>
            </a:lvl5pPr>
            <a:lvl6pPr>
              <a:defRPr sz="1950" b="0">
                <a:solidFill>
                  <a:srgbClr val="20333F"/>
                </a:solidFill>
                <a:latin typeface="Helvetica Neue"/>
                <a:ea typeface="Helvetica Neue"/>
                <a:cs typeface="Helvetica Neue"/>
              </a:defRPr>
            </a:lvl6pPr>
            <a:lvl7pPr>
              <a:defRPr sz="1950" b="0">
                <a:solidFill>
                  <a:srgbClr val="20333F"/>
                </a:solidFill>
                <a:latin typeface="Helvetica Neue"/>
                <a:ea typeface="Helvetica Neue"/>
                <a:cs typeface="Helvetica Neue"/>
              </a:defRPr>
            </a:lvl7pPr>
            <a:lvl8pPr>
              <a:defRPr sz="1950" b="0">
                <a:solidFill>
                  <a:srgbClr val="20333F"/>
                </a:solidFill>
                <a:latin typeface="Helvetica Neue"/>
                <a:ea typeface="Helvetica Neue"/>
                <a:cs typeface="Helvetica Neue"/>
              </a:defRPr>
            </a:lvl8pPr>
            <a:lvl9pPr>
              <a:defRPr sz="1950" b="0">
                <a:solidFill>
                  <a:srgbClr val="20333F"/>
                </a:solidFill>
                <a:latin typeface="Helvetica Neue"/>
                <a:ea typeface="Helvetica Neue"/>
                <a:cs typeface="Helvetica Neue"/>
              </a:defRPr>
            </a:lvl9pPr>
          </a:lstStyle>
          <a:p xmlns:a="http://schemas.openxmlformats.org/drawingml/2006/main">
            <a:pPr>
              <a:defRPr sz="1950" b="0">
                <a:solidFill>
                  <a:srgbClr val="20333F"/>
                </a:solidFill>
                <a:latin typeface="Helvetica Neue"/>
                <a:ea typeface="Helvetica Neue"/>
                <a:cs typeface="Helvetica Neue"/>
              </a:defRPr>
            </a:pPr>
            <a:r>
              <a:rPr sz="1950" b="0">
                <a:solidFill>
                  <a:srgbClr val="20333F"/>
                </a:solidFill>
                <a:latin typeface="Helvetica Neue"/>
                <a:ea typeface="Helvetica Neue"/>
                <a:cs typeface="Helvetica Neue"/>
              </a:rPr>
              <a:t>Capacity counts mean different things for each model family</a:t>
            </a:r>
          </a:p>
        </p:txBody>
      </p:sp>
    </p:spTree>
    <p:extLst>
      <p:ext uri="{BB962C8B-B14F-4D97-AF65-F5344CB8AC3E}">
        <p14:creationId xmlns:p14="http://schemas.microsoft.com/office/powerpoint/2010/main" val="2109123305"/>
      </p:ext>
    </p:extLst>
  </p:cSld>
</p:sld>
</file>

<file path=ppt/slides/slide13.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7C33276-C75A-435E-9CF4-5234EC7897D9}"/>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Limitations and the CNN phase</a:t>
            </a:r>
          </a:p>
        </p:txBody>
      </p:sp>
      <p:sp>
        <p:nvSpPr>
          <p:cNvPr id="2" name="">
            <a:extLst xmlns:a="http://schemas.openxmlformats.org/drawingml/2006/main">
              <a:ext uri="{FF2B5EF4-FFF2-40B4-BE49-F238E27FC236}">
                <a16:creationId xmlns:a16="http://schemas.microsoft.com/office/drawing/2014/main" id="{350393B3-D249-4CF3-891F-4566D3349568}"/>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EC6DA9FB-8650-4F20-8789-26ED8C186F36}"/>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13</a:t>
            </a:r>
          </a:p>
        </p:txBody>
      </p:sp>
      <p:sp>
        <p:nvSpPr>
          <p:cNvPr id="4" name="">
            <a:extLst xmlns:a="http://schemas.openxmlformats.org/drawingml/2006/main">
              <a:ext uri="{FF2B5EF4-FFF2-40B4-BE49-F238E27FC236}">
                <a16:creationId xmlns:a16="http://schemas.microsoft.com/office/drawing/2014/main" id="{21D163D5-1F73-4A22-8906-CB0BE0DDEB10}"/>
              </a:ext>
            </a:extLst>
          </p:cNvPr>
          <p:cNvSpPr>
            <a:spLocks xmlns:a="http://schemas.openxmlformats.org/drawingml/2006/main" noGrp="1"/>
          </p:cNvSpPr>
          <p:nvPr/>
        </p:nvSpPr>
        <p:spPr>
          <a:xfrm xmlns:a="http://schemas.openxmlformats.org/drawingml/2006/main">
            <a:off x="714375" y="1476375"/>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One split and seed, with a limited settings search</a:t>
            </a:r>
          </a:p>
        </p:txBody>
      </p:sp>
      <p:sp>
        <p:nvSpPr>
          <p:cNvPr id="5" name="">
            <a:extLst xmlns:a="http://schemas.openxmlformats.org/drawingml/2006/main">
              <a:ext uri="{FF2B5EF4-FFF2-40B4-BE49-F238E27FC236}">
                <a16:creationId xmlns:a16="http://schemas.microsoft.com/office/drawing/2014/main" id="{105CC4BE-1D03-4FC8-BD5E-6A1FC3E74453}"/>
              </a:ext>
            </a:extLst>
          </p:cNvPr>
          <p:cNvSpPr>
            <a:spLocks xmlns:a="http://schemas.openxmlformats.org/drawingml/2006/main" noGrp="1"/>
          </p:cNvSpPr>
          <p:nvPr/>
        </p:nvSpPr>
        <p:spPr>
          <a:xfrm xmlns:a="http://schemas.openxmlformats.org/drawingml/2006/main">
            <a:off x="714375" y="2476500"/>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Phone photos and new categories still need testing</a:t>
            </a:r>
          </a:p>
        </p:txBody>
      </p:sp>
      <p:sp>
        <p:nvSpPr>
          <p:cNvPr id="6" name="">
            <a:extLst xmlns:a="http://schemas.openxmlformats.org/drawingml/2006/main">
              <a:ext uri="{FF2B5EF4-FFF2-40B4-BE49-F238E27FC236}">
                <a16:creationId xmlns:a16="http://schemas.microsoft.com/office/drawing/2014/main" id="{0D0F3E30-3F39-442C-9E0D-F58E7AF0DDC2}"/>
              </a:ext>
            </a:extLst>
          </p:cNvPr>
          <p:cNvSpPr>
            <a:spLocks xmlns:a="http://schemas.openxmlformats.org/drawingml/2006/main" noGrp="1"/>
          </p:cNvSpPr>
          <p:nvPr/>
        </p:nvSpPr>
        <p:spPr>
          <a:xfrm xmlns:a="http://schemas.openxmlformats.org/drawingml/2006/main">
            <a:off x="714375" y="3476625"/>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We acknowledge the reference. These scores come from our own runs</a:t>
            </a:r>
          </a:p>
        </p:txBody>
      </p:sp>
      <p:sp>
        <p:nvSpPr>
          <p:cNvPr id="7" name="">
            <a:extLst xmlns:a="http://schemas.openxmlformats.org/drawingml/2006/main">
              <a:ext uri="{FF2B5EF4-FFF2-40B4-BE49-F238E27FC236}">
                <a16:creationId xmlns:a16="http://schemas.microsoft.com/office/drawing/2014/main" id="{B33E0D33-848D-4294-8FA7-3FF5F20C409F}"/>
              </a:ext>
            </a:extLst>
          </p:cNvPr>
          <p:cNvSpPr>
            <a:spLocks xmlns:a="http://schemas.openxmlformats.org/drawingml/2006/main" noGrp="1"/>
          </p:cNvSpPr>
          <p:nvPr/>
        </p:nvSpPr>
        <p:spPr>
          <a:xfrm xmlns:a="http://schemas.openxmlformats.org/drawingml/2006/main">
            <a:off x="714375" y="4476750"/>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Phase 2: a small CNN and experiments on its design choices</a:t>
            </a:r>
          </a:p>
        </p:txBody>
      </p:sp>
    </p:spTree>
    <p:extLst>
      <p:ext uri="{BB962C8B-B14F-4D97-AF65-F5344CB8AC3E}">
        <p14:creationId xmlns:p14="http://schemas.microsoft.com/office/powerpoint/2010/main" val="1899680780"/>
      </p:ext>
    </p:extLst>
  </p:cSld>
</p:sld>
</file>

<file path=ppt/theme/theme1.xml><?xml version="1.0" encoding="utf-8"?>
<a:theme xmlns:a="http://schemas.openxmlformats.org/drawingml/2006/main" name="Inventory Image Tagging">
  <a:themeElements>
    <a:clrScheme name="Inventory Image Tagging">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Inventory Image Tagging">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2026-10-26T20:02:14.0130000Z</dcterms:created>
  <dcterms:modified xsi:type="dcterms:W3CDTF">2026-10-26T20:02:14.0130000Z</dcterms:modified>
</coreProperties>
</file>