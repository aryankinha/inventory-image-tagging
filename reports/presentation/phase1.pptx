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a14042a801d461e" /><Relationship Type="http://schemas.openxmlformats.org/officeDocument/2006/relationships/extended-properties" Target="/docProps/app.xml" Id="Rf689129f6f3340f6" /><Relationship Type="http://schemas.openxmlformats.org/officeDocument/2006/relationships/officeDocument" Target="/ppt/presentation.xml" Id="R53aba9d154784227" /></Relationships>
</file>

<file path=ppt/presentation.xml><?xml version="1.0" encoding="utf-8"?>
<p:presentation xmlns:p="http://schemas.openxmlformats.org/presentationml/2006/main">
  <p:sldMasterIdLst>
    <p:sldMasterId xmlns:r="http://schemas.openxmlformats.org/officeDocument/2006/relationships" id="2147483648" r:id="R99ed7896d52449bb"/>
  </p:sldMasterIdLst>
  <p:notesMasterIdLst>
    <p:notesMasterId xmlns:r="http://schemas.openxmlformats.org/officeDocument/2006/relationships" r:id="R83488fb3aed94898"/>
  </p:notesMasterIdLst>
  <p:sldIdLst>
    <p:sldId xmlns:r="http://schemas.openxmlformats.org/officeDocument/2006/relationships" id="256" r:id="Rcd06130e3a0d49d5"/>
    <p:sldId xmlns:r="http://schemas.openxmlformats.org/officeDocument/2006/relationships" id="257" r:id="R8a5df8bf25384c31"/>
    <p:sldId xmlns:r="http://schemas.openxmlformats.org/officeDocument/2006/relationships" id="258" r:id="R2ec8482d28df410e"/>
    <p:sldId xmlns:r="http://schemas.openxmlformats.org/officeDocument/2006/relationships" id="259" r:id="Rb6edd99d65ac4d14"/>
    <p:sldId xmlns:r="http://schemas.openxmlformats.org/officeDocument/2006/relationships" id="260" r:id="R9abed787a4b0409a"/>
    <p:sldId xmlns:r="http://schemas.openxmlformats.org/officeDocument/2006/relationships" id="261" r:id="R1228fe2f7c004934"/>
    <p:sldId xmlns:r="http://schemas.openxmlformats.org/officeDocument/2006/relationships" id="262" r:id="R5726b6546a614edf"/>
    <p:sldId xmlns:r="http://schemas.openxmlformats.org/officeDocument/2006/relationships" id="263" r:id="R97aa7685a4f94902"/>
    <p:sldId xmlns:r="http://schemas.openxmlformats.org/officeDocument/2006/relationships" id="264" r:id="R7f2f3e886bc448da"/>
    <p:sldId xmlns:r="http://schemas.openxmlformats.org/officeDocument/2006/relationships" id="265" r:id="Rbde069db71164cbb"/>
    <p:sldId xmlns:r="http://schemas.openxmlformats.org/officeDocument/2006/relationships" id="266" r:id="R598d71d5d89c4975"/>
    <p:sldId xmlns:r="http://schemas.openxmlformats.org/officeDocument/2006/relationships" id="267" r:id="R69b14fc000534df7"/>
    <p:sldId xmlns:r="http://schemas.openxmlformats.org/officeDocument/2006/relationships" id="268" r:id="R461cb2105d1f4588"/>
    <p:sldId xmlns:r="http://schemas.openxmlformats.org/officeDocument/2006/relationships" id="269" r:id="Rbd03e700a85a469e"/>
    <p:sldId xmlns:r="http://schemas.openxmlformats.org/officeDocument/2006/relationships" id="270" r:id="R352405af55d54f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3bccddb71a4eff" /><Relationship Type="http://schemas.openxmlformats.org/officeDocument/2006/relationships/slideMaster" Target="/ppt/slideMasters/slideMaster1.xml" Id="R99ed7896d52449bb" /><Relationship Type="http://schemas.openxmlformats.org/officeDocument/2006/relationships/notesMaster" Target="/ppt/notesMasters/notesMaster1.xml" Id="R83488fb3aed94898" /><Relationship Type="http://schemas.openxmlformats.org/officeDocument/2006/relationships/presProps" Target="/ppt/presProps.xml" Id="R94b04fadb1c048d0" /><Relationship Type="http://schemas.openxmlformats.org/officeDocument/2006/relationships/tableStyles" Target="/ppt/tableStyles.xml" Id="Ra072f993a21c4aba" /><Relationship Type="http://schemas.openxmlformats.org/officeDocument/2006/relationships/slide" Target="/ppt/slides/slide1.xml" Id="Rcd06130e3a0d49d5" /><Relationship Type="http://schemas.openxmlformats.org/officeDocument/2006/relationships/slide" Target="/ppt/slides/slide2.xml" Id="R8a5df8bf25384c31" /><Relationship Type="http://schemas.openxmlformats.org/officeDocument/2006/relationships/slide" Target="/ppt/slides/slide3.xml" Id="R2ec8482d28df410e" /><Relationship Type="http://schemas.openxmlformats.org/officeDocument/2006/relationships/slide" Target="/ppt/slides/slide4.xml" Id="Rb6edd99d65ac4d14" /><Relationship Type="http://schemas.openxmlformats.org/officeDocument/2006/relationships/slide" Target="/ppt/slides/slide5.xml" Id="R9abed787a4b0409a" /><Relationship Type="http://schemas.openxmlformats.org/officeDocument/2006/relationships/slide" Target="/ppt/slides/slide6.xml" Id="R1228fe2f7c004934" /><Relationship Type="http://schemas.openxmlformats.org/officeDocument/2006/relationships/slide" Target="/ppt/slides/slide7.xml" Id="R5726b6546a614edf" /><Relationship Type="http://schemas.openxmlformats.org/officeDocument/2006/relationships/slide" Target="/ppt/slides/slide8.xml" Id="R97aa7685a4f94902" /><Relationship Type="http://schemas.openxmlformats.org/officeDocument/2006/relationships/slide" Target="/ppt/slides/slide9.xml" Id="R7f2f3e886bc448da" /><Relationship Type="http://schemas.openxmlformats.org/officeDocument/2006/relationships/slide" Target="/ppt/slides/slide10.xml" Id="Rbde069db71164cbb" /><Relationship Type="http://schemas.openxmlformats.org/officeDocument/2006/relationships/slide" Target="/ppt/slides/slide11.xml" Id="R598d71d5d89c4975" /><Relationship Type="http://schemas.openxmlformats.org/officeDocument/2006/relationships/slide" Target="/ppt/slides/slide12.xml" Id="R69b14fc000534df7" /><Relationship Type="http://schemas.openxmlformats.org/officeDocument/2006/relationships/slide" Target="/ppt/slides/slide13.xml" Id="R461cb2105d1f4588" /><Relationship Type="http://schemas.openxmlformats.org/officeDocument/2006/relationships/slide" Target="/ppt/slides/slide14.xml" Id="Rbd03e700a85a469e" /><Relationship Type="http://schemas.openxmlformats.org/officeDocument/2006/relationships/slide" Target="/ppt/slides/slide15.xml" Id="R352405af55d54f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d9e7a822f848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nventory Image Tagging">
  <a:themeElements>
    <a:clrScheme name="Inventory Image Tagging">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Inventory Image Tagg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0d0216226f4228" /><Relationship Type="http://schemas.openxmlformats.org/officeDocument/2006/relationships/notesMaster" Target="/ppt/notesMasters/notesMaster1.xml" Id="Rd63d04188fb94c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13c39b7ef24685" /><Relationship Type="http://schemas.openxmlformats.org/officeDocument/2006/relationships/notesMaster" Target="/ppt/notesMasters/notesMaster1.xml" Id="R0eb16aed63f342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4e358c57af4459" /><Relationship Type="http://schemas.openxmlformats.org/officeDocument/2006/relationships/notesMaster" Target="/ppt/notesMasters/notesMaster1.xml" Id="Rfb212c0c91fe43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fe33bb9f2b47d2" /><Relationship Type="http://schemas.openxmlformats.org/officeDocument/2006/relationships/notesMaster" Target="/ppt/notesMasters/notesMaster1.xml" Id="R70ac7e820d044d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53b6662f544fab" /><Relationship Type="http://schemas.openxmlformats.org/officeDocument/2006/relationships/notesMaster" Target="/ppt/notesMasters/notesMaster1.xml" Id="R3d1f63fad11442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ee1029cdeb4fd3" /><Relationship Type="http://schemas.openxmlformats.org/officeDocument/2006/relationships/notesMaster" Target="/ppt/notesMasters/notesMaster1.xml" Id="Rfb8c02f802b749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60bea108724cf1" /><Relationship Type="http://schemas.openxmlformats.org/officeDocument/2006/relationships/notesMaster" Target="/ppt/notesMasters/notesMaster1.xml" Id="R6505404129e841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ea099726fd411d" /><Relationship Type="http://schemas.openxmlformats.org/officeDocument/2006/relationships/notesMaster" Target="/ppt/notesMasters/notesMaster1.xml" Id="R43daf2d2d8fc42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641942240045ab" /><Relationship Type="http://schemas.openxmlformats.org/officeDocument/2006/relationships/notesMaster" Target="/ppt/notesMasters/notesMaster1.xml" Id="Re983dbcbfa384a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267bbbb39a4a1b" /><Relationship Type="http://schemas.openxmlformats.org/officeDocument/2006/relationships/notesMaster" Target="/ppt/notesMasters/notesMaster1.xml" Id="R18b495938d9945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cbeebf32964773" /><Relationship Type="http://schemas.openxmlformats.org/officeDocument/2006/relationships/notesMaster" Target="/ppt/notesMasters/notesMaster1.xml" Id="R073da6e676ca4e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daabd9743e49ee" /><Relationship Type="http://schemas.openxmlformats.org/officeDocument/2006/relationships/notesMaster" Target="/ppt/notesMasters/notesMaster1.xml" Id="Re85f6a474c934b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0f3db84f1b4c04" /><Relationship Type="http://schemas.openxmlformats.org/officeDocument/2006/relationships/notesMaster" Target="/ppt/notesMasters/notesMaster1.xml" Id="Rbd527edee78e41e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d0169ab77540f0" /><Relationship Type="http://schemas.openxmlformats.org/officeDocument/2006/relationships/notesMaster" Target="/ppt/notesMasters/notesMaster1.xml" Id="R2df727aaf5e540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85ee49e747546c0" /><Relationship Type="http://schemas.openxmlformats.org/officeDocument/2006/relationships/notesMaster" Target="/ppt/notesMasters/notesMaster1.xml" Id="R6e76796b619242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classical classifiers for clothing category prediction. Every model uses the same 48,000 training images. Team details: docs/team.md. Course section and formal affiliation still need to be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predict one category for one image. Identifying individual products, detecting several objects and counting stock are outside this experiment. We compare pixels and HOG within each classifier family, then inspect the errors and costs. Source: course Project Ideas p.12.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Fashion-MNIST has 60,000 official training images and 10,000 official test images. We split only the official training set, keeping equal class proportions. We save the indices for every model to reuse. Hashing checks exact duplicates, but similar images or repeated products may remain. Sources: https://arxiv.org/abs/1708.07747 and reports/data_audit.json.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show the small grayscale images the models receive. We sample them from the training partition using a fixed seed. Test errors played no part in choosing them. Source: reports/figures/training_samples.png.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Flattening keeps every pixel value, so reshaping recovers the image. HOG summarizes edge directions within cells, then normalizes nearby cells in blocks. Its rules are fixed and use no category labels. Both versions use nine direction bins and 2x2-cell blocks. Sources: features.py and https://scikit-image.org/docs/stable/auto_examples/features_detection/plot_hog.html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train each of four classifier families on pixels and coarse HOG. Logistic Regression uses StandardScaler fitted only on training features. Linear SVM uses normalized features directly, with tolerance 1e-3 and max_iter 2,000. The forest settings pair 200 trees with depth 25, and 400 trees with unrestricted depth. Sources: models.py and 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try two settings for each combination and reject candidates with convergence warnings. Validation macro F1 selects the retained candidate, with accuracy breaking ties. Additional RBF runs test C values 3 and 10 on pixels, coarse HOG and fine HOG. Changing both the classifier and descriptor prevents us from attributing a gain to just one factor. We save model hashes before test evaluation. Sources: reports/training/*_trials.json and reports/frozen.json.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test scores for the eight retained core models. Validation selected the settings before this evaluation. Among the core models, validation selected Pixels + RF, which achieves 87.61% test accuracy. Source: reports/test/results.csv.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selected fine HOG with RBF SVM using C=3 and gamma=scale. Its validation accuracy is 91.36%. On the official test set, accuracy is 90.87% and macro F1 is 0.9084. These results apply to Fashion-MNIST. The reference used 12,000 training images and reported 85.27% for its best classical model. We changed training size and settings, so the difference cannot isolate either effect. Sources: reports/frozen.json, reports/test/results.csv and the supplied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is the proportion of a true category that the model identifies correctly. Shirt recall is 71.4%, the lowest category recall. Bag recall is 98.6%. Each test category has 1,000 images, so these percentages have equal denominators. Source: reports/test/per_class.csv.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counts show the direction of each mistake. A Shirt predicted as T-shirt/top differs from the reverse error. We sample upper-body mistakes with a fixed seed for inspection. The examples do not represent all failures. Similar shapes and textures may contribute, but these images cannot establish the cause. Sources: reports/test/upper_body_confusions.csv and error_examples.csv.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the same CPU with two threads and warm each model before timing. There are 20 single-image repetitions, plus five repetitions over 1,024 images in batches of 128. Timing includes HOG, scaling and prediction, while excluding file decoding and model loading. Single-image p95 is 15.732 ms. Batch throughput is a separate measure. Sources: reports/test/results.csv and timing_repeats.csv.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one split and a limited search. The public test benchmark also appeared in the supplied reference. We have not tested phone photos, new categories, near-duplicates, splits by product identity or calibration. Phase 2 should reuse the saved split for a CNN with two or three blocks, pooling and dropout. Validation should control early stopping. We will test architecture and regularization choices separately before comparing errors. Sources: report limitations and course Project 11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reproduction script runs the full experiment in a separate directory, preserving the reported outputs. A fresh clone needs local data and fitted models. The uv wrapper handles the colon in our current folder path. Use the notebook to follow the results and the viva guide to practise explaining each stage. Sources: README.md and docs/viva_guide.md.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names and enrolment numbers come from the roster supplied on 23 October 2026. Add the course section and formal affiliation before submission. Record each member's actual contribution, and make sure everyone can explain the complete workflow. Source: docs/team.md.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0a7dc8d24242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f7187c3474944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a230242b184d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50f87aa7cb4a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6803125b0b40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db99f500d844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81B69D-3DFD-463A-827F-34B8EE08486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19175A1-088E-4F6E-A54A-6B324D5BE15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0EE243-B0F7-4CFE-A945-06EB97805A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DB6550-4F70-4826-99B1-01D39C796B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DA28C8-1EBF-4501-A18F-31B30114F0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92C8A6-194B-419E-BC11-9A1FBF9529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DE3E45-A490-4E94-8408-CC415A4E88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E4D8E2-0939-4EEE-AB4B-A50BDE19F2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71C93A-F6CB-43FA-ACDC-DCFBE9F043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050C2D-CEB8-4FC1-88B1-3CB27D54520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bdce0010cd4541" /><Relationship Type="http://schemas.openxmlformats.org/officeDocument/2006/relationships/slideLayout" Target="/ppt/slideLayouts/slideLayout1.xml" Id="R3f5704c491494820" /><Relationship Type="http://schemas.openxmlformats.org/officeDocument/2006/relationships/slideLayout" Target="/ppt/slideLayouts/slideLayout2.xml" Id="R8469aa98cec44752" /><Relationship Type="http://schemas.openxmlformats.org/officeDocument/2006/relationships/slideLayout" Target="/ppt/slideLayouts/slideLayout3.xml" Id="Refb961802d5842e0" /><Relationship Type="http://schemas.openxmlformats.org/officeDocument/2006/relationships/slideLayout" Target="/ppt/slideLayouts/slideLayout4.xml" Id="Rb837a11aa2c34b5d" /><Relationship Type="http://schemas.openxmlformats.org/officeDocument/2006/relationships/slideLayout" Target="/ppt/slideLayouts/slideLayout5.xml" Id="R2030ed6978424364" /><Relationship Type="http://schemas.openxmlformats.org/officeDocument/2006/relationships/slideLayout" Target="/ppt/slideLayouts/slideLayout6.xml" Id="Read7d27759f54f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5704c491494820"/>
    <p:sldLayoutId xmlns:r="http://schemas.openxmlformats.org/officeDocument/2006/relationships" id="2147483650" r:id="R8469aa98cec44752"/>
    <p:sldLayoutId xmlns:r="http://schemas.openxmlformats.org/officeDocument/2006/relationships" id="2147483651" r:id="Refb961802d5842e0"/>
    <p:sldLayoutId xmlns:r="http://schemas.openxmlformats.org/officeDocument/2006/relationships" id="2147483652" r:id="Rb837a11aa2c34b5d"/>
    <p:sldLayoutId xmlns:r="http://schemas.openxmlformats.org/officeDocument/2006/relationships" id="2147483653" r:id="R2030ed6978424364"/>
    <p:sldLayoutId xmlns:r="http://schemas.openxmlformats.org/officeDocument/2006/relationships" id="2147483654" r:id="Read7d27759f54f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nventory Image Tagging">
  <a:themeElements>
    <a:clrScheme name="Inventory Image Tagging">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Inventory Image Tagg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12e587fee248a1" /><Relationship Type="http://schemas.openxmlformats.org/officeDocument/2006/relationships/notesSlide" Target="/ppt/notesSlides/notesSlide1.xml" Id="Rfd92f85e52d744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0fdbdeabe94deb" /><Relationship Type="http://schemas.openxmlformats.org/officeDocument/2006/relationships/notesSlide" Target="/ppt/notesSlides/notesSlide2.xml" Id="Rb53068594b1844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19798652b5411f" /><Relationship Type="http://schemas.openxmlformats.org/officeDocument/2006/relationships/notesSlide" Target="/ppt/notesSlides/notesSlide3.xml" Id="R2b5fb8d381e84d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76d485b14c49b0" /><Relationship Type="http://schemas.openxmlformats.org/officeDocument/2006/relationships/image" Target="/ppt/media/image.png" Id="R4c6109ac88834e96" /><Relationship Type="http://schemas.openxmlformats.org/officeDocument/2006/relationships/notesSlide" Target="/ppt/notesSlides/notesSlide4.xml" Id="R50643980c15740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7ff3dbcded4995" /><Relationship Type="http://schemas.openxmlformats.org/officeDocument/2006/relationships/image" Target="/ppt/media/image2.png" Id="Ra0a7fc661c514954" /><Relationship Type="http://schemas.openxmlformats.org/officeDocument/2006/relationships/notesSlide" Target="/ppt/notesSlides/notesSlide5.xml" Id="R778c13b8f0734d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c1281bc4954434" /><Relationship Type="http://schemas.openxmlformats.org/officeDocument/2006/relationships/notesSlide" Target="/ppt/notesSlides/notesSlide6.xml" Id="Ra7489500130440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30bdb285d0426d" /><Relationship Type="http://schemas.openxmlformats.org/officeDocument/2006/relationships/notesSlide" Target="/ppt/notesSlides/notesSlide7.xml" Id="Rf750850eb8b642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6d7489e1ea41d3" /><Relationship Type="http://schemas.openxmlformats.org/officeDocument/2006/relationships/notesSlide" Target="/ppt/notesSlides/notesSlide8.xml" Id="Re1b9820586c74e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997bd1ca85b482f" /><Relationship Type="http://schemas.openxmlformats.org/officeDocument/2006/relationships/notesSlide" Target="/ppt/notesSlides/notesSlide9.xml" Id="R62448c2ce27e43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5e31aadcf84dae" /><Relationship Type="http://schemas.openxmlformats.org/officeDocument/2006/relationships/chart" Target="/ppt/slides/charts/chart1.xml" Id="Rd474d94c73664703" /><Relationship Type="http://schemas.openxmlformats.org/officeDocument/2006/relationships/notesSlide" Target="/ppt/notesSlides/notesSlide10.xml" Id="R599b1fefd7864f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634568fad3a457a" /><Relationship Type="http://schemas.openxmlformats.org/officeDocument/2006/relationships/image" Target="/ppt/media/image3.png" Id="Rdfa93f6f7c4f44b6" /><Relationship Type="http://schemas.openxmlformats.org/officeDocument/2006/relationships/notesSlide" Target="/ppt/notesSlides/notesSlide11.xml" Id="Red11075d959e4f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4218ebb8644caf" /><Relationship Type="http://schemas.openxmlformats.org/officeDocument/2006/relationships/notesSlide" Target="/ppt/notesSlides/notesSlide12.xml" Id="R7c198570098a4a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579c6a10944bce" /><Relationship Type="http://schemas.openxmlformats.org/officeDocument/2006/relationships/notesSlide" Target="/ppt/notesSlides/notesSlide13.xml" Id="Rbb2da6cc72e44c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e2dfc631fc84149" /><Relationship Type="http://schemas.openxmlformats.org/officeDocument/2006/relationships/notesSlide" Target="/ppt/notesSlides/notesSlide14.xml" Id="R9a021887b97e45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7e5c40c60394a70" /><Relationship Type="http://schemas.openxmlformats.org/officeDocument/2006/relationships/notesSlide" Target="/ppt/notesSlides/notesSlide15.xml" Id="Ra909b4d4c533430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Recall (%)</c:v>
          </c:tx>
          <c:spPr>
            <a:solidFill xmlns:a="http://schemas.openxmlformats.org/drawingml/2006/main">
              <a:srgbClr val="147D92"/>
            </a:solidFill>
          </c:spPr>
          <c:invertIfNegative val="0"/>
          <c:cat>
            <c:strRef>
              <c:f>'Chart Data'!$A$2:$A$11</c:f>
              <c:strCache>
                <c:ptCount val="10"/>
                <c:pt idx="0">
                  <c:v>T-shirt/top</c:v>
                </c:pt>
                <c:pt idx="1">
                  <c:v>Trouser</c:v>
                </c:pt>
                <c:pt idx="2">
                  <c:v>Pullover</c:v>
                </c:pt>
                <c:pt idx="3">
                  <c:v>Dress</c:v>
                </c:pt>
                <c:pt idx="4">
                  <c:v>Coat</c:v>
                </c:pt>
                <c:pt idx="5">
                  <c:v>Sandal</c:v>
                </c:pt>
                <c:pt idx="6">
                  <c:v>Shirt</c:v>
                </c:pt>
                <c:pt idx="7">
                  <c:v>Sneaker</c:v>
                </c:pt>
                <c:pt idx="8">
                  <c:v>Bag</c:v>
                </c:pt>
                <c:pt idx="9">
                  <c:v>Ankle boot</c:v>
                </c:pt>
              </c:strCache>
            </c:strRef>
          </c:cat>
          <c:val>
            <c:numRef>
              <c:f>'Chart Data'!$B$2:$B$11</c:f>
              <c:numCache>
                <c:formatCode>General</c:formatCode>
                <c:ptCount val="10"/>
                <c:pt idx="0">
                  <c:v>85.9</c:v>
                </c:pt>
                <c:pt idx="1">
                  <c:v>97.8</c:v>
                </c:pt>
                <c:pt idx="2">
                  <c:v>86.2</c:v>
                </c:pt>
                <c:pt idx="3">
                  <c:v>91.9</c:v>
                </c:pt>
                <c:pt idx="4">
                  <c:v>87.1</c:v>
                </c:pt>
                <c:pt idx="5">
                  <c:v>96.7</c:v>
                </c:pt>
                <c:pt idx="6">
                  <c:v>71.4</c:v>
                </c:pt>
                <c:pt idx="7">
                  <c:v>96.9</c:v>
                </c:pt>
                <c:pt idx="8">
                  <c:v>98.6</c:v>
                </c:pt>
                <c:pt idx="9">
                  <c:v>96.2</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catAx>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Recall (%)</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831972-7D11-4CF3-ADFA-94880A8D0323}"/>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Inventory Image Tagging</a:t>
            </a:r>
          </a:p>
        </p:txBody>
      </p:sp>
      <p:sp>
        <p:nvSpPr>
          <p:cNvPr id="2" name="">
            <a:extLst xmlns:a="http://schemas.openxmlformats.org/drawingml/2006/main">
              <a:ext uri="{FF2B5EF4-FFF2-40B4-BE49-F238E27FC236}">
                <a16:creationId xmlns:a16="http://schemas.microsoft.com/office/drawing/2014/main" id="{54350EBD-A752-4A84-85BB-0A809C036EFE}"/>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0D7577AA-7477-4565-8D41-933B95CADC3D}"/>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333E8F30-064D-4DDE-9639-59AC38582D36}"/>
              </a:ext>
            </a:extLst>
          </p:cNvPr>
          <p:cNvSpPr>
            <a:spLocks xmlns:a="http://schemas.openxmlformats.org/drawingml/2006/main" noGrp="1"/>
          </p:cNvSpPr>
          <p:nvPr/>
        </p:nvSpPr>
        <p:spPr>
          <a:xfrm xmlns:a="http://schemas.openxmlformats.org/drawingml/2006/main">
            <a:off x="714375" y="19050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185B70"/>
                </a:solidFill>
                <a:latin typeface="Helvetica Neue"/>
                <a:ea typeface="Helvetica Neue"/>
                <a:cs typeface="Helvetica Neue"/>
              </a:defRPr>
            </a:defPPr>
            <a:lvl1pPr>
              <a:defRPr sz="4200" b="1">
                <a:solidFill>
                  <a:srgbClr val="185B70"/>
                </a:solidFill>
                <a:latin typeface="Helvetica Neue"/>
                <a:ea typeface="Helvetica Neue"/>
                <a:cs typeface="Helvetica Neue"/>
              </a:defRPr>
            </a:lvl1pPr>
            <a:lvl2pPr>
              <a:defRPr sz="4200" b="1">
                <a:solidFill>
                  <a:srgbClr val="185B70"/>
                </a:solidFill>
                <a:latin typeface="Helvetica Neue"/>
                <a:ea typeface="Helvetica Neue"/>
                <a:cs typeface="Helvetica Neue"/>
              </a:defRPr>
            </a:lvl2pPr>
            <a:lvl3pPr>
              <a:defRPr sz="4200" b="1">
                <a:solidFill>
                  <a:srgbClr val="185B70"/>
                </a:solidFill>
                <a:latin typeface="Helvetica Neue"/>
                <a:ea typeface="Helvetica Neue"/>
                <a:cs typeface="Helvetica Neue"/>
              </a:defRPr>
            </a:lvl3pPr>
            <a:lvl4pPr>
              <a:defRPr sz="4200" b="1">
                <a:solidFill>
                  <a:srgbClr val="185B70"/>
                </a:solidFill>
                <a:latin typeface="Helvetica Neue"/>
                <a:ea typeface="Helvetica Neue"/>
                <a:cs typeface="Helvetica Neue"/>
              </a:defRPr>
            </a:lvl4pPr>
            <a:lvl5pPr>
              <a:defRPr sz="4200" b="1">
                <a:solidFill>
                  <a:srgbClr val="185B70"/>
                </a:solidFill>
                <a:latin typeface="Helvetica Neue"/>
                <a:ea typeface="Helvetica Neue"/>
                <a:cs typeface="Helvetica Neue"/>
              </a:defRPr>
            </a:lvl5pPr>
            <a:lvl6pPr>
              <a:defRPr sz="4200" b="1">
                <a:solidFill>
                  <a:srgbClr val="185B70"/>
                </a:solidFill>
                <a:latin typeface="Helvetica Neue"/>
                <a:ea typeface="Helvetica Neue"/>
                <a:cs typeface="Helvetica Neue"/>
              </a:defRPr>
            </a:lvl6pPr>
            <a:lvl7pPr>
              <a:defRPr sz="4200" b="1">
                <a:solidFill>
                  <a:srgbClr val="185B70"/>
                </a:solidFill>
                <a:latin typeface="Helvetica Neue"/>
                <a:ea typeface="Helvetica Neue"/>
                <a:cs typeface="Helvetica Neue"/>
              </a:defRPr>
            </a:lvl7pPr>
            <a:lvl8pPr>
              <a:defRPr sz="4200" b="1">
                <a:solidFill>
                  <a:srgbClr val="185B70"/>
                </a:solidFill>
                <a:latin typeface="Helvetica Neue"/>
                <a:ea typeface="Helvetica Neue"/>
                <a:cs typeface="Helvetica Neue"/>
              </a:defRPr>
            </a:lvl8pPr>
            <a:lvl9pPr>
              <a:defRPr sz="4200" b="1">
                <a:solidFill>
                  <a:srgbClr val="185B70"/>
                </a:solidFill>
                <a:latin typeface="Helvetica Neue"/>
                <a:ea typeface="Helvetica Neue"/>
                <a:cs typeface="Helvetica Neue"/>
              </a:defRPr>
            </a:lvl9pPr>
          </a:lstStyle>
          <a:p xmlns:a="http://schemas.openxmlformats.org/drawingml/2006/main">
            <a:pPr>
              <a:defRPr sz="4200" b="1">
                <a:solidFill>
                  <a:srgbClr val="185B70"/>
                </a:solidFill>
                <a:latin typeface="Helvetica Neue"/>
                <a:ea typeface="Helvetica Neue"/>
                <a:cs typeface="Helvetica Neue"/>
              </a:defRPr>
            </a:pPr>
            <a:r>
              <a:rPr sz="4200" b="1">
                <a:solidFill>
                  <a:srgbClr val="185B70"/>
                </a:solidFill>
                <a:latin typeface="Helvetica Neue"/>
                <a:ea typeface="Helvetica Neue"/>
                <a:cs typeface="Helvetica Neue"/>
              </a:rPr>
              <a:t>Handcrafted visual features</a:t>
            </a:r>
          </a:p>
          <a:p xmlns:a="http://schemas.openxmlformats.org/drawingml/2006/main">
            <a:pPr>
              <a:defRPr sz="4200" b="1">
                <a:solidFill>
                  <a:srgbClr val="185B70"/>
                </a:solidFill>
                <a:latin typeface="Helvetica Neue"/>
                <a:ea typeface="Helvetica Neue"/>
                <a:cs typeface="Helvetica Neue"/>
              </a:defRPr>
            </a:pPr>
            <a:r>
              <a:rPr sz="4200" b="1">
                <a:solidFill>
                  <a:srgbClr val="185B70"/>
                </a:solidFill>
                <a:latin typeface="Helvetica Neue"/>
                <a:ea typeface="Helvetica Neue"/>
                <a:cs typeface="Helvetica Neue"/>
              </a:rPr>
              <a:t>and classical classifiers</a:t>
            </a:r>
          </a:p>
        </p:txBody>
      </p:sp>
      <p:sp>
        <p:nvSpPr>
          <p:cNvPr id="5" name="">
            <a:extLst xmlns:a="http://schemas.openxmlformats.org/drawingml/2006/main">
              <a:ext uri="{FF2B5EF4-FFF2-40B4-BE49-F238E27FC236}">
                <a16:creationId xmlns:a16="http://schemas.microsoft.com/office/drawing/2014/main" id="{6FE01476-E949-467B-856B-F8A3E2B49AC6}"/>
              </a:ext>
            </a:extLst>
          </p:cNvPr>
          <p:cNvSpPr>
            <a:spLocks xmlns:a="http://schemas.openxmlformats.org/drawingml/2006/main" noGrp="1"/>
          </p:cNvSpPr>
          <p:nvPr/>
        </p:nvSpPr>
        <p:spPr>
          <a:xfrm xmlns:a="http://schemas.openxmlformats.org/drawingml/2006/main">
            <a:off x="742950" y="4095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0333F"/>
                </a:solidFill>
                <a:latin typeface="Helvetica Neue"/>
                <a:ea typeface="Helvetica Neue"/>
                <a:cs typeface="Helvetica Neue"/>
              </a:defRPr>
            </a:defPPr>
            <a:lvl1pPr>
              <a:defRPr sz="2325" b="0">
                <a:solidFill>
                  <a:srgbClr val="20333F"/>
                </a:solidFill>
                <a:latin typeface="Helvetica Neue"/>
                <a:ea typeface="Helvetica Neue"/>
                <a:cs typeface="Helvetica Neue"/>
              </a:defRPr>
            </a:lvl1pPr>
            <a:lvl2pPr>
              <a:defRPr sz="2325" b="0">
                <a:solidFill>
                  <a:srgbClr val="20333F"/>
                </a:solidFill>
                <a:latin typeface="Helvetica Neue"/>
                <a:ea typeface="Helvetica Neue"/>
                <a:cs typeface="Helvetica Neue"/>
              </a:defRPr>
            </a:lvl2pPr>
            <a:lvl3pPr>
              <a:defRPr sz="2325" b="0">
                <a:solidFill>
                  <a:srgbClr val="20333F"/>
                </a:solidFill>
                <a:latin typeface="Helvetica Neue"/>
                <a:ea typeface="Helvetica Neue"/>
                <a:cs typeface="Helvetica Neue"/>
              </a:defRPr>
            </a:lvl3pPr>
            <a:lvl4pPr>
              <a:defRPr sz="2325" b="0">
                <a:solidFill>
                  <a:srgbClr val="20333F"/>
                </a:solidFill>
                <a:latin typeface="Helvetica Neue"/>
                <a:ea typeface="Helvetica Neue"/>
                <a:cs typeface="Helvetica Neue"/>
              </a:defRPr>
            </a:lvl4pPr>
            <a:lvl5pPr>
              <a:defRPr sz="2325" b="0">
                <a:solidFill>
                  <a:srgbClr val="20333F"/>
                </a:solidFill>
                <a:latin typeface="Helvetica Neue"/>
                <a:ea typeface="Helvetica Neue"/>
                <a:cs typeface="Helvetica Neue"/>
              </a:defRPr>
            </a:lvl5pPr>
            <a:lvl6pPr>
              <a:defRPr sz="2325" b="0">
                <a:solidFill>
                  <a:srgbClr val="20333F"/>
                </a:solidFill>
                <a:latin typeface="Helvetica Neue"/>
                <a:ea typeface="Helvetica Neue"/>
                <a:cs typeface="Helvetica Neue"/>
              </a:defRPr>
            </a:lvl6pPr>
            <a:lvl7pPr>
              <a:defRPr sz="2325" b="0">
                <a:solidFill>
                  <a:srgbClr val="20333F"/>
                </a:solidFill>
                <a:latin typeface="Helvetica Neue"/>
                <a:ea typeface="Helvetica Neue"/>
                <a:cs typeface="Helvetica Neue"/>
              </a:defRPr>
            </a:lvl7pPr>
            <a:lvl8pPr>
              <a:defRPr sz="2325" b="0">
                <a:solidFill>
                  <a:srgbClr val="20333F"/>
                </a:solidFill>
                <a:latin typeface="Helvetica Neue"/>
                <a:ea typeface="Helvetica Neue"/>
                <a:cs typeface="Helvetica Neue"/>
              </a:defRPr>
            </a:lvl8pPr>
            <a:lvl9pPr>
              <a:defRPr sz="2325" b="0">
                <a:solidFill>
                  <a:srgbClr val="20333F"/>
                </a:solidFill>
                <a:latin typeface="Helvetica Neue"/>
                <a:ea typeface="Helvetica Neue"/>
                <a:cs typeface="Helvetica Neue"/>
              </a:defRPr>
            </a:lvl9pPr>
          </a:lstStyle>
          <a:p xmlns:a="http://schemas.openxmlformats.org/drawingml/2006/main">
            <a:pPr>
              <a:defRPr sz="2325" b="0">
                <a:solidFill>
                  <a:srgbClr val="20333F"/>
                </a:solidFill>
                <a:latin typeface="Helvetica Neue"/>
                <a:ea typeface="Helvetica Neue"/>
                <a:cs typeface="Helvetica Neue"/>
              </a:defRPr>
            </a:pPr>
            <a:r>
              <a:rPr sz="2325" b="0">
                <a:solidFill>
                  <a:srgbClr val="20333F"/>
                </a:solidFill>
                <a:latin typeface="Helvetica Neue"/>
                <a:ea typeface="Helvetica Neue"/>
                <a:cs typeface="Helvetica Neue"/>
              </a:rPr>
              <a:t>Fashion-MNIST, ten clothing categories</a:t>
            </a:r>
          </a:p>
        </p:txBody>
      </p:sp>
      <p:sp>
        <p:nvSpPr>
          <p:cNvPr id="6" name="">
            <a:extLst xmlns:a="http://schemas.openxmlformats.org/drawingml/2006/main">
              <a:ext uri="{FF2B5EF4-FFF2-40B4-BE49-F238E27FC236}">
                <a16:creationId xmlns:a16="http://schemas.microsoft.com/office/drawing/2014/main" id="{1F65CE5A-9758-489A-B54E-9E377C55584B}"/>
              </a:ext>
            </a:extLst>
          </p:cNvPr>
          <p:cNvSpPr>
            <a:spLocks xmlns:a="http://schemas.openxmlformats.org/drawingml/2006/main" noGrp="1"/>
          </p:cNvSpPr>
          <p:nvPr/>
        </p:nvSpPr>
        <p:spPr>
          <a:xfrm xmlns:a="http://schemas.openxmlformats.org/drawingml/2006/main">
            <a:off x="742950" y="50482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07582"/>
                </a:solidFill>
                <a:latin typeface="Helvetica Neue"/>
                <a:ea typeface="Helvetica Neue"/>
                <a:cs typeface="Helvetica Neue"/>
              </a:defRPr>
            </a:defPPr>
            <a:lvl1pPr>
              <a:defRPr sz="2025" b="0">
                <a:solidFill>
                  <a:srgbClr val="607582"/>
                </a:solidFill>
                <a:latin typeface="Helvetica Neue"/>
                <a:ea typeface="Helvetica Neue"/>
                <a:cs typeface="Helvetica Neue"/>
              </a:defRPr>
            </a:lvl1pPr>
            <a:lvl2pPr>
              <a:defRPr sz="2025" b="0">
                <a:solidFill>
                  <a:srgbClr val="607582"/>
                </a:solidFill>
                <a:latin typeface="Helvetica Neue"/>
                <a:ea typeface="Helvetica Neue"/>
                <a:cs typeface="Helvetica Neue"/>
              </a:defRPr>
            </a:lvl2pPr>
            <a:lvl3pPr>
              <a:defRPr sz="2025" b="0">
                <a:solidFill>
                  <a:srgbClr val="607582"/>
                </a:solidFill>
                <a:latin typeface="Helvetica Neue"/>
                <a:ea typeface="Helvetica Neue"/>
                <a:cs typeface="Helvetica Neue"/>
              </a:defRPr>
            </a:lvl3pPr>
            <a:lvl4pPr>
              <a:defRPr sz="2025" b="0">
                <a:solidFill>
                  <a:srgbClr val="607582"/>
                </a:solidFill>
                <a:latin typeface="Helvetica Neue"/>
                <a:ea typeface="Helvetica Neue"/>
                <a:cs typeface="Helvetica Neue"/>
              </a:defRPr>
            </a:lvl4pPr>
            <a:lvl5pPr>
              <a:defRPr sz="2025" b="0">
                <a:solidFill>
                  <a:srgbClr val="607582"/>
                </a:solidFill>
                <a:latin typeface="Helvetica Neue"/>
                <a:ea typeface="Helvetica Neue"/>
                <a:cs typeface="Helvetica Neue"/>
              </a:defRPr>
            </a:lvl5pPr>
            <a:lvl6pPr>
              <a:defRPr sz="2025" b="0">
                <a:solidFill>
                  <a:srgbClr val="607582"/>
                </a:solidFill>
                <a:latin typeface="Helvetica Neue"/>
                <a:ea typeface="Helvetica Neue"/>
                <a:cs typeface="Helvetica Neue"/>
              </a:defRPr>
            </a:lvl6pPr>
            <a:lvl7pPr>
              <a:defRPr sz="2025" b="0">
                <a:solidFill>
                  <a:srgbClr val="607582"/>
                </a:solidFill>
                <a:latin typeface="Helvetica Neue"/>
                <a:ea typeface="Helvetica Neue"/>
                <a:cs typeface="Helvetica Neue"/>
              </a:defRPr>
            </a:lvl7pPr>
            <a:lvl8pPr>
              <a:defRPr sz="2025" b="0">
                <a:solidFill>
                  <a:srgbClr val="607582"/>
                </a:solidFill>
                <a:latin typeface="Helvetica Neue"/>
                <a:ea typeface="Helvetica Neue"/>
                <a:cs typeface="Helvetica Neue"/>
              </a:defRPr>
            </a:lvl8pPr>
            <a:lvl9pPr>
              <a:defRPr sz="2025" b="0">
                <a:solidFill>
                  <a:srgbClr val="607582"/>
                </a:solidFill>
                <a:latin typeface="Helvetica Neue"/>
                <a:ea typeface="Helvetica Neue"/>
                <a:cs typeface="Helvetica Neue"/>
              </a:defRPr>
            </a:lvl9pPr>
          </a:lstStyle>
          <a:p xmlns:a="http://schemas.openxmlformats.org/drawingml/2006/main">
            <a:pPr>
              <a:defRPr sz="2025" b="0">
                <a:solidFill>
                  <a:srgbClr val="607582"/>
                </a:solidFill>
                <a:latin typeface="Helvetica Neue"/>
                <a:ea typeface="Helvetica Neue"/>
                <a:cs typeface="Helvetica Neue"/>
              </a:defRPr>
            </a:pPr>
            <a:r>
              <a:rPr sz="2025" b="0">
                <a:solidFill>
                  <a:srgbClr val="607582"/>
                </a:solidFill>
                <a:latin typeface="Helvetica Neue"/>
                <a:ea typeface="Helvetica Neue"/>
                <a:cs typeface="Helvetica Neue"/>
              </a:rPr>
              <a:t>Aryan · Divyanshu Singh · Jatin Kumar Singh</a:t>
            </a:r>
          </a:p>
          <a:p xmlns:a="http://schemas.openxmlformats.org/drawingml/2006/main">
            <a:pPr>
              <a:defRPr sz="2025" b="0">
                <a:solidFill>
                  <a:srgbClr val="607582"/>
                </a:solidFill>
                <a:latin typeface="Helvetica Neue"/>
                <a:ea typeface="Helvetica Neue"/>
                <a:cs typeface="Helvetica Neue"/>
              </a:defRPr>
            </a:pPr>
            <a:r>
              <a:rPr sz="2025" b="0">
                <a:solidFill>
                  <a:srgbClr val="607582"/>
                </a:solidFill>
                <a:latin typeface="Helvetica Neue"/>
                <a:ea typeface="Helvetica Neue"/>
                <a:cs typeface="Helvetica Neue"/>
              </a:rPr>
              <a:t>Jatin Verma · Kushagra Bhardwaj</a:t>
            </a:r>
          </a:p>
        </p:txBody>
      </p:sp>
    </p:spTree>
    <p:extLst>
      <p:ext uri="{BB962C8B-B14F-4D97-AF65-F5344CB8AC3E}">
        <p14:creationId xmlns:p14="http://schemas.microsoft.com/office/powerpoint/2010/main" val="1656233421"/>
      </p:ext>
    </p:extLst>
  </p:cSld>
</p:sld>
</file>

<file path=ppt/slides/slide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FC1744-592A-4E74-8FA0-2FCB579B69B7}"/>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Clothing category prediction</a:t>
            </a:r>
          </a:p>
        </p:txBody>
      </p:sp>
      <p:sp>
        <p:nvSpPr>
          <p:cNvPr id="2" name="">
            <a:extLst xmlns:a="http://schemas.openxmlformats.org/drawingml/2006/main">
              <a:ext uri="{FF2B5EF4-FFF2-40B4-BE49-F238E27FC236}">
                <a16:creationId xmlns:a16="http://schemas.microsoft.com/office/drawing/2014/main" id="{FB5F2F3C-86D1-4D90-B3D8-81A2E980604B}"/>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A037DABF-F3BE-4AD7-813E-6337C24F8D94}"/>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A69631D8-9FA2-43FF-BECC-AA3C7FB8AE74}"/>
              </a:ext>
            </a:extLst>
          </p:cNvPr>
          <p:cNvSpPr>
            <a:spLocks xmlns:a="http://schemas.openxmlformats.org/drawingml/2006/main" noGrp="1"/>
          </p:cNvSpPr>
          <p:nvPr/>
        </p:nvSpPr>
        <p:spPr>
          <a:xfrm xmlns:a="http://schemas.openxmlformats.org/drawingml/2006/main">
            <a:off x="714375" y="15240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Input: one upright 28 × 28 grayscale clothing image</a:t>
            </a:r>
          </a:p>
        </p:txBody>
      </p:sp>
      <p:sp>
        <p:nvSpPr>
          <p:cNvPr id="5" name="">
            <a:extLst xmlns:a="http://schemas.openxmlformats.org/drawingml/2006/main">
              <a:ext uri="{FF2B5EF4-FFF2-40B4-BE49-F238E27FC236}">
                <a16:creationId xmlns:a16="http://schemas.microsoft.com/office/drawing/2014/main" id="{BE090D72-7F77-45B7-9EBD-EF82CBA52DFF}"/>
              </a:ext>
            </a:extLst>
          </p:cNvPr>
          <p:cNvSpPr>
            <a:spLocks xmlns:a="http://schemas.openxmlformats.org/drawingml/2006/main" noGrp="1"/>
          </p:cNvSpPr>
          <p:nvPr/>
        </p:nvSpPr>
        <p:spPr>
          <a:xfrm xmlns:a="http://schemas.openxmlformats.org/drawingml/2006/main">
            <a:off x="714375" y="24765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Output: one category from ten possible labels</a:t>
            </a:r>
          </a:p>
        </p:txBody>
      </p:sp>
      <p:sp>
        <p:nvSpPr>
          <p:cNvPr id="6" name="">
            <a:extLst xmlns:a="http://schemas.openxmlformats.org/drawingml/2006/main">
              <a:ext uri="{FF2B5EF4-FFF2-40B4-BE49-F238E27FC236}">
                <a16:creationId xmlns:a16="http://schemas.microsoft.com/office/drawing/2014/main" id="{4272E9A8-06FE-4CD8-BDC0-3D0413358958}"/>
              </a:ext>
            </a:extLst>
          </p:cNvPr>
          <p:cNvSpPr>
            <a:spLocks xmlns:a="http://schemas.openxmlformats.org/drawingml/2006/main" noGrp="1"/>
          </p:cNvSpPr>
          <p:nvPr/>
        </p:nvSpPr>
        <p:spPr>
          <a:xfrm xmlns:a="http://schemas.openxmlformats.org/drawingml/2006/main">
            <a:off x="714375" y="34290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Compare pixels and HOG under the same four classifiers</a:t>
            </a:r>
          </a:p>
        </p:txBody>
      </p:sp>
      <p:sp>
        <p:nvSpPr>
          <p:cNvPr id="7" name="">
            <a:extLst xmlns:a="http://schemas.openxmlformats.org/drawingml/2006/main">
              <a:ext uri="{FF2B5EF4-FFF2-40B4-BE49-F238E27FC236}">
                <a16:creationId xmlns:a16="http://schemas.microsoft.com/office/drawing/2014/main" id="{CA5CA6BC-8D3E-4BFD-8F2A-8CBE7FB0ED2A}"/>
              </a:ext>
            </a:extLst>
          </p:cNvPr>
          <p:cNvSpPr>
            <a:spLocks xmlns:a="http://schemas.openxmlformats.org/drawingml/2006/main" noGrp="1"/>
          </p:cNvSpPr>
          <p:nvPr/>
        </p:nvSpPr>
        <p:spPr>
          <a:xfrm xmlns:a="http://schemas.openxmlformats.org/drawingml/2006/main">
            <a:off x="714375" y="43815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Compare errors, model size and prediction time</a:t>
            </a:r>
          </a:p>
        </p:txBody>
      </p:sp>
    </p:spTree>
    <p:extLst>
      <p:ext uri="{BB962C8B-B14F-4D97-AF65-F5344CB8AC3E}">
        <p14:creationId xmlns:p14="http://schemas.microsoft.com/office/powerpoint/2010/main" val="1309732048"/>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01F48F-9DAE-433B-8853-10B06BBF9F8B}"/>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Dataset and shared split</a:t>
            </a:r>
          </a:p>
        </p:txBody>
      </p:sp>
      <p:sp>
        <p:nvSpPr>
          <p:cNvPr id="2" name="">
            <a:extLst xmlns:a="http://schemas.openxmlformats.org/drawingml/2006/main">
              <a:ext uri="{FF2B5EF4-FFF2-40B4-BE49-F238E27FC236}">
                <a16:creationId xmlns:a16="http://schemas.microsoft.com/office/drawing/2014/main" id="{C7393192-4A40-4099-B038-8FEFCAAE5218}"/>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7070639F-C800-4887-B059-47C81E5E421F}"/>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03</a:t>
            </a:r>
          </a:p>
        </p:txBody>
      </p:sp>
      <p:graphicFrame>
        <p:nvGraphicFramePr>
          <p:cNvPr id="4" name="">
            <a:extLst xmlns:a="http://schemas.openxmlformats.org/drawingml/2006/main">
              <a:ext uri="{FF2B5EF4-FFF2-40B4-BE49-F238E27FC236}">
                <a16:creationId xmlns:a16="http://schemas.microsoft.com/office/drawing/2014/main" id="{9458454B-10BA-4BDF-9123-40DE7007F69A}"/>
              </a:ext>
            </a:extLst>
          </p:cNvPr>
          <p:cNvGraphicFramePr/>
          <p:nvPr/>
        </p:nvGraphicFramePr>
        <p:xfrm>
          <a:off xmlns:a="http://schemas.openxmlformats.org/drawingml/2006/main" x="714375" y="1524000"/>
          <a:ext xmlns:a="http://schemas.openxmlformats.org/drawingml/2006/main" cx="10715625" cy="2619375"/>
        </p:xfrm>
        <a:graphic xmlns:a="http://schemas.openxmlformats.org/drawingml/2006/main">
          <a:graphicData uri="http://schemas.openxmlformats.org/drawingml/2006/table">
            <a:tbl>
              <a:tblPr/>
              <a:tblGrid>
                <a:gridCol w="4667250"/>
                <a:gridCol w="2857500"/>
                <a:gridCol w="3190875"/>
              </a:tblGrid>
              <a:tr h="654844">
                <a:tc>
                  <a:txBody>
                    <a:bodyPr/>
                    <a:lstStyle/>
                    <a:p>
                      <a:r>
                        <a:rPr sz="1800" b="1">
                          <a:solidFill>
                            <a:srgbClr val="FFFFFF"/>
                          </a:solidFill>
                          <a:latin typeface="Helvetica Neue"/>
                          <a:ea typeface="Helvetica Neue"/>
                          <a:cs typeface="Helvetica Neue"/>
                        </a:rPr>
                        <a:t>Partition</a:t>
                      </a:r>
                    </a:p>
                  </a:txBody>
                  <a:tcPr marL="91440" marR="91440" marT="45720" marB="45720">
                    <a:solidFill>
                      <a:srgbClr val="185B70"/>
                    </a:solidFill>
                  </a:tcPr>
                </a:tc>
                <a:tc>
                  <a:txBody>
                    <a:bodyPr/>
                    <a:lstStyle/>
                    <a:p>
                      <a:r>
                        <a:rPr sz="1800" b="1">
                          <a:solidFill>
                            <a:srgbClr val="FFFFFF"/>
                          </a:solidFill>
                          <a:latin typeface="Helvetica Neue"/>
                          <a:ea typeface="Helvetica Neue"/>
                          <a:cs typeface="Helvetica Neue"/>
                        </a:rPr>
                        <a:t>Images</a:t>
                      </a:r>
                    </a:p>
                  </a:txBody>
                  <a:tcPr marL="91440" marR="91440" marT="45720" marB="45720">
                    <a:solidFill>
                      <a:srgbClr val="185B70"/>
                    </a:solidFill>
                  </a:tcPr>
                </a:tc>
                <a:tc>
                  <a:txBody>
                    <a:bodyPr/>
                    <a:lstStyle/>
                    <a:p>
                      <a:r>
                        <a:rPr sz="1800" b="1">
                          <a:solidFill>
                            <a:srgbClr val="FFFFFF"/>
                          </a:solidFill>
                          <a:latin typeface="Helvetica Neue"/>
                          <a:ea typeface="Helvetica Neue"/>
                          <a:cs typeface="Helvetica Neue"/>
                        </a:rPr>
                        <a:t>Images per class</a:t>
                      </a:r>
                    </a:p>
                  </a:txBody>
                  <a:tcPr marL="91440" marR="91440" marT="45720" marB="45720">
                    <a:solidFill>
                      <a:srgbClr val="185B70"/>
                    </a:solidFill>
                  </a:tcPr>
                </a:tc>
              </a:tr>
              <a:tr h="654844">
                <a:tc>
                  <a:txBody>
                    <a:bodyPr/>
                    <a:lstStyle/>
                    <a:p>
                      <a:r>
                        <a:rPr sz="1800" b="0">
                          <a:solidFill>
                            <a:srgbClr val="20333F"/>
                          </a:solidFill>
                          <a:latin typeface="Helvetica Neue"/>
                          <a:ea typeface="Helvetica Neue"/>
                          <a:cs typeface="Helvetica Neue"/>
                        </a:rPr>
                        <a:t>Training</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48,000</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4,800</a:t>
                      </a:r>
                    </a:p>
                  </a:txBody>
                  <a:tcPr marL="91440" marR="91440" marT="45720" marB="45720">
                    <a:solidFill>
                      <a:srgbClr val="EDF3F5"/>
                    </a:solidFill>
                  </a:tcPr>
                </a:tc>
              </a:tr>
              <a:tr h="654844">
                <a:tc>
                  <a:txBody>
                    <a:bodyPr/>
                    <a:lstStyle/>
                    <a:p>
                      <a:r>
                        <a:rPr sz="1800" b="0">
                          <a:solidFill>
                            <a:srgbClr val="20333F"/>
                          </a:solidFill>
                          <a:latin typeface="Helvetica Neue"/>
                          <a:ea typeface="Helvetica Neue"/>
                          <a:cs typeface="Helvetica Neue"/>
                        </a:rPr>
                        <a:t>Validation</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12,000</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1,200</a:t>
                      </a:r>
                    </a:p>
                  </a:txBody>
                  <a:tcPr marL="91440" marR="91440" marT="45720" marB="45720">
                    <a:solidFill>
                      <a:srgbClr val="FFFFFF"/>
                    </a:solidFill>
                  </a:tcPr>
                </a:tc>
              </a:tr>
              <a:tr h="654844">
                <a:tc>
                  <a:txBody>
                    <a:bodyPr/>
                    <a:lstStyle/>
                    <a:p>
                      <a:r>
                        <a:rPr sz="1800" b="0">
                          <a:solidFill>
                            <a:srgbClr val="20333F"/>
                          </a:solidFill>
                          <a:latin typeface="Helvetica Neue"/>
                          <a:ea typeface="Helvetica Neue"/>
                          <a:cs typeface="Helvetica Neue"/>
                        </a:rPr>
                        <a:t>Official test</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10,000</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1,000</a:t>
                      </a:r>
                    </a:p>
                  </a:txBody>
                  <a:tcPr marL="91440" marR="91440" marT="45720" marB="45720">
                    <a:solidFill>
                      <a:srgbClr val="EDF3F5"/>
                    </a:solidFill>
                  </a:tcPr>
                </a:tc>
              </a:tr>
            </a:tbl>
          </a:graphicData>
        </a:graphic>
      </p:graphicFrame>
      <p:sp>
        <p:nvSpPr>
          <p:cNvPr id="5" name="">
            <a:extLst xmlns:a="http://schemas.openxmlformats.org/drawingml/2006/main">
              <a:ext uri="{FF2B5EF4-FFF2-40B4-BE49-F238E27FC236}">
                <a16:creationId xmlns:a16="http://schemas.microsoft.com/office/drawing/2014/main" id="{6C774D4F-69FF-44A3-AFDB-7BC2D2789D56}"/>
              </a:ext>
            </a:extLst>
          </p:cNvPr>
          <p:cNvSpPr>
            <a:spLocks xmlns:a="http://schemas.openxmlformats.org/drawingml/2006/main" noGrp="1"/>
          </p:cNvSpPr>
          <p:nvPr/>
        </p:nvSpPr>
        <p:spPr>
          <a:xfrm xmlns:a="http://schemas.openxmlformats.org/drawingml/2006/main">
            <a:off x="714375" y="447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Seed 42, equal class proportions, no split overlap</a:t>
            </a:r>
          </a:p>
        </p:txBody>
      </p:sp>
      <p:sp>
        <p:nvSpPr>
          <p:cNvPr id="6" name="">
            <a:extLst xmlns:a="http://schemas.openxmlformats.org/drawingml/2006/main">
              <a:ext uri="{FF2B5EF4-FFF2-40B4-BE49-F238E27FC236}">
                <a16:creationId xmlns:a16="http://schemas.microsoft.com/office/drawing/2014/main" id="{55ECD241-6B8C-42A3-9FC3-89D404E485A6}"/>
              </a:ext>
            </a:extLst>
          </p:cNvPr>
          <p:cNvSpPr>
            <a:spLocks xmlns:a="http://schemas.openxmlformats.org/drawingml/2006/main" noGrp="1"/>
          </p:cNvSpPr>
          <p:nvPr/>
        </p:nvSpPr>
        <p:spPr>
          <a:xfrm xmlns:a="http://schemas.openxmlformats.org/drawingml/2006/main">
            <a:off x="714375" y="5238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0333F"/>
                </a:solidFill>
                <a:latin typeface="Helvetica Neue"/>
                <a:ea typeface="Helvetica Neue"/>
                <a:cs typeface="Helvetica Neue"/>
              </a:defRPr>
            </a:defPPr>
            <a:lvl1pPr>
              <a:defRPr sz="2025" b="0">
                <a:solidFill>
                  <a:srgbClr val="20333F"/>
                </a:solidFill>
                <a:latin typeface="Helvetica Neue"/>
                <a:ea typeface="Helvetica Neue"/>
                <a:cs typeface="Helvetica Neue"/>
              </a:defRPr>
            </a:lvl1pPr>
            <a:lvl2pPr>
              <a:defRPr sz="2025" b="0">
                <a:solidFill>
                  <a:srgbClr val="20333F"/>
                </a:solidFill>
                <a:latin typeface="Helvetica Neue"/>
                <a:ea typeface="Helvetica Neue"/>
                <a:cs typeface="Helvetica Neue"/>
              </a:defRPr>
            </a:lvl2pPr>
            <a:lvl3pPr>
              <a:defRPr sz="2025" b="0">
                <a:solidFill>
                  <a:srgbClr val="20333F"/>
                </a:solidFill>
                <a:latin typeface="Helvetica Neue"/>
                <a:ea typeface="Helvetica Neue"/>
                <a:cs typeface="Helvetica Neue"/>
              </a:defRPr>
            </a:lvl3pPr>
            <a:lvl4pPr>
              <a:defRPr sz="2025" b="0">
                <a:solidFill>
                  <a:srgbClr val="20333F"/>
                </a:solidFill>
                <a:latin typeface="Helvetica Neue"/>
                <a:ea typeface="Helvetica Neue"/>
                <a:cs typeface="Helvetica Neue"/>
              </a:defRPr>
            </a:lvl4pPr>
            <a:lvl5pPr>
              <a:defRPr sz="2025" b="0">
                <a:solidFill>
                  <a:srgbClr val="20333F"/>
                </a:solidFill>
                <a:latin typeface="Helvetica Neue"/>
                <a:ea typeface="Helvetica Neue"/>
                <a:cs typeface="Helvetica Neue"/>
              </a:defRPr>
            </a:lvl5pPr>
            <a:lvl6pPr>
              <a:defRPr sz="2025" b="0">
                <a:solidFill>
                  <a:srgbClr val="20333F"/>
                </a:solidFill>
                <a:latin typeface="Helvetica Neue"/>
                <a:ea typeface="Helvetica Neue"/>
                <a:cs typeface="Helvetica Neue"/>
              </a:defRPr>
            </a:lvl6pPr>
            <a:lvl7pPr>
              <a:defRPr sz="2025" b="0">
                <a:solidFill>
                  <a:srgbClr val="20333F"/>
                </a:solidFill>
                <a:latin typeface="Helvetica Neue"/>
                <a:ea typeface="Helvetica Neue"/>
                <a:cs typeface="Helvetica Neue"/>
              </a:defRPr>
            </a:lvl7pPr>
            <a:lvl8pPr>
              <a:defRPr sz="2025" b="0">
                <a:solidFill>
                  <a:srgbClr val="20333F"/>
                </a:solidFill>
                <a:latin typeface="Helvetica Neue"/>
                <a:ea typeface="Helvetica Neue"/>
                <a:cs typeface="Helvetica Neue"/>
              </a:defRPr>
            </a:lvl8pPr>
            <a:lvl9pPr>
              <a:defRPr sz="2025" b="0">
                <a:solidFill>
                  <a:srgbClr val="20333F"/>
                </a:solidFill>
                <a:latin typeface="Helvetica Neue"/>
                <a:ea typeface="Helvetica Neue"/>
                <a:cs typeface="Helvetica Neue"/>
              </a:defRPr>
            </a:lvl9pPr>
          </a:lstStyle>
          <a:p xmlns:a="http://schemas.openxmlformats.org/drawingml/2006/main">
            <a:pPr>
              <a:defRPr sz="2025" b="0">
                <a:solidFill>
                  <a:srgbClr val="20333F"/>
                </a:solidFill>
                <a:latin typeface="Helvetica Neue"/>
                <a:ea typeface="Helvetica Neue"/>
                <a:cs typeface="Helvetica Neue"/>
              </a:defRPr>
            </a:pPr>
            <a:r>
              <a:rPr sz="2025" b="0">
                <a:solidFill>
                  <a:srgbClr val="20333F"/>
                </a:solidFill>
                <a:latin typeface="Helvetica Neue"/>
                <a:ea typeface="Helvetica Neue"/>
                <a:cs typeface="Helvetica Neue"/>
              </a:rPr>
              <a:t>Archive checksums match. No exact training duplicates or blank images</a:t>
            </a:r>
          </a:p>
        </p:txBody>
      </p:sp>
    </p:spTree>
    <p:extLst>
      <p:ext uri="{BB962C8B-B14F-4D97-AF65-F5344CB8AC3E}">
        <p14:creationId xmlns:p14="http://schemas.microsoft.com/office/powerpoint/2010/main" val="393759607"/>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B6A529-AD24-4FC8-B8CF-AB89DAF204B3}"/>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Training images</a:t>
            </a:r>
          </a:p>
        </p:txBody>
      </p:sp>
      <p:sp>
        <p:nvSpPr>
          <p:cNvPr id="2" name="">
            <a:extLst xmlns:a="http://schemas.openxmlformats.org/drawingml/2006/main">
              <a:ext uri="{FF2B5EF4-FFF2-40B4-BE49-F238E27FC236}">
                <a16:creationId xmlns:a16="http://schemas.microsoft.com/office/drawing/2014/main" id="{1D702444-E491-4882-881B-135B8FA4A416}"/>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59E37809-E7BE-4D98-81FF-710A79BC3F08}"/>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04</a:t>
            </a:r>
          </a:p>
        </p:txBody>
      </p:sp>
      <p:pic>
        <p:nvPicPr>
          <p:cNvPr id="4" name="">
            <a:extLst xmlns:a="http://schemas.openxmlformats.org/drawingml/2006/main">
              <a:ext uri="{FF2B5EF4-FFF2-40B4-BE49-F238E27FC236}">
                <a16:creationId xmlns:a16="http://schemas.microsoft.com/office/drawing/2014/main" id="{F0B5F1DA-F910-457F-AA7B-BDB6F0A579E7}"/>
              </a:ext>
            </a:extLst>
          </p:cNvPr>
          <p:cNvPicPr>
            <a:picLocks xmlns:a="http://schemas.openxmlformats.org/drawingml/2006/main" noChangeAspect="1"/>
          </p:cNvPicPr>
          <p:nvPr/>
        </p:nvPicPr>
        <p:blipFill>
          <a:blip xmlns:r="http://schemas.openxmlformats.org/officeDocument/2006/relationships" xmlns:a="http://schemas.openxmlformats.org/drawingml/2006/main" r:embed="R4c6109ac88834e96"/>
          <a:stretch xmlns:a="http://schemas.openxmlformats.org/drawingml/2006/main"/>
        </p:blipFill>
        <p:spPr>
          <a:xfrm xmlns:a="http://schemas.openxmlformats.org/drawingml/2006/main">
            <a:off x="619125" y="1788621"/>
            <a:ext cx="10953750" cy="3661757"/>
          </a:xfrm>
          <a:prstGeom xmlns:a="http://schemas.openxmlformats.org/drawingml/2006/main" prst="rect">
            <a:avLst/>
          </a:prstGeom>
        </p:spPr>
      </p:pic>
    </p:spTree>
    <p:extLst>
      <p:ext uri="{BB962C8B-B14F-4D97-AF65-F5344CB8AC3E}">
        <p14:creationId xmlns:p14="http://schemas.microsoft.com/office/powerpoint/2010/main" val="1958773850"/>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EE1991-E518-44A0-A6E3-5C9B1DB6B174}"/>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Pixels and HOG</a:t>
            </a:r>
          </a:p>
        </p:txBody>
      </p:sp>
      <p:sp>
        <p:nvSpPr>
          <p:cNvPr id="2" name="">
            <a:extLst xmlns:a="http://schemas.openxmlformats.org/drawingml/2006/main">
              <a:ext uri="{FF2B5EF4-FFF2-40B4-BE49-F238E27FC236}">
                <a16:creationId xmlns:a16="http://schemas.microsoft.com/office/drawing/2014/main" id="{A69411A2-9C70-4A9D-9CC6-CD2820D14E12}"/>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6F6C27E9-EA15-4799-9781-1774D6609D19}"/>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32BC814-4350-48F4-810A-699ABB5A9DF0}"/>
              </a:ext>
            </a:extLst>
          </p:cNvPr>
          <p:cNvSpPr>
            <a:spLocks xmlns:a="http://schemas.openxmlformats.org/drawingml/2006/main" noGrp="1"/>
          </p:cNvSpPr>
          <p:nvPr/>
        </p:nvSpPr>
        <p:spPr>
          <a:xfrm xmlns:a="http://schemas.openxmlformats.org/drawingml/2006/main">
            <a:off x="714375" y="1428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0333F"/>
                </a:solidFill>
                <a:latin typeface="Helvetica Neue"/>
                <a:ea typeface="Helvetica Neue"/>
                <a:cs typeface="Helvetica Neue"/>
              </a:defRPr>
            </a:defPPr>
            <a:lvl1pPr>
              <a:defRPr sz="2325" b="0">
                <a:solidFill>
                  <a:srgbClr val="20333F"/>
                </a:solidFill>
                <a:latin typeface="Helvetica Neue"/>
                <a:ea typeface="Helvetica Neue"/>
                <a:cs typeface="Helvetica Neue"/>
              </a:defRPr>
            </a:lvl1pPr>
            <a:lvl2pPr>
              <a:defRPr sz="2325" b="0">
                <a:solidFill>
                  <a:srgbClr val="20333F"/>
                </a:solidFill>
                <a:latin typeface="Helvetica Neue"/>
                <a:ea typeface="Helvetica Neue"/>
                <a:cs typeface="Helvetica Neue"/>
              </a:defRPr>
            </a:lvl2pPr>
            <a:lvl3pPr>
              <a:defRPr sz="2325" b="0">
                <a:solidFill>
                  <a:srgbClr val="20333F"/>
                </a:solidFill>
                <a:latin typeface="Helvetica Neue"/>
                <a:ea typeface="Helvetica Neue"/>
                <a:cs typeface="Helvetica Neue"/>
              </a:defRPr>
            </a:lvl3pPr>
            <a:lvl4pPr>
              <a:defRPr sz="2325" b="0">
                <a:solidFill>
                  <a:srgbClr val="20333F"/>
                </a:solidFill>
                <a:latin typeface="Helvetica Neue"/>
                <a:ea typeface="Helvetica Neue"/>
                <a:cs typeface="Helvetica Neue"/>
              </a:defRPr>
            </a:lvl4pPr>
            <a:lvl5pPr>
              <a:defRPr sz="2325" b="0">
                <a:solidFill>
                  <a:srgbClr val="20333F"/>
                </a:solidFill>
                <a:latin typeface="Helvetica Neue"/>
                <a:ea typeface="Helvetica Neue"/>
                <a:cs typeface="Helvetica Neue"/>
              </a:defRPr>
            </a:lvl5pPr>
            <a:lvl6pPr>
              <a:defRPr sz="2325" b="0">
                <a:solidFill>
                  <a:srgbClr val="20333F"/>
                </a:solidFill>
                <a:latin typeface="Helvetica Neue"/>
                <a:ea typeface="Helvetica Neue"/>
                <a:cs typeface="Helvetica Neue"/>
              </a:defRPr>
            </a:lvl6pPr>
            <a:lvl7pPr>
              <a:defRPr sz="2325" b="0">
                <a:solidFill>
                  <a:srgbClr val="20333F"/>
                </a:solidFill>
                <a:latin typeface="Helvetica Neue"/>
                <a:ea typeface="Helvetica Neue"/>
                <a:cs typeface="Helvetica Neue"/>
              </a:defRPr>
            </a:lvl7pPr>
            <a:lvl8pPr>
              <a:defRPr sz="2325" b="0">
                <a:solidFill>
                  <a:srgbClr val="20333F"/>
                </a:solidFill>
                <a:latin typeface="Helvetica Neue"/>
                <a:ea typeface="Helvetica Neue"/>
                <a:cs typeface="Helvetica Neue"/>
              </a:defRPr>
            </a:lvl8pPr>
            <a:lvl9pPr>
              <a:defRPr sz="2325" b="0">
                <a:solidFill>
                  <a:srgbClr val="20333F"/>
                </a:solidFill>
                <a:latin typeface="Helvetica Neue"/>
                <a:ea typeface="Helvetica Neue"/>
                <a:cs typeface="Helvetica Neue"/>
              </a:defRPr>
            </a:lvl9pPr>
          </a:lstStyle>
          <a:p xmlns:a="http://schemas.openxmlformats.org/drawingml/2006/main">
            <a:pPr>
              <a:defRPr sz="2325" b="0">
                <a:solidFill>
                  <a:srgbClr val="20333F"/>
                </a:solidFill>
                <a:latin typeface="Helvetica Neue"/>
                <a:ea typeface="Helvetica Neue"/>
                <a:cs typeface="Helvetica Neue"/>
              </a:defRPr>
            </a:pPr>
            <a:r>
              <a:rPr sz="2325" b="0">
                <a:solidFill>
                  <a:srgbClr val="20333F"/>
                </a:solidFill>
                <a:latin typeface="Helvetica Neue"/>
                <a:ea typeface="Helvetica Neue"/>
                <a:cs typeface="Helvetica Neue"/>
              </a:rPr>
              <a:t>Pixels: 784 brightness values scaled to [0,1]</a:t>
            </a:r>
          </a:p>
        </p:txBody>
      </p:sp>
      <p:sp>
        <p:nvSpPr>
          <p:cNvPr id="5" name="">
            <a:extLst xmlns:a="http://schemas.openxmlformats.org/drawingml/2006/main">
              <a:ext uri="{FF2B5EF4-FFF2-40B4-BE49-F238E27FC236}">
                <a16:creationId xmlns:a16="http://schemas.microsoft.com/office/drawing/2014/main" id="{CF62F694-1118-4956-BE74-BF417E28F67E}"/>
              </a:ext>
            </a:extLst>
          </p:cNvPr>
          <p:cNvSpPr>
            <a:spLocks xmlns:a="http://schemas.openxmlformats.org/drawingml/2006/main" noGrp="1"/>
          </p:cNvSpPr>
          <p:nvPr/>
        </p:nvSpPr>
        <p:spPr>
          <a:xfrm xmlns:a="http://schemas.openxmlformats.org/drawingml/2006/main">
            <a:off x="714375" y="2095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0333F"/>
                </a:solidFill>
                <a:latin typeface="Helvetica Neue"/>
                <a:ea typeface="Helvetica Neue"/>
                <a:cs typeface="Helvetica Neue"/>
              </a:defRPr>
            </a:defPPr>
            <a:lvl1pPr>
              <a:defRPr sz="2325" b="0">
                <a:solidFill>
                  <a:srgbClr val="20333F"/>
                </a:solidFill>
                <a:latin typeface="Helvetica Neue"/>
                <a:ea typeface="Helvetica Neue"/>
                <a:cs typeface="Helvetica Neue"/>
              </a:defRPr>
            </a:lvl1pPr>
            <a:lvl2pPr>
              <a:defRPr sz="2325" b="0">
                <a:solidFill>
                  <a:srgbClr val="20333F"/>
                </a:solidFill>
                <a:latin typeface="Helvetica Neue"/>
                <a:ea typeface="Helvetica Neue"/>
                <a:cs typeface="Helvetica Neue"/>
              </a:defRPr>
            </a:lvl2pPr>
            <a:lvl3pPr>
              <a:defRPr sz="2325" b="0">
                <a:solidFill>
                  <a:srgbClr val="20333F"/>
                </a:solidFill>
                <a:latin typeface="Helvetica Neue"/>
                <a:ea typeface="Helvetica Neue"/>
                <a:cs typeface="Helvetica Neue"/>
              </a:defRPr>
            </a:lvl3pPr>
            <a:lvl4pPr>
              <a:defRPr sz="2325" b="0">
                <a:solidFill>
                  <a:srgbClr val="20333F"/>
                </a:solidFill>
                <a:latin typeface="Helvetica Neue"/>
                <a:ea typeface="Helvetica Neue"/>
                <a:cs typeface="Helvetica Neue"/>
              </a:defRPr>
            </a:lvl4pPr>
            <a:lvl5pPr>
              <a:defRPr sz="2325" b="0">
                <a:solidFill>
                  <a:srgbClr val="20333F"/>
                </a:solidFill>
                <a:latin typeface="Helvetica Neue"/>
                <a:ea typeface="Helvetica Neue"/>
                <a:cs typeface="Helvetica Neue"/>
              </a:defRPr>
            </a:lvl5pPr>
            <a:lvl6pPr>
              <a:defRPr sz="2325" b="0">
                <a:solidFill>
                  <a:srgbClr val="20333F"/>
                </a:solidFill>
                <a:latin typeface="Helvetica Neue"/>
                <a:ea typeface="Helvetica Neue"/>
                <a:cs typeface="Helvetica Neue"/>
              </a:defRPr>
            </a:lvl6pPr>
            <a:lvl7pPr>
              <a:defRPr sz="2325" b="0">
                <a:solidFill>
                  <a:srgbClr val="20333F"/>
                </a:solidFill>
                <a:latin typeface="Helvetica Neue"/>
                <a:ea typeface="Helvetica Neue"/>
                <a:cs typeface="Helvetica Neue"/>
              </a:defRPr>
            </a:lvl7pPr>
            <a:lvl8pPr>
              <a:defRPr sz="2325" b="0">
                <a:solidFill>
                  <a:srgbClr val="20333F"/>
                </a:solidFill>
                <a:latin typeface="Helvetica Neue"/>
                <a:ea typeface="Helvetica Neue"/>
                <a:cs typeface="Helvetica Neue"/>
              </a:defRPr>
            </a:lvl8pPr>
            <a:lvl9pPr>
              <a:defRPr sz="2325" b="0">
                <a:solidFill>
                  <a:srgbClr val="20333F"/>
                </a:solidFill>
                <a:latin typeface="Helvetica Neue"/>
                <a:ea typeface="Helvetica Neue"/>
                <a:cs typeface="Helvetica Neue"/>
              </a:defRPr>
            </a:lvl9pPr>
          </a:lstStyle>
          <a:p xmlns:a="http://schemas.openxmlformats.org/drawingml/2006/main">
            <a:pPr>
              <a:defRPr sz="2325" b="0">
                <a:solidFill>
                  <a:srgbClr val="20333F"/>
                </a:solidFill>
                <a:latin typeface="Helvetica Neue"/>
                <a:ea typeface="Helvetica Neue"/>
                <a:cs typeface="Helvetica Neue"/>
              </a:defRPr>
            </a:pPr>
            <a:r>
              <a:rPr sz="2325" b="0">
                <a:solidFill>
                  <a:srgbClr val="20333F"/>
                </a:solidFill>
                <a:latin typeface="Helvetica Neue"/>
                <a:ea typeface="Helvetica Neue"/>
                <a:cs typeface="Helvetica Neue"/>
              </a:rPr>
              <a:t>HOG: edge directions grouped into normalized histograms</a:t>
            </a:r>
          </a:p>
        </p:txBody>
      </p:sp>
      <p:pic>
        <p:nvPicPr>
          <p:cNvPr id="6" name="">
            <a:extLst xmlns:a="http://schemas.openxmlformats.org/drawingml/2006/main">
              <a:ext uri="{FF2B5EF4-FFF2-40B4-BE49-F238E27FC236}">
                <a16:creationId xmlns:a16="http://schemas.microsoft.com/office/drawing/2014/main" id="{D678285B-E490-497B-B335-F8B90D843D1F}"/>
              </a:ext>
            </a:extLst>
          </p:cNvPr>
          <p:cNvPicPr>
            <a:picLocks xmlns:a="http://schemas.openxmlformats.org/drawingml/2006/main" noChangeAspect="1"/>
          </p:cNvPicPr>
          <p:nvPr/>
        </p:nvPicPr>
        <p:blipFill>
          <a:blip xmlns:r="http://schemas.openxmlformats.org/officeDocument/2006/relationships" xmlns:a="http://schemas.openxmlformats.org/drawingml/2006/main" r:embed="Ra0a7fc661c514954"/>
          <a:stretch xmlns:a="http://schemas.openxmlformats.org/drawingml/2006/main"/>
        </p:blipFill>
        <p:spPr>
          <a:xfrm xmlns:a="http://schemas.openxmlformats.org/drawingml/2006/main">
            <a:off x="3487771" y="2857500"/>
            <a:ext cx="5216457" cy="2476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D632D07-DF22-4CC5-B086-9F85FFA41F41}"/>
              </a:ext>
            </a:extLst>
          </p:cNvPr>
          <p:cNvSpPr>
            <a:spLocks xmlns:a="http://schemas.openxmlformats.org/drawingml/2006/main" noGrp="1"/>
          </p:cNvSpPr>
          <p:nvPr/>
        </p:nvSpPr>
        <p:spPr>
          <a:xfrm xmlns:a="http://schemas.openxmlformats.org/drawingml/2006/main">
            <a:off x="714375" y="55530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33F"/>
                </a:solidFill>
                <a:latin typeface="Helvetica Neue"/>
                <a:ea typeface="Helvetica Neue"/>
                <a:cs typeface="Helvetica Neue"/>
              </a:defRPr>
            </a:defPPr>
            <a:lvl1pPr>
              <a:defRPr sz="1950" b="0">
                <a:solidFill>
                  <a:srgbClr val="20333F"/>
                </a:solidFill>
                <a:latin typeface="Helvetica Neue"/>
                <a:ea typeface="Helvetica Neue"/>
                <a:cs typeface="Helvetica Neue"/>
              </a:defRPr>
            </a:lvl1pPr>
            <a:lvl2pPr>
              <a:defRPr sz="1950" b="0">
                <a:solidFill>
                  <a:srgbClr val="20333F"/>
                </a:solidFill>
                <a:latin typeface="Helvetica Neue"/>
                <a:ea typeface="Helvetica Neue"/>
                <a:cs typeface="Helvetica Neue"/>
              </a:defRPr>
            </a:lvl2pPr>
            <a:lvl3pPr>
              <a:defRPr sz="1950" b="0">
                <a:solidFill>
                  <a:srgbClr val="20333F"/>
                </a:solidFill>
                <a:latin typeface="Helvetica Neue"/>
                <a:ea typeface="Helvetica Neue"/>
                <a:cs typeface="Helvetica Neue"/>
              </a:defRPr>
            </a:lvl3pPr>
            <a:lvl4pPr>
              <a:defRPr sz="1950" b="0">
                <a:solidFill>
                  <a:srgbClr val="20333F"/>
                </a:solidFill>
                <a:latin typeface="Helvetica Neue"/>
                <a:ea typeface="Helvetica Neue"/>
                <a:cs typeface="Helvetica Neue"/>
              </a:defRPr>
            </a:lvl4pPr>
            <a:lvl5pPr>
              <a:defRPr sz="1950" b="0">
                <a:solidFill>
                  <a:srgbClr val="20333F"/>
                </a:solidFill>
                <a:latin typeface="Helvetica Neue"/>
                <a:ea typeface="Helvetica Neue"/>
                <a:cs typeface="Helvetica Neue"/>
              </a:defRPr>
            </a:lvl5pPr>
            <a:lvl6pPr>
              <a:defRPr sz="1950" b="0">
                <a:solidFill>
                  <a:srgbClr val="20333F"/>
                </a:solidFill>
                <a:latin typeface="Helvetica Neue"/>
                <a:ea typeface="Helvetica Neue"/>
                <a:cs typeface="Helvetica Neue"/>
              </a:defRPr>
            </a:lvl6pPr>
            <a:lvl7pPr>
              <a:defRPr sz="1950" b="0">
                <a:solidFill>
                  <a:srgbClr val="20333F"/>
                </a:solidFill>
                <a:latin typeface="Helvetica Neue"/>
                <a:ea typeface="Helvetica Neue"/>
                <a:cs typeface="Helvetica Neue"/>
              </a:defRPr>
            </a:lvl7pPr>
            <a:lvl8pPr>
              <a:defRPr sz="1950" b="0">
                <a:solidFill>
                  <a:srgbClr val="20333F"/>
                </a:solidFill>
                <a:latin typeface="Helvetica Neue"/>
                <a:ea typeface="Helvetica Neue"/>
                <a:cs typeface="Helvetica Neue"/>
              </a:defRPr>
            </a:lvl8pPr>
            <a:lvl9pPr>
              <a:defRPr sz="1950" b="0">
                <a:solidFill>
                  <a:srgbClr val="20333F"/>
                </a:solidFill>
                <a:latin typeface="Helvetica Neue"/>
                <a:ea typeface="Helvetica Neue"/>
                <a:cs typeface="Helvetica Neue"/>
              </a:defRPr>
            </a:lvl9pPr>
          </a:lstStyle>
          <a:p xmlns:a="http://schemas.openxmlformats.org/drawingml/2006/main">
            <a:pPr>
              <a:defRPr sz="1950" b="0">
                <a:solidFill>
                  <a:srgbClr val="20333F"/>
                </a:solidFill>
                <a:latin typeface="Helvetica Neue"/>
                <a:ea typeface="Helvetica Neue"/>
                <a:cs typeface="Helvetica Neue"/>
              </a:defRPr>
            </a:pPr>
            <a:r>
              <a:rPr sz="1950" b="0">
                <a:solidFill>
                  <a:srgbClr val="20333F"/>
                </a:solidFill>
                <a:latin typeface="Helvetica Neue"/>
                <a:ea typeface="Helvetica Neue"/>
                <a:cs typeface="Helvetica Neue"/>
              </a:rPr>
              <a:t>7-pixel cells give 324 values. 4-pixel cells give 1,296</a:t>
            </a:r>
          </a:p>
        </p:txBody>
      </p:sp>
    </p:spTree>
    <p:extLst>
      <p:ext uri="{BB962C8B-B14F-4D97-AF65-F5344CB8AC3E}">
        <p14:creationId xmlns:p14="http://schemas.microsoft.com/office/powerpoint/2010/main" val="1456076394"/>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12F2D8-D3CC-4B5A-9D68-F234DE84D8FF}"/>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Eight classical comparisons</a:t>
            </a:r>
          </a:p>
        </p:txBody>
      </p:sp>
      <p:sp>
        <p:nvSpPr>
          <p:cNvPr id="2" name="">
            <a:extLst xmlns:a="http://schemas.openxmlformats.org/drawingml/2006/main">
              <a:ext uri="{FF2B5EF4-FFF2-40B4-BE49-F238E27FC236}">
                <a16:creationId xmlns:a16="http://schemas.microsoft.com/office/drawing/2014/main" id="{E623AB23-A74F-4BC2-9E20-EDFA8D01DA70}"/>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A518BD55-A773-4608-8F5D-21A3DC3524CE}"/>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06</a:t>
            </a:r>
          </a:p>
        </p:txBody>
      </p:sp>
      <p:graphicFrame>
        <p:nvGraphicFramePr>
          <p:cNvPr id="4" name="">
            <a:extLst xmlns:a="http://schemas.openxmlformats.org/drawingml/2006/main">
              <a:ext uri="{FF2B5EF4-FFF2-40B4-BE49-F238E27FC236}">
                <a16:creationId xmlns:a16="http://schemas.microsoft.com/office/drawing/2014/main" id="{AB2E2DD3-413D-4D5F-89D9-9260FEEDA320}"/>
              </a:ext>
            </a:extLst>
          </p:cNvPr>
          <p:cNvGraphicFramePr/>
          <p:nvPr/>
        </p:nvGraphicFramePr>
        <p:xfrm>
          <a:off xmlns:a="http://schemas.openxmlformats.org/drawingml/2006/main" x="666750" y="1524000"/>
          <a:ext xmlns:a="http://schemas.openxmlformats.org/drawingml/2006/main" cx="10858500" cy="3524250"/>
        </p:xfrm>
        <a:graphic xmlns:a="http://schemas.openxmlformats.org/drawingml/2006/main">
          <a:graphicData uri="http://schemas.openxmlformats.org/drawingml/2006/table">
            <a:tbl>
              <a:tblPr/>
              <a:tblGrid>
                <a:gridCol w="3333750"/>
                <a:gridCol w="4762500"/>
                <a:gridCol w="2762250"/>
              </a:tblGrid>
              <a:tr h="704850">
                <a:tc>
                  <a:txBody>
                    <a:bodyPr/>
                    <a:lstStyle/>
                    <a:p>
                      <a:r>
                        <a:rPr sz="1800" b="1">
                          <a:solidFill>
                            <a:srgbClr val="FFFFFF"/>
                          </a:solidFill>
                          <a:latin typeface="Helvetica Neue"/>
                          <a:ea typeface="Helvetica Neue"/>
                          <a:cs typeface="Helvetica Neue"/>
                        </a:rPr>
                        <a:t>Classifier</a:t>
                      </a:r>
                    </a:p>
                  </a:txBody>
                  <a:tcPr marL="91440" marR="91440" marT="45720" marB="45720">
                    <a:solidFill>
                      <a:srgbClr val="185B70"/>
                    </a:solidFill>
                  </a:tcPr>
                </a:tc>
                <a:tc>
                  <a:txBody>
                    <a:bodyPr/>
                    <a:lstStyle/>
                    <a:p>
                      <a:r>
                        <a:rPr sz="1800" b="1">
                          <a:solidFill>
                            <a:srgbClr val="FFFFFF"/>
                          </a:solidFill>
                          <a:latin typeface="Helvetica Neue"/>
                          <a:ea typeface="Helvetica Neue"/>
                          <a:cs typeface="Helvetica Neue"/>
                        </a:rPr>
                        <a:t>Main idea</a:t>
                      </a:r>
                    </a:p>
                  </a:txBody>
                  <a:tcPr marL="91440" marR="91440" marT="45720" marB="45720">
                    <a:solidFill>
                      <a:srgbClr val="185B70"/>
                    </a:solidFill>
                  </a:tcPr>
                </a:tc>
                <a:tc>
                  <a:txBody>
                    <a:bodyPr/>
                    <a:lstStyle/>
                    <a:p>
                      <a:r>
                        <a:rPr sz="1800" b="1">
                          <a:solidFill>
                            <a:srgbClr val="FFFFFF"/>
                          </a:solidFill>
                          <a:latin typeface="Helvetica Neue"/>
                          <a:ea typeface="Helvetica Neue"/>
                          <a:cs typeface="Helvetica Neue"/>
                        </a:rPr>
                        <a:t>Two settings</a:t>
                      </a:r>
                    </a:p>
                  </a:txBody>
                  <a:tcPr marL="91440" marR="91440" marT="45720" marB="45720">
                    <a:solidFill>
                      <a:srgbClr val="185B70"/>
                    </a:solidFill>
                  </a:tcPr>
                </a:tc>
              </a:tr>
              <a:tr h="704850">
                <a:tc>
                  <a:txBody>
                    <a:bodyPr/>
                    <a:lstStyle/>
                    <a:p>
                      <a:r>
                        <a:rPr sz="1800" b="0">
                          <a:solidFill>
                            <a:srgbClr val="20333F"/>
                          </a:solidFill>
                          <a:latin typeface="Helvetica Neue"/>
                          <a:ea typeface="Helvetica Neue"/>
                          <a:cs typeface="Helvetica Neue"/>
                        </a:rPr>
                        <a:t>Logistic Regression</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Regularized linear scores</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C: 0.1, 1</a:t>
                      </a:r>
                    </a:p>
                  </a:txBody>
                  <a:tcPr marL="91440" marR="91440" marT="45720" marB="45720">
                    <a:solidFill>
                      <a:srgbClr val="EDF3F5"/>
                    </a:solidFill>
                  </a:tcPr>
                </a:tc>
              </a:tr>
              <a:tr h="704850">
                <a:tc>
                  <a:txBody>
                    <a:bodyPr/>
                    <a:lstStyle/>
                    <a:p>
                      <a:r>
                        <a:rPr sz="1800" b="0">
                          <a:solidFill>
                            <a:srgbClr val="20333F"/>
                          </a:solidFill>
                          <a:latin typeface="Helvetica Neue"/>
                          <a:ea typeface="Helvetica Neue"/>
                          <a:cs typeface="Helvetica Neue"/>
                        </a:rPr>
                        <a:t>k-NN</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Nearby examples vote</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k: 3, 5</a:t>
                      </a:r>
                    </a:p>
                  </a:txBody>
                  <a:tcPr marL="91440" marR="91440" marT="45720" marB="45720">
                    <a:solidFill>
                      <a:srgbClr val="FFFFFF"/>
                    </a:solidFill>
                  </a:tcPr>
                </a:tc>
              </a:tr>
              <a:tr h="704850">
                <a:tc>
                  <a:txBody>
                    <a:bodyPr/>
                    <a:lstStyle/>
                    <a:p>
                      <a:r>
                        <a:rPr sz="1800" b="0">
                          <a:solidFill>
                            <a:srgbClr val="20333F"/>
                          </a:solidFill>
                          <a:latin typeface="Helvetica Neue"/>
                          <a:ea typeface="Helvetica Neue"/>
                          <a:cs typeface="Helvetica Neue"/>
                        </a:rPr>
                        <a:t>Random Forest</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Combine randomized trees</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200 / 400 trees</a:t>
                      </a:r>
                    </a:p>
                  </a:txBody>
                  <a:tcPr marL="91440" marR="91440" marT="45720" marB="45720">
                    <a:solidFill>
                      <a:srgbClr val="EDF3F5"/>
                    </a:solidFill>
                  </a:tcPr>
                </a:tc>
              </a:tr>
              <a:tr h="704850">
                <a:tc>
                  <a:txBody>
                    <a:bodyPr/>
                    <a:lstStyle/>
                    <a:p>
                      <a:r>
                        <a:rPr sz="1800" b="0">
                          <a:solidFill>
                            <a:srgbClr val="20333F"/>
                          </a:solidFill>
                          <a:latin typeface="Helvetica Neue"/>
                          <a:ea typeface="Helvetica Neue"/>
                          <a:cs typeface="Helvetica Neue"/>
                        </a:rPr>
                        <a:t>Linear SVM</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Margin-based boundaries</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C: 0.1, 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36BFDC5-55C7-421C-BBCA-3C0F373CAE2B}"/>
              </a:ext>
            </a:extLst>
          </p:cNvPr>
          <p:cNvSpPr>
            <a:spLocks xmlns:a="http://schemas.openxmlformats.org/drawingml/2006/main" noGrp="1"/>
          </p:cNvSpPr>
          <p:nvPr/>
        </p:nvSpPr>
        <p:spPr>
          <a:xfrm xmlns:a="http://schemas.openxmlformats.org/drawingml/2006/main">
            <a:off x="714375" y="53816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Each classifier is fitted on pixels and coarse HOG</a:t>
            </a:r>
          </a:p>
        </p:txBody>
      </p:sp>
    </p:spTree>
    <p:extLst>
      <p:ext uri="{BB962C8B-B14F-4D97-AF65-F5344CB8AC3E}">
        <p14:creationId xmlns:p14="http://schemas.microsoft.com/office/powerpoint/2010/main" val="662884874"/>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7F5A61-3BD1-491F-A0AA-C5C4FDF96F47}"/>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Model selection and RBF experiments</a:t>
            </a:r>
          </a:p>
        </p:txBody>
      </p:sp>
      <p:sp>
        <p:nvSpPr>
          <p:cNvPr id="2" name="">
            <a:extLst xmlns:a="http://schemas.openxmlformats.org/drawingml/2006/main">
              <a:ext uri="{FF2B5EF4-FFF2-40B4-BE49-F238E27FC236}">
                <a16:creationId xmlns:a16="http://schemas.microsoft.com/office/drawing/2014/main" id="{65E0F7CE-1F18-40F1-80C3-5B343F66549A}"/>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F634533F-F266-471C-9AE1-66D9ED8B5150}"/>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C55DDD08-97D8-437F-BEA6-C9EE44779925}"/>
              </a:ext>
            </a:extLst>
          </p:cNvPr>
          <p:cNvSpPr>
            <a:spLocks xmlns:a="http://schemas.openxmlformats.org/drawingml/2006/main" noGrp="1"/>
          </p:cNvSpPr>
          <p:nvPr/>
        </p:nvSpPr>
        <p:spPr>
          <a:xfrm xmlns:a="http://schemas.openxmlformats.org/drawingml/2006/main">
            <a:off x="714375" y="1476375"/>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Reject candidates with convergence warnings</a:t>
            </a:r>
          </a:p>
        </p:txBody>
      </p:sp>
      <p:sp>
        <p:nvSpPr>
          <p:cNvPr id="5" name="">
            <a:extLst xmlns:a="http://schemas.openxmlformats.org/drawingml/2006/main">
              <a:ext uri="{FF2B5EF4-FFF2-40B4-BE49-F238E27FC236}">
                <a16:creationId xmlns:a16="http://schemas.microsoft.com/office/drawing/2014/main" id="{9904517A-206A-4C87-86D5-CB8AB8014818}"/>
              </a:ext>
            </a:extLst>
          </p:cNvPr>
          <p:cNvSpPr>
            <a:spLocks xmlns:a="http://schemas.openxmlformats.org/drawingml/2006/main" noGrp="1"/>
          </p:cNvSpPr>
          <p:nvPr/>
        </p:nvSpPr>
        <p:spPr>
          <a:xfrm xmlns:a="http://schemas.openxmlformats.org/drawingml/2006/main">
            <a:off x="714375" y="247650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Choose by validation macro F1, using accuracy to break ties</a:t>
            </a:r>
          </a:p>
        </p:txBody>
      </p:sp>
      <p:sp>
        <p:nvSpPr>
          <p:cNvPr id="6" name="">
            <a:extLst xmlns:a="http://schemas.openxmlformats.org/drawingml/2006/main">
              <a:ext uri="{FF2B5EF4-FFF2-40B4-BE49-F238E27FC236}">
                <a16:creationId xmlns:a16="http://schemas.microsoft.com/office/drawing/2014/main" id="{D2DFD852-067F-48BC-B477-8EF52213FCE2}"/>
              </a:ext>
            </a:extLst>
          </p:cNvPr>
          <p:cNvSpPr>
            <a:spLocks xmlns:a="http://schemas.openxmlformats.org/drawingml/2006/main" noGrp="1"/>
          </p:cNvSpPr>
          <p:nvPr/>
        </p:nvSpPr>
        <p:spPr>
          <a:xfrm xmlns:a="http://schemas.openxmlformats.org/drawingml/2006/main">
            <a:off x="714375" y="3476625"/>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RBF SVM runs on pixels, coarse HOG and fine HOG</a:t>
            </a:r>
          </a:p>
        </p:txBody>
      </p:sp>
      <p:sp>
        <p:nvSpPr>
          <p:cNvPr id="7" name="">
            <a:extLst xmlns:a="http://schemas.openxmlformats.org/drawingml/2006/main">
              <a:ext uri="{FF2B5EF4-FFF2-40B4-BE49-F238E27FC236}">
                <a16:creationId xmlns:a16="http://schemas.microsoft.com/office/drawing/2014/main" id="{740154DE-41CE-427E-84C1-66BB6C5C7B8B}"/>
              </a:ext>
            </a:extLst>
          </p:cNvPr>
          <p:cNvSpPr>
            <a:spLocks xmlns:a="http://schemas.openxmlformats.org/drawingml/2006/main" noGrp="1"/>
          </p:cNvSpPr>
          <p:nvPr/>
        </p:nvSpPr>
        <p:spPr>
          <a:xfrm xmlns:a="http://schemas.openxmlformats.org/drawingml/2006/main">
            <a:off x="714375" y="44767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Save model choices and hashes before test evaluation</a:t>
            </a:r>
          </a:p>
        </p:txBody>
      </p:sp>
    </p:spTree>
    <p:extLst>
      <p:ext uri="{BB962C8B-B14F-4D97-AF65-F5344CB8AC3E}">
        <p14:creationId xmlns:p14="http://schemas.microsoft.com/office/powerpoint/2010/main" val="1379847238"/>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CCC113-F271-4BD5-84E1-EAC28CB827D1}"/>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Test results for the eight core models</a:t>
            </a:r>
          </a:p>
        </p:txBody>
      </p:sp>
      <p:sp>
        <p:nvSpPr>
          <p:cNvPr id="2" name="">
            <a:extLst xmlns:a="http://schemas.openxmlformats.org/drawingml/2006/main">
              <a:ext uri="{FF2B5EF4-FFF2-40B4-BE49-F238E27FC236}">
                <a16:creationId xmlns:a16="http://schemas.microsoft.com/office/drawing/2014/main" id="{9C4846A7-28F3-441B-B5AE-3496B272E0CF}"/>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78324756-B46B-4CD6-B269-EBE288731C8F}"/>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08</a:t>
            </a:r>
          </a:p>
        </p:txBody>
      </p:sp>
      <p:graphicFrame>
        <p:nvGraphicFramePr>
          <p:cNvPr id="4" name="">
            <a:extLst xmlns:a="http://schemas.openxmlformats.org/drawingml/2006/main">
              <a:ext uri="{FF2B5EF4-FFF2-40B4-BE49-F238E27FC236}">
                <a16:creationId xmlns:a16="http://schemas.microsoft.com/office/drawing/2014/main" id="{5683ACF2-6FF9-43F8-8EAE-EF2FD368CF04}"/>
              </a:ext>
            </a:extLst>
          </p:cNvPr>
          <p:cNvGraphicFramePr/>
          <p:nvPr/>
        </p:nvGraphicFramePr>
        <p:xfrm>
          <a:off xmlns:a="http://schemas.openxmlformats.org/drawingml/2006/main" x="666750" y="1381125"/>
          <a:ext xmlns:a="http://schemas.openxmlformats.org/drawingml/2006/main" cx="10858500" cy="4524375"/>
        </p:xfrm>
        <a:graphic xmlns:a="http://schemas.openxmlformats.org/drawingml/2006/main">
          <a:graphicData uri="http://schemas.openxmlformats.org/drawingml/2006/table">
            <a:tbl>
              <a:tblPr/>
              <a:tblGrid>
                <a:gridCol w="6191250"/>
                <a:gridCol w="2333625"/>
                <a:gridCol w="2333625"/>
              </a:tblGrid>
              <a:tr h="502708">
                <a:tc>
                  <a:txBody>
                    <a:bodyPr/>
                    <a:lstStyle/>
                    <a:p>
                      <a:r>
                        <a:rPr sz="1800" b="1">
                          <a:solidFill>
                            <a:srgbClr val="FFFFFF"/>
                          </a:solidFill>
                          <a:latin typeface="Helvetica Neue"/>
                          <a:ea typeface="Helvetica Neue"/>
                          <a:cs typeface="Helvetica Neue"/>
                        </a:rPr>
                        <a:t>Model</a:t>
                      </a:r>
                    </a:p>
                  </a:txBody>
                  <a:tcPr marL="91440" marR="91440" marT="45720" marB="45720">
                    <a:solidFill>
                      <a:srgbClr val="185B70"/>
                    </a:solidFill>
                  </a:tcPr>
                </a:tc>
                <a:tc>
                  <a:txBody>
                    <a:bodyPr/>
                    <a:lstStyle/>
                    <a:p>
                      <a:r>
                        <a:rPr sz="1800" b="1">
                          <a:solidFill>
                            <a:srgbClr val="FFFFFF"/>
                          </a:solidFill>
                          <a:latin typeface="Helvetica Neue"/>
                          <a:ea typeface="Helvetica Neue"/>
                          <a:cs typeface="Helvetica Neue"/>
                        </a:rPr>
                        <a:t>Accuracy</a:t>
                      </a:r>
                    </a:p>
                  </a:txBody>
                  <a:tcPr marL="91440" marR="91440" marT="45720" marB="45720">
                    <a:solidFill>
                      <a:srgbClr val="185B70"/>
                    </a:solidFill>
                  </a:tcPr>
                </a:tc>
                <a:tc>
                  <a:txBody>
                    <a:bodyPr/>
                    <a:lstStyle/>
                    <a:p>
                      <a:r>
                        <a:rPr sz="1800" b="1">
                          <a:solidFill>
                            <a:srgbClr val="FFFFFF"/>
                          </a:solidFill>
                          <a:latin typeface="Helvetica Neue"/>
                          <a:ea typeface="Helvetica Neue"/>
                          <a:cs typeface="Helvetica Neue"/>
                        </a:rPr>
                        <a:t>Macro F1</a:t>
                      </a:r>
                    </a:p>
                  </a:txBody>
                  <a:tcPr marL="91440" marR="91440" marT="45720" marB="45720">
                    <a:solidFill>
                      <a:srgbClr val="185B70"/>
                    </a:solidFill>
                  </a:tcPr>
                </a:tc>
              </a:tr>
              <a:tr h="502708">
                <a:tc>
                  <a:txBody>
                    <a:bodyPr/>
                    <a:lstStyle/>
                    <a:p>
                      <a:r>
                        <a:rPr sz="1800" b="0">
                          <a:solidFill>
                            <a:srgbClr val="20333F"/>
                          </a:solidFill>
                          <a:latin typeface="Helvetica Neue"/>
                          <a:ea typeface="Helvetica Neue"/>
                          <a:cs typeface="Helvetica Neue"/>
                        </a:rPr>
                        <a:t>Pixels + RF</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87.61%</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0.8747</a:t>
                      </a:r>
                    </a:p>
                  </a:txBody>
                  <a:tcPr marL="91440" marR="91440" marT="45720" marB="45720">
                    <a:solidFill>
                      <a:srgbClr val="EDF3F5"/>
                    </a:solidFill>
                  </a:tcPr>
                </a:tc>
              </a:tr>
              <a:tr h="502708">
                <a:tc>
                  <a:txBody>
                    <a:bodyPr/>
                    <a:lstStyle/>
                    <a:p>
                      <a:r>
                        <a:rPr sz="1800" b="0">
                          <a:solidFill>
                            <a:srgbClr val="20333F"/>
                          </a:solidFill>
                          <a:latin typeface="Helvetica Neue"/>
                          <a:ea typeface="Helvetica Neue"/>
                          <a:cs typeface="Helvetica Neue"/>
                        </a:rPr>
                        <a:t>Pixels + k-NN</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85.09%</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0.8515</a:t>
                      </a:r>
                    </a:p>
                  </a:txBody>
                  <a:tcPr marL="91440" marR="91440" marT="45720" marB="45720">
                    <a:solidFill>
                      <a:srgbClr val="FFFFFF"/>
                    </a:solidFill>
                  </a:tcPr>
                </a:tc>
              </a:tr>
              <a:tr h="502708">
                <a:tc>
                  <a:txBody>
                    <a:bodyPr/>
                    <a:lstStyle/>
                    <a:p>
                      <a:r>
                        <a:rPr sz="1800" b="0">
                          <a:solidFill>
                            <a:srgbClr val="20333F"/>
                          </a:solidFill>
                          <a:latin typeface="Helvetica Neue"/>
                          <a:ea typeface="Helvetica Neue"/>
                          <a:cs typeface="Helvetica Neue"/>
                        </a:rPr>
                        <a:t>Pixels + LR</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83.96%</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0.8390</a:t>
                      </a:r>
                    </a:p>
                  </a:txBody>
                  <a:tcPr marL="91440" marR="91440" marT="45720" marB="45720">
                    <a:solidFill>
                      <a:srgbClr val="EDF3F5"/>
                    </a:solidFill>
                  </a:tcPr>
                </a:tc>
              </a:tr>
              <a:tr h="502708">
                <a:tc>
                  <a:txBody>
                    <a:bodyPr/>
                    <a:lstStyle/>
                    <a:p>
                      <a:r>
                        <a:rPr sz="1800" b="0">
                          <a:solidFill>
                            <a:srgbClr val="20333F"/>
                          </a:solidFill>
                          <a:latin typeface="Helvetica Neue"/>
                          <a:ea typeface="Helvetica Neue"/>
                          <a:cs typeface="Helvetica Neue"/>
                        </a:rPr>
                        <a:t>Pixels + linear SVM</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83.97%</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0.8373</a:t>
                      </a:r>
                    </a:p>
                  </a:txBody>
                  <a:tcPr marL="91440" marR="91440" marT="45720" marB="45720">
                    <a:solidFill>
                      <a:srgbClr val="FFFFFF"/>
                    </a:solidFill>
                  </a:tcPr>
                </a:tc>
              </a:tr>
              <a:tr h="502708">
                <a:tc>
                  <a:txBody>
                    <a:bodyPr/>
                    <a:lstStyle/>
                    <a:p>
                      <a:r>
                        <a:rPr sz="1800" b="0">
                          <a:solidFill>
                            <a:srgbClr val="20333F"/>
                          </a:solidFill>
                          <a:latin typeface="Helvetica Neue"/>
                          <a:ea typeface="Helvetica Neue"/>
                          <a:cs typeface="Helvetica Neue"/>
                        </a:rPr>
                        <a:t>HOG + LR</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84.55%</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0.8450</a:t>
                      </a:r>
                    </a:p>
                  </a:txBody>
                  <a:tcPr marL="91440" marR="91440" marT="45720" marB="45720">
                    <a:solidFill>
                      <a:srgbClr val="EDF3F5"/>
                    </a:solidFill>
                  </a:tcPr>
                </a:tc>
              </a:tr>
              <a:tr h="502708">
                <a:tc>
                  <a:txBody>
                    <a:bodyPr/>
                    <a:lstStyle/>
                    <a:p>
                      <a:r>
                        <a:rPr sz="1800" b="0">
                          <a:solidFill>
                            <a:srgbClr val="20333F"/>
                          </a:solidFill>
                          <a:latin typeface="Helvetica Neue"/>
                          <a:ea typeface="Helvetica Neue"/>
                          <a:cs typeface="Helvetica Neue"/>
                        </a:rPr>
                        <a:t>HOG + linear SVM</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84.01%</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0.8385</a:t>
                      </a:r>
                    </a:p>
                  </a:txBody>
                  <a:tcPr marL="91440" marR="91440" marT="45720" marB="45720">
                    <a:solidFill>
                      <a:srgbClr val="FFFFFF"/>
                    </a:solidFill>
                  </a:tcPr>
                </a:tc>
              </a:tr>
              <a:tr h="502708">
                <a:tc>
                  <a:txBody>
                    <a:bodyPr/>
                    <a:lstStyle/>
                    <a:p>
                      <a:r>
                        <a:rPr sz="1800" b="0">
                          <a:solidFill>
                            <a:srgbClr val="20333F"/>
                          </a:solidFill>
                          <a:latin typeface="Helvetica Neue"/>
                          <a:ea typeface="Helvetica Neue"/>
                          <a:cs typeface="Helvetica Neue"/>
                        </a:rPr>
                        <a:t>HOG + RF</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84.59%</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0.8455</a:t>
                      </a:r>
                    </a:p>
                  </a:txBody>
                  <a:tcPr marL="91440" marR="91440" marT="45720" marB="45720">
                    <a:solidFill>
                      <a:srgbClr val="EDF3F5"/>
                    </a:solidFill>
                  </a:tcPr>
                </a:tc>
              </a:tr>
              <a:tr h="502708">
                <a:tc>
                  <a:txBody>
                    <a:bodyPr/>
                    <a:lstStyle/>
                    <a:p>
                      <a:r>
                        <a:rPr sz="1800" b="0">
                          <a:solidFill>
                            <a:srgbClr val="20333F"/>
                          </a:solidFill>
                          <a:latin typeface="Helvetica Neue"/>
                          <a:ea typeface="Helvetica Neue"/>
                          <a:cs typeface="Helvetica Neue"/>
                        </a:rPr>
                        <a:t>HOG + k-NN</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83.81%</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0.8382</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11718774"/>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7608EC-5B8E-4C4C-906D-E786AEBB780B}"/>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Selected model and test performance</a:t>
            </a:r>
          </a:p>
        </p:txBody>
      </p:sp>
      <p:sp>
        <p:nvSpPr>
          <p:cNvPr id="2" name="">
            <a:extLst xmlns:a="http://schemas.openxmlformats.org/drawingml/2006/main">
              <a:ext uri="{FF2B5EF4-FFF2-40B4-BE49-F238E27FC236}">
                <a16:creationId xmlns:a16="http://schemas.microsoft.com/office/drawing/2014/main" id="{001A0B40-F375-40A3-8AEB-6DC844A4DC6B}"/>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B72D4387-E3BB-4094-8205-B34ED531D9D5}"/>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526BDE83-AD71-44D0-AACD-8A94077E9C9A}"/>
              </a:ext>
            </a:extLst>
          </p:cNvPr>
          <p:cNvSpPr>
            <a:spLocks xmlns:a="http://schemas.openxmlformats.org/drawingml/2006/main" noGrp="1"/>
          </p:cNvSpPr>
          <p:nvPr/>
        </p:nvSpPr>
        <p:spPr>
          <a:xfrm xmlns:a="http://schemas.openxmlformats.org/drawingml/2006/main">
            <a:off x="714375" y="1428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85B70"/>
                </a:solidFill>
                <a:latin typeface="Helvetica Neue"/>
                <a:ea typeface="Helvetica Neue"/>
                <a:cs typeface="Helvetica Neue"/>
              </a:defRPr>
            </a:defPPr>
            <a:lvl1pPr>
              <a:defRPr sz="3000" b="1">
                <a:solidFill>
                  <a:srgbClr val="185B70"/>
                </a:solidFill>
                <a:latin typeface="Helvetica Neue"/>
                <a:ea typeface="Helvetica Neue"/>
                <a:cs typeface="Helvetica Neue"/>
              </a:defRPr>
            </a:lvl1pPr>
            <a:lvl2pPr>
              <a:defRPr sz="3000" b="1">
                <a:solidFill>
                  <a:srgbClr val="185B70"/>
                </a:solidFill>
                <a:latin typeface="Helvetica Neue"/>
                <a:ea typeface="Helvetica Neue"/>
                <a:cs typeface="Helvetica Neue"/>
              </a:defRPr>
            </a:lvl2pPr>
            <a:lvl3pPr>
              <a:defRPr sz="3000" b="1">
                <a:solidFill>
                  <a:srgbClr val="185B70"/>
                </a:solidFill>
                <a:latin typeface="Helvetica Neue"/>
                <a:ea typeface="Helvetica Neue"/>
                <a:cs typeface="Helvetica Neue"/>
              </a:defRPr>
            </a:lvl3pPr>
            <a:lvl4pPr>
              <a:defRPr sz="3000" b="1">
                <a:solidFill>
                  <a:srgbClr val="185B70"/>
                </a:solidFill>
                <a:latin typeface="Helvetica Neue"/>
                <a:ea typeface="Helvetica Neue"/>
                <a:cs typeface="Helvetica Neue"/>
              </a:defRPr>
            </a:lvl4pPr>
            <a:lvl5pPr>
              <a:defRPr sz="3000" b="1">
                <a:solidFill>
                  <a:srgbClr val="185B70"/>
                </a:solidFill>
                <a:latin typeface="Helvetica Neue"/>
                <a:ea typeface="Helvetica Neue"/>
                <a:cs typeface="Helvetica Neue"/>
              </a:defRPr>
            </a:lvl5pPr>
            <a:lvl6pPr>
              <a:defRPr sz="3000" b="1">
                <a:solidFill>
                  <a:srgbClr val="185B70"/>
                </a:solidFill>
                <a:latin typeface="Helvetica Neue"/>
                <a:ea typeface="Helvetica Neue"/>
                <a:cs typeface="Helvetica Neue"/>
              </a:defRPr>
            </a:lvl6pPr>
            <a:lvl7pPr>
              <a:defRPr sz="3000" b="1">
                <a:solidFill>
                  <a:srgbClr val="185B70"/>
                </a:solidFill>
                <a:latin typeface="Helvetica Neue"/>
                <a:ea typeface="Helvetica Neue"/>
                <a:cs typeface="Helvetica Neue"/>
              </a:defRPr>
            </a:lvl7pPr>
            <a:lvl8pPr>
              <a:defRPr sz="3000" b="1">
                <a:solidFill>
                  <a:srgbClr val="185B70"/>
                </a:solidFill>
                <a:latin typeface="Helvetica Neue"/>
                <a:ea typeface="Helvetica Neue"/>
                <a:cs typeface="Helvetica Neue"/>
              </a:defRPr>
            </a:lvl8pPr>
            <a:lvl9pPr>
              <a:defRPr sz="3000" b="1">
                <a:solidFill>
                  <a:srgbClr val="185B70"/>
                </a:solidFill>
                <a:latin typeface="Helvetica Neue"/>
                <a:ea typeface="Helvetica Neue"/>
                <a:cs typeface="Helvetica Neue"/>
              </a:defRPr>
            </a:lvl9pPr>
          </a:lstStyle>
          <a:p xmlns:a="http://schemas.openxmlformats.org/drawingml/2006/main">
            <a:pPr>
              <a:defRPr sz="3000" b="1">
                <a:solidFill>
                  <a:srgbClr val="185B70"/>
                </a:solidFill>
                <a:latin typeface="Helvetica Neue"/>
                <a:ea typeface="Helvetica Neue"/>
                <a:cs typeface="Helvetica Neue"/>
              </a:defRPr>
            </a:pPr>
            <a:r>
              <a:rPr sz="3000" b="1">
                <a:solidFill>
                  <a:srgbClr val="185B70"/>
                </a:solidFill>
                <a:latin typeface="Helvetica Neue"/>
                <a:ea typeface="Helvetica Neue"/>
                <a:cs typeface="Helvetica Neue"/>
              </a:rPr>
              <a:t>Fine HOG + RBF SVM</a:t>
            </a:r>
          </a:p>
        </p:txBody>
      </p:sp>
      <p:sp>
        <p:nvSpPr>
          <p:cNvPr id="5" name="">
            <a:extLst xmlns:a="http://schemas.openxmlformats.org/drawingml/2006/main">
              <a:ext uri="{FF2B5EF4-FFF2-40B4-BE49-F238E27FC236}">
                <a16:creationId xmlns:a16="http://schemas.microsoft.com/office/drawing/2014/main" id="{8E0FD384-DB83-48ED-81E4-926A77028B7A}"/>
              </a:ext>
            </a:extLst>
          </p:cNvPr>
          <p:cNvSpPr>
            <a:spLocks xmlns:a="http://schemas.openxmlformats.org/drawingml/2006/main" noGrp="1"/>
          </p:cNvSpPr>
          <p:nvPr/>
        </p:nvSpPr>
        <p:spPr>
          <a:xfrm xmlns:a="http://schemas.openxmlformats.org/drawingml/2006/main">
            <a:off x="714375" y="23812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02B3B"/>
                </a:solidFill>
                <a:latin typeface="Helvetica Neue"/>
                <a:ea typeface="Helvetica Neue"/>
                <a:cs typeface="Helvetica Neue"/>
              </a:defRPr>
            </a:defPPr>
            <a:lvl1pPr>
              <a:defRPr sz="4650" b="1">
                <a:solidFill>
                  <a:srgbClr val="102B3B"/>
                </a:solidFill>
                <a:latin typeface="Helvetica Neue"/>
                <a:ea typeface="Helvetica Neue"/>
                <a:cs typeface="Helvetica Neue"/>
              </a:defRPr>
            </a:lvl1pPr>
            <a:lvl2pPr>
              <a:defRPr sz="4650" b="1">
                <a:solidFill>
                  <a:srgbClr val="102B3B"/>
                </a:solidFill>
                <a:latin typeface="Helvetica Neue"/>
                <a:ea typeface="Helvetica Neue"/>
                <a:cs typeface="Helvetica Neue"/>
              </a:defRPr>
            </a:lvl2pPr>
            <a:lvl3pPr>
              <a:defRPr sz="4650" b="1">
                <a:solidFill>
                  <a:srgbClr val="102B3B"/>
                </a:solidFill>
                <a:latin typeface="Helvetica Neue"/>
                <a:ea typeface="Helvetica Neue"/>
                <a:cs typeface="Helvetica Neue"/>
              </a:defRPr>
            </a:lvl3pPr>
            <a:lvl4pPr>
              <a:defRPr sz="4650" b="1">
                <a:solidFill>
                  <a:srgbClr val="102B3B"/>
                </a:solidFill>
                <a:latin typeface="Helvetica Neue"/>
                <a:ea typeface="Helvetica Neue"/>
                <a:cs typeface="Helvetica Neue"/>
              </a:defRPr>
            </a:lvl4pPr>
            <a:lvl5pPr>
              <a:defRPr sz="4650" b="1">
                <a:solidFill>
                  <a:srgbClr val="102B3B"/>
                </a:solidFill>
                <a:latin typeface="Helvetica Neue"/>
                <a:ea typeface="Helvetica Neue"/>
                <a:cs typeface="Helvetica Neue"/>
              </a:defRPr>
            </a:lvl5pPr>
            <a:lvl6pPr>
              <a:defRPr sz="4650" b="1">
                <a:solidFill>
                  <a:srgbClr val="102B3B"/>
                </a:solidFill>
                <a:latin typeface="Helvetica Neue"/>
                <a:ea typeface="Helvetica Neue"/>
                <a:cs typeface="Helvetica Neue"/>
              </a:defRPr>
            </a:lvl6pPr>
            <a:lvl7pPr>
              <a:defRPr sz="4650" b="1">
                <a:solidFill>
                  <a:srgbClr val="102B3B"/>
                </a:solidFill>
                <a:latin typeface="Helvetica Neue"/>
                <a:ea typeface="Helvetica Neue"/>
                <a:cs typeface="Helvetica Neue"/>
              </a:defRPr>
            </a:lvl7pPr>
            <a:lvl8pPr>
              <a:defRPr sz="4650" b="1">
                <a:solidFill>
                  <a:srgbClr val="102B3B"/>
                </a:solidFill>
                <a:latin typeface="Helvetica Neue"/>
                <a:ea typeface="Helvetica Neue"/>
                <a:cs typeface="Helvetica Neue"/>
              </a:defRPr>
            </a:lvl8pPr>
            <a:lvl9pPr>
              <a:defRPr sz="4650" b="1">
                <a:solidFill>
                  <a:srgbClr val="102B3B"/>
                </a:solidFill>
                <a:latin typeface="Helvetica Neue"/>
                <a:ea typeface="Helvetica Neue"/>
                <a:cs typeface="Helvetica Neue"/>
              </a:defRPr>
            </a:lvl9pPr>
          </a:lstStyle>
          <a:p xmlns:a="http://schemas.openxmlformats.org/drawingml/2006/main">
            <a:pPr>
              <a:defRPr sz="4650" b="1">
                <a:solidFill>
                  <a:srgbClr val="102B3B"/>
                </a:solidFill>
                <a:latin typeface="Helvetica Neue"/>
                <a:ea typeface="Helvetica Neue"/>
                <a:cs typeface="Helvetica Neue"/>
              </a:defRPr>
            </a:pPr>
            <a:r>
              <a:rPr sz="4650" b="1">
                <a:solidFill>
                  <a:srgbClr val="102B3B"/>
                </a:solidFill>
                <a:latin typeface="Helvetica Neue"/>
                <a:ea typeface="Helvetica Neue"/>
                <a:cs typeface="Helvetica Neue"/>
              </a:rPr>
              <a:t>90.87% test accuracy</a:t>
            </a:r>
          </a:p>
        </p:txBody>
      </p:sp>
      <p:sp>
        <p:nvSpPr>
          <p:cNvPr id="6" name="">
            <a:extLst xmlns:a="http://schemas.openxmlformats.org/drawingml/2006/main">
              <a:ext uri="{FF2B5EF4-FFF2-40B4-BE49-F238E27FC236}">
                <a16:creationId xmlns:a16="http://schemas.microsoft.com/office/drawing/2014/main" id="{E6C5426D-1C8D-4116-AB76-7A0275B85A6E}"/>
              </a:ext>
            </a:extLst>
          </p:cNvPr>
          <p:cNvSpPr>
            <a:spLocks xmlns:a="http://schemas.openxmlformats.org/drawingml/2006/main" noGrp="1"/>
          </p:cNvSpPr>
          <p:nvPr/>
        </p:nvSpPr>
        <p:spPr>
          <a:xfrm xmlns:a="http://schemas.openxmlformats.org/drawingml/2006/main">
            <a:off x="714375" y="3476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20333F"/>
                </a:solidFill>
                <a:latin typeface="Helvetica Neue"/>
                <a:ea typeface="Helvetica Neue"/>
                <a:cs typeface="Helvetica Neue"/>
              </a:defRPr>
            </a:defPPr>
            <a:lvl1pPr>
              <a:defRPr sz="2775" b="0">
                <a:solidFill>
                  <a:srgbClr val="20333F"/>
                </a:solidFill>
                <a:latin typeface="Helvetica Neue"/>
                <a:ea typeface="Helvetica Neue"/>
                <a:cs typeface="Helvetica Neue"/>
              </a:defRPr>
            </a:lvl1pPr>
            <a:lvl2pPr>
              <a:defRPr sz="2775" b="0">
                <a:solidFill>
                  <a:srgbClr val="20333F"/>
                </a:solidFill>
                <a:latin typeface="Helvetica Neue"/>
                <a:ea typeface="Helvetica Neue"/>
                <a:cs typeface="Helvetica Neue"/>
              </a:defRPr>
            </a:lvl2pPr>
            <a:lvl3pPr>
              <a:defRPr sz="2775" b="0">
                <a:solidFill>
                  <a:srgbClr val="20333F"/>
                </a:solidFill>
                <a:latin typeface="Helvetica Neue"/>
                <a:ea typeface="Helvetica Neue"/>
                <a:cs typeface="Helvetica Neue"/>
              </a:defRPr>
            </a:lvl3pPr>
            <a:lvl4pPr>
              <a:defRPr sz="2775" b="0">
                <a:solidFill>
                  <a:srgbClr val="20333F"/>
                </a:solidFill>
                <a:latin typeface="Helvetica Neue"/>
                <a:ea typeface="Helvetica Neue"/>
                <a:cs typeface="Helvetica Neue"/>
              </a:defRPr>
            </a:lvl4pPr>
            <a:lvl5pPr>
              <a:defRPr sz="2775" b="0">
                <a:solidFill>
                  <a:srgbClr val="20333F"/>
                </a:solidFill>
                <a:latin typeface="Helvetica Neue"/>
                <a:ea typeface="Helvetica Neue"/>
                <a:cs typeface="Helvetica Neue"/>
              </a:defRPr>
            </a:lvl5pPr>
            <a:lvl6pPr>
              <a:defRPr sz="2775" b="0">
                <a:solidFill>
                  <a:srgbClr val="20333F"/>
                </a:solidFill>
                <a:latin typeface="Helvetica Neue"/>
                <a:ea typeface="Helvetica Neue"/>
                <a:cs typeface="Helvetica Neue"/>
              </a:defRPr>
            </a:lvl6pPr>
            <a:lvl7pPr>
              <a:defRPr sz="2775" b="0">
                <a:solidFill>
                  <a:srgbClr val="20333F"/>
                </a:solidFill>
                <a:latin typeface="Helvetica Neue"/>
                <a:ea typeface="Helvetica Neue"/>
                <a:cs typeface="Helvetica Neue"/>
              </a:defRPr>
            </a:lvl7pPr>
            <a:lvl8pPr>
              <a:defRPr sz="2775" b="0">
                <a:solidFill>
                  <a:srgbClr val="20333F"/>
                </a:solidFill>
                <a:latin typeface="Helvetica Neue"/>
                <a:ea typeface="Helvetica Neue"/>
                <a:cs typeface="Helvetica Neue"/>
              </a:defRPr>
            </a:lvl8pPr>
            <a:lvl9pPr>
              <a:defRPr sz="2775" b="0">
                <a:solidFill>
                  <a:srgbClr val="20333F"/>
                </a:solidFill>
                <a:latin typeface="Helvetica Neue"/>
                <a:ea typeface="Helvetica Neue"/>
                <a:cs typeface="Helvetica Neue"/>
              </a:defRPr>
            </a:lvl9pPr>
          </a:lstStyle>
          <a:p xmlns:a="http://schemas.openxmlformats.org/drawingml/2006/main">
            <a:pPr>
              <a:defRPr sz="2775" b="0">
                <a:solidFill>
                  <a:srgbClr val="20333F"/>
                </a:solidFill>
                <a:latin typeface="Helvetica Neue"/>
                <a:ea typeface="Helvetica Neue"/>
                <a:cs typeface="Helvetica Neue"/>
              </a:defRPr>
            </a:pPr>
            <a:r>
              <a:rPr sz="2775" b="0">
                <a:solidFill>
                  <a:srgbClr val="20333F"/>
                </a:solidFill>
                <a:latin typeface="Helvetica Neue"/>
                <a:ea typeface="Helvetica Neue"/>
                <a:cs typeface="Helvetica Neue"/>
              </a:rPr>
              <a:t>0.9084 macro F1</a:t>
            </a:r>
          </a:p>
        </p:txBody>
      </p:sp>
      <p:sp>
        <p:nvSpPr>
          <p:cNvPr id="7" name="">
            <a:extLst xmlns:a="http://schemas.openxmlformats.org/drawingml/2006/main">
              <a:ext uri="{FF2B5EF4-FFF2-40B4-BE49-F238E27FC236}">
                <a16:creationId xmlns:a16="http://schemas.microsoft.com/office/drawing/2014/main" id="{AB2CB973-7751-4FBF-9222-4D230B2A082E}"/>
              </a:ext>
            </a:extLst>
          </p:cNvPr>
          <p:cNvSpPr>
            <a:spLocks xmlns:a="http://schemas.openxmlformats.org/drawingml/2006/main" noGrp="1"/>
          </p:cNvSpPr>
          <p:nvPr/>
        </p:nvSpPr>
        <p:spPr>
          <a:xfrm xmlns:a="http://schemas.openxmlformats.org/drawingml/2006/main">
            <a:off x="714375" y="4572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All methods used the same 48,000 training images</a:t>
            </a:r>
          </a:p>
        </p:txBody>
      </p:sp>
      <p:sp>
        <p:nvSpPr>
          <p:cNvPr id="8" name="">
            <a:extLst xmlns:a="http://schemas.openxmlformats.org/drawingml/2006/main">
              <a:ext uri="{FF2B5EF4-FFF2-40B4-BE49-F238E27FC236}">
                <a16:creationId xmlns:a16="http://schemas.microsoft.com/office/drawing/2014/main" id="{CEEAFA04-B947-475D-9270-48B70120705F}"/>
              </a:ext>
            </a:extLst>
          </p:cNvPr>
          <p:cNvSpPr>
            <a:spLocks xmlns:a="http://schemas.openxmlformats.org/drawingml/2006/main" noGrp="1"/>
          </p:cNvSpPr>
          <p:nvPr/>
        </p:nvSpPr>
        <p:spPr>
          <a:xfrm xmlns:a="http://schemas.openxmlformats.org/drawingml/2006/main">
            <a:off x="714375" y="5381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7582"/>
                </a:solidFill>
                <a:latin typeface="Helvetica Neue"/>
                <a:ea typeface="Helvetica Neue"/>
                <a:cs typeface="Helvetica Neue"/>
              </a:defRPr>
            </a:defPPr>
            <a:lvl1pPr>
              <a:defRPr sz="1875" b="0">
                <a:solidFill>
                  <a:srgbClr val="607582"/>
                </a:solidFill>
                <a:latin typeface="Helvetica Neue"/>
                <a:ea typeface="Helvetica Neue"/>
                <a:cs typeface="Helvetica Neue"/>
              </a:defRPr>
            </a:lvl1pPr>
            <a:lvl2pPr>
              <a:defRPr sz="1875" b="0">
                <a:solidFill>
                  <a:srgbClr val="607582"/>
                </a:solidFill>
                <a:latin typeface="Helvetica Neue"/>
                <a:ea typeface="Helvetica Neue"/>
                <a:cs typeface="Helvetica Neue"/>
              </a:defRPr>
            </a:lvl2pPr>
            <a:lvl3pPr>
              <a:defRPr sz="1875" b="0">
                <a:solidFill>
                  <a:srgbClr val="607582"/>
                </a:solidFill>
                <a:latin typeface="Helvetica Neue"/>
                <a:ea typeface="Helvetica Neue"/>
                <a:cs typeface="Helvetica Neue"/>
              </a:defRPr>
            </a:lvl3pPr>
            <a:lvl4pPr>
              <a:defRPr sz="1875" b="0">
                <a:solidFill>
                  <a:srgbClr val="607582"/>
                </a:solidFill>
                <a:latin typeface="Helvetica Neue"/>
                <a:ea typeface="Helvetica Neue"/>
                <a:cs typeface="Helvetica Neue"/>
              </a:defRPr>
            </a:lvl4pPr>
            <a:lvl5pPr>
              <a:defRPr sz="1875" b="0">
                <a:solidFill>
                  <a:srgbClr val="607582"/>
                </a:solidFill>
                <a:latin typeface="Helvetica Neue"/>
                <a:ea typeface="Helvetica Neue"/>
                <a:cs typeface="Helvetica Neue"/>
              </a:defRPr>
            </a:lvl5pPr>
            <a:lvl6pPr>
              <a:defRPr sz="1875" b="0">
                <a:solidFill>
                  <a:srgbClr val="607582"/>
                </a:solidFill>
                <a:latin typeface="Helvetica Neue"/>
                <a:ea typeface="Helvetica Neue"/>
                <a:cs typeface="Helvetica Neue"/>
              </a:defRPr>
            </a:lvl6pPr>
            <a:lvl7pPr>
              <a:defRPr sz="1875" b="0">
                <a:solidFill>
                  <a:srgbClr val="607582"/>
                </a:solidFill>
                <a:latin typeface="Helvetica Neue"/>
                <a:ea typeface="Helvetica Neue"/>
                <a:cs typeface="Helvetica Neue"/>
              </a:defRPr>
            </a:lvl7pPr>
            <a:lvl8pPr>
              <a:defRPr sz="1875" b="0">
                <a:solidFill>
                  <a:srgbClr val="607582"/>
                </a:solidFill>
                <a:latin typeface="Helvetica Neue"/>
                <a:ea typeface="Helvetica Neue"/>
                <a:cs typeface="Helvetica Neue"/>
              </a:defRPr>
            </a:lvl8pPr>
            <a:lvl9pPr>
              <a:defRPr sz="1875" b="0">
                <a:solidFill>
                  <a:srgbClr val="607582"/>
                </a:solidFill>
                <a:latin typeface="Helvetica Neue"/>
                <a:ea typeface="Helvetica Neue"/>
                <a:cs typeface="Helvetica Neue"/>
              </a:defRPr>
            </a:lvl9pPr>
          </a:lstStyle>
          <a:p xmlns:a="http://schemas.openxmlformats.org/drawingml/2006/main">
            <a:pPr>
              <a:defRPr sz="1875" b="0">
                <a:solidFill>
                  <a:srgbClr val="607582"/>
                </a:solidFill>
                <a:latin typeface="Helvetica Neue"/>
                <a:ea typeface="Helvetica Neue"/>
                <a:cs typeface="Helvetica Neue"/>
              </a:defRPr>
            </a:pPr>
            <a:r>
              <a:rPr sz="1875" b="0">
                <a:solidFill>
                  <a:srgbClr val="607582"/>
                </a:solidFill>
                <a:latin typeface="Helvetica Neue"/>
                <a:ea typeface="Helvetica Neue"/>
                <a:cs typeface="Helvetica Neue"/>
              </a:rPr>
              <a:t>The reference used 12,000 images. Training size and settings both changed</a:t>
            </a:r>
          </a:p>
        </p:txBody>
      </p:sp>
    </p:spTree>
    <p:extLst>
      <p:ext uri="{BB962C8B-B14F-4D97-AF65-F5344CB8AC3E}">
        <p14:creationId xmlns:p14="http://schemas.microsoft.com/office/powerpoint/2010/main" val="882768720"/>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46C365-1DFF-4A0C-B6CF-58C40A514081}"/>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Per-category recall</a:t>
            </a:r>
          </a:p>
        </p:txBody>
      </p:sp>
      <p:sp>
        <p:nvSpPr>
          <p:cNvPr id="2" name="">
            <a:extLst xmlns:a="http://schemas.openxmlformats.org/drawingml/2006/main">
              <a:ext uri="{FF2B5EF4-FFF2-40B4-BE49-F238E27FC236}">
                <a16:creationId xmlns:a16="http://schemas.microsoft.com/office/drawing/2014/main" id="{5730D960-DCC4-4A39-BDB8-1C5F177E6787}"/>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6561C342-13BA-4C6D-A1AA-052CC24D22CE}"/>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10</a:t>
            </a:r>
          </a:p>
        </p:txBody>
      </p:sp>
      <p:graphicFrame>
        <p:nvGraphicFramePr>
          <p:cNvPr id="4" name="Chart">
            <a:extLst xmlns:a="http://schemas.openxmlformats.org/drawingml/2006/main">
              <a:ext uri="{FF2B5EF4-FFF2-40B4-BE49-F238E27FC236}">
                <a16:creationId xmlns:a16="http://schemas.microsoft.com/office/drawing/2014/main" id="{5E65C6F2-3591-4A74-A115-179D254E5AEC}"/>
              </a:ext>
            </a:extLst>
          </p:cNvPr>
          <p:cNvGraphicFramePr/>
          <p:nvPr/>
        </p:nvGraphicFramePr>
        <p:xfrm>
          <a:off xmlns:a="http://schemas.openxmlformats.org/drawingml/2006/main" x="714375" y="1428750"/>
          <a:ext xmlns:a="http://schemas.openxmlformats.org/drawingml/2006/main" cx="10763250" cy="4381500"/>
        </p:xfrm>
        <a:graphic xmlns:a="http://schemas.openxmlformats.org/drawingml/2006/main">
          <a:graphicData uri="http://schemas.openxmlformats.org/drawingml/2006/chart">
            <c:chart xmlns:r="http://schemas.openxmlformats.org/officeDocument/2006/relationships" xmlns:c="http://schemas.openxmlformats.org/drawingml/2006/chart" r:id="Rd474d94c73664703"/>
          </a:graphicData>
        </a:graphic>
      </p:graphicFrame>
    </p:spTree>
    <p:extLst>
      <p:ext uri="{BB962C8B-B14F-4D97-AF65-F5344CB8AC3E}">
        <p14:creationId xmlns:p14="http://schemas.microsoft.com/office/powerpoint/2010/main" val="2147345673"/>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32590E-AAD0-4AC9-8E6F-6EE0DC848E5B}"/>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Common upper-body mistakes</a:t>
            </a:r>
          </a:p>
        </p:txBody>
      </p:sp>
      <p:sp>
        <p:nvSpPr>
          <p:cNvPr id="2" name="">
            <a:extLst xmlns:a="http://schemas.openxmlformats.org/drawingml/2006/main">
              <a:ext uri="{FF2B5EF4-FFF2-40B4-BE49-F238E27FC236}">
                <a16:creationId xmlns:a16="http://schemas.microsoft.com/office/drawing/2014/main" id="{74AF57C9-8842-4FC8-9BD8-AB58B1CD86CF}"/>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8CA8F8A5-DB6A-45FE-8F8C-D37785097E11}"/>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11</a:t>
            </a:r>
          </a:p>
        </p:txBody>
      </p:sp>
      <p:pic>
        <p:nvPicPr>
          <p:cNvPr id="4" name="">
            <a:extLst xmlns:a="http://schemas.openxmlformats.org/drawingml/2006/main">
              <a:ext uri="{FF2B5EF4-FFF2-40B4-BE49-F238E27FC236}">
                <a16:creationId xmlns:a16="http://schemas.microsoft.com/office/drawing/2014/main" id="{0C437C70-BEBB-4363-86BB-C1AC612C30E8}"/>
              </a:ext>
            </a:extLst>
          </p:cNvPr>
          <p:cNvPicPr>
            <a:picLocks xmlns:a="http://schemas.openxmlformats.org/drawingml/2006/main" noChangeAspect="1"/>
          </p:cNvPicPr>
          <p:nvPr/>
        </p:nvPicPr>
        <p:blipFill>
          <a:blip xmlns:r="http://schemas.openxmlformats.org/officeDocument/2006/relationships" xmlns:a="http://schemas.openxmlformats.org/drawingml/2006/main" r:embed="Rdfa93f6f7c4f44b6"/>
          <a:stretch xmlns:a="http://schemas.openxmlformats.org/drawingml/2006/main"/>
        </p:blipFill>
        <p:spPr>
          <a:xfrm xmlns:a="http://schemas.openxmlformats.org/drawingml/2006/main">
            <a:off x="1355964" y="1381125"/>
            <a:ext cx="5670072"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893E765-5DB4-4ADA-B929-F9156DE5DA8B}"/>
              </a:ext>
            </a:extLst>
          </p:cNvPr>
          <p:cNvSpPr>
            <a:spLocks xmlns:a="http://schemas.openxmlformats.org/drawingml/2006/main" noGrp="1"/>
          </p:cNvSpPr>
          <p:nvPr/>
        </p:nvSpPr>
        <p:spPr>
          <a:xfrm xmlns:a="http://schemas.openxmlformats.org/drawingml/2006/main">
            <a:off x="8096250" y="1857375"/>
            <a:ext cx="333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33F"/>
                </a:solidFill>
                <a:latin typeface="Helvetica Neue"/>
                <a:ea typeface="Helvetica Neue"/>
                <a:cs typeface="Helvetica Neue"/>
              </a:defRPr>
            </a:defPPr>
            <a:lvl1pPr>
              <a:defRPr sz="1950" b="0">
                <a:solidFill>
                  <a:srgbClr val="20333F"/>
                </a:solidFill>
                <a:latin typeface="Helvetica Neue"/>
                <a:ea typeface="Helvetica Neue"/>
                <a:cs typeface="Helvetica Neue"/>
              </a:defRPr>
            </a:lvl1pPr>
            <a:lvl2pPr>
              <a:defRPr sz="1950" b="0">
                <a:solidFill>
                  <a:srgbClr val="20333F"/>
                </a:solidFill>
                <a:latin typeface="Helvetica Neue"/>
                <a:ea typeface="Helvetica Neue"/>
                <a:cs typeface="Helvetica Neue"/>
              </a:defRPr>
            </a:lvl2pPr>
            <a:lvl3pPr>
              <a:defRPr sz="1950" b="0">
                <a:solidFill>
                  <a:srgbClr val="20333F"/>
                </a:solidFill>
                <a:latin typeface="Helvetica Neue"/>
                <a:ea typeface="Helvetica Neue"/>
                <a:cs typeface="Helvetica Neue"/>
              </a:defRPr>
            </a:lvl3pPr>
            <a:lvl4pPr>
              <a:defRPr sz="1950" b="0">
                <a:solidFill>
                  <a:srgbClr val="20333F"/>
                </a:solidFill>
                <a:latin typeface="Helvetica Neue"/>
                <a:ea typeface="Helvetica Neue"/>
                <a:cs typeface="Helvetica Neue"/>
              </a:defRPr>
            </a:lvl4pPr>
            <a:lvl5pPr>
              <a:defRPr sz="1950" b="0">
                <a:solidFill>
                  <a:srgbClr val="20333F"/>
                </a:solidFill>
                <a:latin typeface="Helvetica Neue"/>
                <a:ea typeface="Helvetica Neue"/>
                <a:cs typeface="Helvetica Neue"/>
              </a:defRPr>
            </a:lvl5pPr>
            <a:lvl6pPr>
              <a:defRPr sz="1950" b="0">
                <a:solidFill>
                  <a:srgbClr val="20333F"/>
                </a:solidFill>
                <a:latin typeface="Helvetica Neue"/>
                <a:ea typeface="Helvetica Neue"/>
                <a:cs typeface="Helvetica Neue"/>
              </a:defRPr>
            </a:lvl6pPr>
            <a:lvl7pPr>
              <a:defRPr sz="1950" b="0">
                <a:solidFill>
                  <a:srgbClr val="20333F"/>
                </a:solidFill>
                <a:latin typeface="Helvetica Neue"/>
                <a:ea typeface="Helvetica Neue"/>
                <a:cs typeface="Helvetica Neue"/>
              </a:defRPr>
            </a:lvl7pPr>
            <a:lvl8pPr>
              <a:defRPr sz="1950" b="0">
                <a:solidFill>
                  <a:srgbClr val="20333F"/>
                </a:solidFill>
                <a:latin typeface="Helvetica Neue"/>
                <a:ea typeface="Helvetica Neue"/>
                <a:cs typeface="Helvetica Neue"/>
              </a:defRPr>
            </a:lvl8pPr>
            <a:lvl9pPr>
              <a:defRPr sz="1950" b="0">
                <a:solidFill>
                  <a:srgbClr val="20333F"/>
                </a:solidFill>
                <a:latin typeface="Helvetica Neue"/>
                <a:ea typeface="Helvetica Neue"/>
                <a:cs typeface="Helvetica Neue"/>
              </a:defRPr>
            </a:lvl9pPr>
          </a:lstStyle>
          <a:p xmlns:a="http://schemas.openxmlformats.org/drawingml/2006/main">
            <a:pPr>
              <a:defRPr sz="1950" b="0">
                <a:solidFill>
                  <a:srgbClr val="20333F"/>
                </a:solidFill>
                <a:latin typeface="Helvetica Neue"/>
                <a:ea typeface="Helvetica Neue"/>
                <a:cs typeface="Helvetica Neue"/>
              </a:defRPr>
            </a:pPr>
            <a:r>
              <a:rPr sz="1950" b="0">
                <a:solidFill>
                  <a:srgbClr val="20333F"/>
                </a:solidFill>
                <a:latin typeface="Helvetica Neue"/>
                <a:ea typeface="Helvetica Neue"/>
                <a:cs typeface="Helvetica Neue"/>
              </a:rPr>
              <a:t>Shirt as T-shirt/top</a:t>
            </a:r>
          </a:p>
          <a:p xmlns:a="http://schemas.openxmlformats.org/drawingml/2006/main">
            <a:pPr>
              <a:defRPr sz="1950" b="0">
                <a:solidFill>
                  <a:srgbClr val="20333F"/>
                </a:solidFill>
                <a:latin typeface="Helvetica Neue"/>
                <a:ea typeface="Helvetica Neue"/>
                <a:cs typeface="Helvetica Neue"/>
              </a:defRPr>
            </a:pPr>
            <a:r>
              <a:rPr sz="1950" b="0">
                <a:solidFill>
                  <a:srgbClr val="20333F"/>
                </a:solidFill>
                <a:latin typeface="Helvetica Neue"/>
                <a:ea typeface="Helvetica Neue"/>
                <a:cs typeface="Helvetica Neue"/>
              </a:rPr>
              <a:t>116 errors</a:t>
            </a:r>
          </a:p>
        </p:txBody>
      </p:sp>
      <p:sp>
        <p:nvSpPr>
          <p:cNvPr id="6" name="">
            <a:extLst xmlns:a="http://schemas.openxmlformats.org/drawingml/2006/main">
              <a:ext uri="{FF2B5EF4-FFF2-40B4-BE49-F238E27FC236}">
                <a16:creationId xmlns:a16="http://schemas.microsoft.com/office/drawing/2014/main" id="{9B72DDB3-F8E4-4A1E-8997-F4AFBA83A910}"/>
              </a:ext>
            </a:extLst>
          </p:cNvPr>
          <p:cNvSpPr>
            <a:spLocks xmlns:a="http://schemas.openxmlformats.org/drawingml/2006/main" noGrp="1"/>
          </p:cNvSpPr>
          <p:nvPr/>
        </p:nvSpPr>
        <p:spPr>
          <a:xfrm xmlns:a="http://schemas.openxmlformats.org/drawingml/2006/main">
            <a:off x="8096250" y="3095625"/>
            <a:ext cx="333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33F"/>
                </a:solidFill>
                <a:latin typeface="Helvetica Neue"/>
                <a:ea typeface="Helvetica Neue"/>
                <a:cs typeface="Helvetica Neue"/>
              </a:defRPr>
            </a:defPPr>
            <a:lvl1pPr>
              <a:defRPr sz="1950" b="0">
                <a:solidFill>
                  <a:srgbClr val="20333F"/>
                </a:solidFill>
                <a:latin typeface="Helvetica Neue"/>
                <a:ea typeface="Helvetica Neue"/>
                <a:cs typeface="Helvetica Neue"/>
              </a:defRPr>
            </a:lvl1pPr>
            <a:lvl2pPr>
              <a:defRPr sz="1950" b="0">
                <a:solidFill>
                  <a:srgbClr val="20333F"/>
                </a:solidFill>
                <a:latin typeface="Helvetica Neue"/>
                <a:ea typeface="Helvetica Neue"/>
                <a:cs typeface="Helvetica Neue"/>
              </a:defRPr>
            </a:lvl2pPr>
            <a:lvl3pPr>
              <a:defRPr sz="1950" b="0">
                <a:solidFill>
                  <a:srgbClr val="20333F"/>
                </a:solidFill>
                <a:latin typeface="Helvetica Neue"/>
                <a:ea typeface="Helvetica Neue"/>
                <a:cs typeface="Helvetica Neue"/>
              </a:defRPr>
            </a:lvl3pPr>
            <a:lvl4pPr>
              <a:defRPr sz="1950" b="0">
                <a:solidFill>
                  <a:srgbClr val="20333F"/>
                </a:solidFill>
                <a:latin typeface="Helvetica Neue"/>
                <a:ea typeface="Helvetica Neue"/>
                <a:cs typeface="Helvetica Neue"/>
              </a:defRPr>
            </a:lvl4pPr>
            <a:lvl5pPr>
              <a:defRPr sz="1950" b="0">
                <a:solidFill>
                  <a:srgbClr val="20333F"/>
                </a:solidFill>
                <a:latin typeface="Helvetica Neue"/>
                <a:ea typeface="Helvetica Neue"/>
                <a:cs typeface="Helvetica Neue"/>
              </a:defRPr>
            </a:lvl5pPr>
            <a:lvl6pPr>
              <a:defRPr sz="1950" b="0">
                <a:solidFill>
                  <a:srgbClr val="20333F"/>
                </a:solidFill>
                <a:latin typeface="Helvetica Neue"/>
                <a:ea typeface="Helvetica Neue"/>
                <a:cs typeface="Helvetica Neue"/>
              </a:defRPr>
            </a:lvl6pPr>
            <a:lvl7pPr>
              <a:defRPr sz="1950" b="0">
                <a:solidFill>
                  <a:srgbClr val="20333F"/>
                </a:solidFill>
                <a:latin typeface="Helvetica Neue"/>
                <a:ea typeface="Helvetica Neue"/>
                <a:cs typeface="Helvetica Neue"/>
              </a:defRPr>
            </a:lvl7pPr>
            <a:lvl8pPr>
              <a:defRPr sz="1950" b="0">
                <a:solidFill>
                  <a:srgbClr val="20333F"/>
                </a:solidFill>
                <a:latin typeface="Helvetica Neue"/>
                <a:ea typeface="Helvetica Neue"/>
                <a:cs typeface="Helvetica Neue"/>
              </a:defRPr>
            </a:lvl8pPr>
            <a:lvl9pPr>
              <a:defRPr sz="1950" b="0">
                <a:solidFill>
                  <a:srgbClr val="20333F"/>
                </a:solidFill>
                <a:latin typeface="Helvetica Neue"/>
                <a:ea typeface="Helvetica Neue"/>
                <a:cs typeface="Helvetica Neue"/>
              </a:defRPr>
            </a:lvl9pPr>
          </a:lstStyle>
          <a:p xmlns:a="http://schemas.openxmlformats.org/drawingml/2006/main">
            <a:pPr>
              <a:defRPr sz="1950" b="0">
                <a:solidFill>
                  <a:srgbClr val="20333F"/>
                </a:solidFill>
                <a:latin typeface="Helvetica Neue"/>
                <a:ea typeface="Helvetica Neue"/>
                <a:cs typeface="Helvetica Neue"/>
              </a:defRPr>
            </a:pPr>
            <a:r>
              <a:rPr sz="1950" b="0">
                <a:solidFill>
                  <a:srgbClr val="20333F"/>
                </a:solidFill>
                <a:latin typeface="Helvetica Neue"/>
                <a:ea typeface="Helvetica Neue"/>
                <a:cs typeface="Helvetica Neue"/>
              </a:rPr>
              <a:t>T-shirt/top as Shirt</a:t>
            </a:r>
          </a:p>
          <a:p xmlns:a="http://schemas.openxmlformats.org/drawingml/2006/main">
            <a:pPr>
              <a:defRPr sz="1950" b="0">
                <a:solidFill>
                  <a:srgbClr val="20333F"/>
                </a:solidFill>
                <a:latin typeface="Helvetica Neue"/>
                <a:ea typeface="Helvetica Neue"/>
                <a:cs typeface="Helvetica Neue"/>
              </a:defRPr>
            </a:pPr>
            <a:r>
              <a:rPr sz="1950" b="0">
                <a:solidFill>
                  <a:srgbClr val="20333F"/>
                </a:solidFill>
                <a:latin typeface="Helvetica Neue"/>
                <a:ea typeface="Helvetica Neue"/>
                <a:cs typeface="Helvetica Neue"/>
              </a:rPr>
              <a:t>102 errors</a:t>
            </a:r>
          </a:p>
        </p:txBody>
      </p:sp>
      <p:sp>
        <p:nvSpPr>
          <p:cNvPr id="7" name="">
            <a:extLst xmlns:a="http://schemas.openxmlformats.org/drawingml/2006/main">
              <a:ext uri="{FF2B5EF4-FFF2-40B4-BE49-F238E27FC236}">
                <a16:creationId xmlns:a16="http://schemas.microsoft.com/office/drawing/2014/main" id="{91120F8B-61A2-494A-A6F3-47DE9D9C97B3}"/>
              </a:ext>
            </a:extLst>
          </p:cNvPr>
          <p:cNvSpPr>
            <a:spLocks xmlns:a="http://schemas.openxmlformats.org/drawingml/2006/main" noGrp="1"/>
          </p:cNvSpPr>
          <p:nvPr/>
        </p:nvSpPr>
        <p:spPr>
          <a:xfrm xmlns:a="http://schemas.openxmlformats.org/drawingml/2006/main">
            <a:off x="8096250" y="4333875"/>
            <a:ext cx="3333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33F"/>
                </a:solidFill>
                <a:latin typeface="Helvetica Neue"/>
                <a:ea typeface="Helvetica Neue"/>
                <a:cs typeface="Helvetica Neue"/>
              </a:defRPr>
            </a:defPPr>
            <a:lvl1pPr>
              <a:defRPr sz="1950" b="0">
                <a:solidFill>
                  <a:srgbClr val="20333F"/>
                </a:solidFill>
                <a:latin typeface="Helvetica Neue"/>
                <a:ea typeface="Helvetica Neue"/>
                <a:cs typeface="Helvetica Neue"/>
              </a:defRPr>
            </a:lvl1pPr>
            <a:lvl2pPr>
              <a:defRPr sz="1950" b="0">
                <a:solidFill>
                  <a:srgbClr val="20333F"/>
                </a:solidFill>
                <a:latin typeface="Helvetica Neue"/>
                <a:ea typeface="Helvetica Neue"/>
                <a:cs typeface="Helvetica Neue"/>
              </a:defRPr>
            </a:lvl2pPr>
            <a:lvl3pPr>
              <a:defRPr sz="1950" b="0">
                <a:solidFill>
                  <a:srgbClr val="20333F"/>
                </a:solidFill>
                <a:latin typeface="Helvetica Neue"/>
                <a:ea typeface="Helvetica Neue"/>
                <a:cs typeface="Helvetica Neue"/>
              </a:defRPr>
            </a:lvl3pPr>
            <a:lvl4pPr>
              <a:defRPr sz="1950" b="0">
                <a:solidFill>
                  <a:srgbClr val="20333F"/>
                </a:solidFill>
                <a:latin typeface="Helvetica Neue"/>
                <a:ea typeface="Helvetica Neue"/>
                <a:cs typeface="Helvetica Neue"/>
              </a:defRPr>
            </a:lvl4pPr>
            <a:lvl5pPr>
              <a:defRPr sz="1950" b="0">
                <a:solidFill>
                  <a:srgbClr val="20333F"/>
                </a:solidFill>
                <a:latin typeface="Helvetica Neue"/>
                <a:ea typeface="Helvetica Neue"/>
                <a:cs typeface="Helvetica Neue"/>
              </a:defRPr>
            </a:lvl5pPr>
            <a:lvl6pPr>
              <a:defRPr sz="1950" b="0">
                <a:solidFill>
                  <a:srgbClr val="20333F"/>
                </a:solidFill>
                <a:latin typeface="Helvetica Neue"/>
                <a:ea typeface="Helvetica Neue"/>
                <a:cs typeface="Helvetica Neue"/>
              </a:defRPr>
            </a:lvl6pPr>
            <a:lvl7pPr>
              <a:defRPr sz="1950" b="0">
                <a:solidFill>
                  <a:srgbClr val="20333F"/>
                </a:solidFill>
                <a:latin typeface="Helvetica Neue"/>
                <a:ea typeface="Helvetica Neue"/>
                <a:cs typeface="Helvetica Neue"/>
              </a:defRPr>
            </a:lvl7pPr>
            <a:lvl8pPr>
              <a:defRPr sz="1950" b="0">
                <a:solidFill>
                  <a:srgbClr val="20333F"/>
                </a:solidFill>
                <a:latin typeface="Helvetica Neue"/>
                <a:ea typeface="Helvetica Neue"/>
                <a:cs typeface="Helvetica Neue"/>
              </a:defRPr>
            </a:lvl8pPr>
            <a:lvl9pPr>
              <a:defRPr sz="1950" b="0">
                <a:solidFill>
                  <a:srgbClr val="20333F"/>
                </a:solidFill>
                <a:latin typeface="Helvetica Neue"/>
                <a:ea typeface="Helvetica Neue"/>
                <a:cs typeface="Helvetica Neue"/>
              </a:defRPr>
            </a:lvl9pPr>
          </a:lstStyle>
          <a:p xmlns:a="http://schemas.openxmlformats.org/drawingml/2006/main">
            <a:pPr>
              <a:defRPr sz="1950" b="0">
                <a:solidFill>
                  <a:srgbClr val="20333F"/>
                </a:solidFill>
                <a:latin typeface="Helvetica Neue"/>
                <a:ea typeface="Helvetica Neue"/>
                <a:cs typeface="Helvetica Neue"/>
              </a:defRPr>
            </a:pPr>
            <a:r>
              <a:rPr sz="1950" b="0">
                <a:solidFill>
                  <a:srgbClr val="20333F"/>
                </a:solidFill>
                <a:latin typeface="Helvetica Neue"/>
                <a:ea typeface="Helvetica Neue"/>
                <a:cs typeface="Helvetica Neue"/>
              </a:rPr>
              <a:t>Shirt as Coat</a:t>
            </a:r>
          </a:p>
          <a:p xmlns:a="http://schemas.openxmlformats.org/drawingml/2006/main">
            <a:pPr>
              <a:defRPr sz="1950" b="0">
                <a:solidFill>
                  <a:srgbClr val="20333F"/>
                </a:solidFill>
                <a:latin typeface="Helvetica Neue"/>
                <a:ea typeface="Helvetica Neue"/>
                <a:cs typeface="Helvetica Neue"/>
              </a:defRPr>
            </a:pPr>
            <a:r>
              <a:rPr sz="1950" b="0">
                <a:solidFill>
                  <a:srgbClr val="20333F"/>
                </a:solidFill>
                <a:latin typeface="Helvetica Neue"/>
                <a:ea typeface="Helvetica Neue"/>
                <a:cs typeface="Helvetica Neue"/>
              </a:rPr>
              <a:t>66 errors</a:t>
            </a:r>
          </a:p>
        </p:txBody>
      </p:sp>
    </p:spTree>
    <p:extLst>
      <p:ext uri="{BB962C8B-B14F-4D97-AF65-F5344CB8AC3E}">
        <p14:creationId xmlns:p14="http://schemas.microsoft.com/office/powerpoint/2010/main" val="1824579662"/>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5B6637-6FFD-4039-B703-F9B5B5D7784C}"/>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Prediction time and model size</a:t>
            </a:r>
          </a:p>
        </p:txBody>
      </p:sp>
      <p:sp>
        <p:nvSpPr>
          <p:cNvPr id="2" name="">
            <a:extLst xmlns:a="http://schemas.openxmlformats.org/drawingml/2006/main">
              <a:ext uri="{FF2B5EF4-FFF2-40B4-BE49-F238E27FC236}">
                <a16:creationId xmlns:a16="http://schemas.microsoft.com/office/drawing/2014/main" id="{CA13CA1E-0A80-4658-BABC-C6C7063B7740}"/>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C5D3F016-F492-4E45-8EEC-E1418B456244}"/>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12</a:t>
            </a:r>
          </a:p>
        </p:txBody>
      </p:sp>
      <p:graphicFrame>
        <p:nvGraphicFramePr>
          <p:cNvPr id="4" name="">
            <a:extLst xmlns:a="http://schemas.openxmlformats.org/drawingml/2006/main">
              <a:ext uri="{FF2B5EF4-FFF2-40B4-BE49-F238E27FC236}">
                <a16:creationId xmlns:a16="http://schemas.microsoft.com/office/drawing/2014/main" id="{9B4FD049-B816-49C5-B192-0F4883B90E0B}"/>
              </a:ext>
            </a:extLst>
          </p:cNvPr>
          <p:cNvGraphicFramePr/>
          <p:nvPr/>
        </p:nvGraphicFramePr>
        <p:xfrm>
          <a:off xmlns:a="http://schemas.openxmlformats.org/drawingml/2006/main" x="714375" y="1476375"/>
          <a:ext xmlns:a="http://schemas.openxmlformats.org/drawingml/2006/main" cx="10715625" cy="3524250"/>
        </p:xfrm>
        <a:graphic xmlns:a="http://schemas.openxmlformats.org/drawingml/2006/main">
          <a:graphicData uri="http://schemas.openxmlformats.org/drawingml/2006/table">
            <a:tbl>
              <a:tblPr/>
              <a:tblGrid>
                <a:gridCol w="6191250"/>
                <a:gridCol w="4524375"/>
              </a:tblGrid>
              <a:tr h="704850">
                <a:tc>
                  <a:txBody>
                    <a:bodyPr/>
                    <a:lstStyle/>
                    <a:p>
                      <a:r>
                        <a:rPr sz="1800" b="1">
                          <a:solidFill>
                            <a:srgbClr val="FFFFFF"/>
                          </a:solidFill>
                          <a:latin typeface="Helvetica Neue"/>
                          <a:ea typeface="Helvetica Neue"/>
                          <a:cs typeface="Helvetica Neue"/>
                        </a:rPr>
                        <a:t>Measure</a:t>
                      </a:r>
                    </a:p>
                  </a:txBody>
                  <a:tcPr marL="91440" marR="91440" marT="45720" marB="45720">
                    <a:solidFill>
                      <a:srgbClr val="185B70"/>
                    </a:solidFill>
                  </a:tcPr>
                </a:tc>
                <a:tc>
                  <a:txBody>
                    <a:bodyPr/>
                    <a:lstStyle/>
                    <a:p>
                      <a:r>
                        <a:rPr sz="1800" b="1">
                          <a:solidFill>
                            <a:srgbClr val="FFFFFF"/>
                          </a:solidFill>
                          <a:latin typeface="Helvetica Neue"/>
                          <a:ea typeface="Helvetica Neue"/>
                          <a:cs typeface="Helvetica Neue"/>
                        </a:rPr>
                        <a:t>Selected model</a:t>
                      </a:r>
                    </a:p>
                  </a:txBody>
                  <a:tcPr marL="91440" marR="91440" marT="45720" marB="45720">
                    <a:solidFill>
                      <a:srgbClr val="185B70"/>
                    </a:solidFill>
                  </a:tcPr>
                </a:tc>
              </a:tr>
              <a:tr h="704850">
                <a:tc>
                  <a:txBody>
                    <a:bodyPr/>
                    <a:lstStyle/>
                    <a:p>
                      <a:r>
                        <a:rPr sz="1800" b="0">
                          <a:solidFill>
                            <a:srgbClr val="20333F"/>
                          </a:solidFill>
                          <a:latin typeface="Helvetica Neue"/>
                          <a:ea typeface="Helvetica Neue"/>
                          <a:cs typeface="Helvetica Neue"/>
                        </a:rPr>
                        <a:t>Single-image median</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10.17 ms</a:t>
                      </a:r>
                    </a:p>
                  </a:txBody>
                  <a:tcPr marL="91440" marR="91440" marT="45720" marB="45720">
                    <a:solidFill>
                      <a:srgbClr val="EDF3F5"/>
                    </a:solidFill>
                  </a:tcPr>
                </a:tc>
              </a:tr>
              <a:tr h="704850">
                <a:tc>
                  <a:txBody>
                    <a:bodyPr/>
                    <a:lstStyle/>
                    <a:p>
                      <a:r>
                        <a:rPr sz="1800" b="0">
                          <a:solidFill>
                            <a:srgbClr val="20333F"/>
                          </a:solidFill>
                          <a:latin typeface="Helvetica Neue"/>
                          <a:ea typeface="Helvetica Neue"/>
                          <a:cs typeface="Helvetica Neue"/>
                        </a:rPr>
                        <a:t>Batch throughput</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59 images/s</a:t>
                      </a:r>
                    </a:p>
                  </a:txBody>
                  <a:tcPr marL="91440" marR="91440" marT="45720" marB="45720">
                    <a:solidFill>
                      <a:srgbClr val="FFFFFF"/>
                    </a:solidFill>
                  </a:tcPr>
                </a:tc>
              </a:tr>
              <a:tr h="704850">
                <a:tc>
                  <a:txBody>
                    <a:bodyPr/>
                    <a:lstStyle/>
                    <a:p>
                      <a:r>
                        <a:rPr sz="1800" b="0">
                          <a:solidFill>
                            <a:srgbClr val="20333F"/>
                          </a:solidFill>
                          <a:latin typeface="Helvetica Neue"/>
                          <a:ea typeface="Helvetica Neue"/>
                          <a:cs typeface="Helvetica Neue"/>
                        </a:rPr>
                        <a:t>Saved model size</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52.74 MiB</a:t>
                      </a:r>
                    </a:p>
                  </a:txBody>
                  <a:tcPr marL="91440" marR="91440" marT="45720" marB="45720">
                    <a:solidFill>
                      <a:srgbClr val="EDF3F5"/>
                    </a:solidFill>
                  </a:tcPr>
                </a:tc>
              </a:tr>
              <a:tr h="704850">
                <a:tc>
                  <a:txBody>
                    <a:bodyPr/>
                    <a:lstStyle/>
                    <a:p>
                      <a:r>
                        <a:rPr sz="1800" b="0">
                          <a:solidFill>
                            <a:srgbClr val="20333F"/>
                          </a:solidFill>
                          <a:latin typeface="Helvetica Neue"/>
                          <a:ea typeface="Helvetica Neue"/>
                          <a:cs typeface="Helvetica Neue"/>
                        </a:rPr>
                        <a:t>support vectors</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17835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A795016-F628-4C32-BB31-A041FDAB4939}"/>
              </a:ext>
            </a:extLst>
          </p:cNvPr>
          <p:cNvSpPr>
            <a:spLocks xmlns:a="http://schemas.openxmlformats.org/drawingml/2006/main" noGrp="1"/>
          </p:cNvSpPr>
          <p:nvPr/>
        </p:nvSpPr>
        <p:spPr>
          <a:xfrm xmlns:a="http://schemas.openxmlformats.org/drawingml/2006/main">
            <a:off x="714375" y="542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33F"/>
                </a:solidFill>
                <a:latin typeface="Helvetica Neue"/>
                <a:ea typeface="Helvetica Neue"/>
                <a:cs typeface="Helvetica Neue"/>
              </a:defRPr>
            </a:defPPr>
            <a:lvl1pPr>
              <a:defRPr sz="1950" b="0">
                <a:solidFill>
                  <a:srgbClr val="20333F"/>
                </a:solidFill>
                <a:latin typeface="Helvetica Neue"/>
                <a:ea typeface="Helvetica Neue"/>
                <a:cs typeface="Helvetica Neue"/>
              </a:defRPr>
            </a:lvl1pPr>
            <a:lvl2pPr>
              <a:defRPr sz="1950" b="0">
                <a:solidFill>
                  <a:srgbClr val="20333F"/>
                </a:solidFill>
                <a:latin typeface="Helvetica Neue"/>
                <a:ea typeface="Helvetica Neue"/>
                <a:cs typeface="Helvetica Neue"/>
              </a:defRPr>
            </a:lvl2pPr>
            <a:lvl3pPr>
              <a:defRPr sz="1950" b="0">
                <a:solidFill>
                  <a:srgbClr val="20333F"/>
                </a:solidFill>
                <a:latin typeface="Helvetica Neue"/>
                <a:ea typeface="Helvetica Neue"/>
                <a:cs typeface="Helvetica Neue"/>
              </a:defRPr>
            </a:lvl3pPr>
            <a:lvl4pPr>
              <a:defRPr sz="1950" b="0">
                <a:solidFill>
                  <a:srgbClr val="20333F"/>
                </a:solidFill>
                <a:latin typeface="Helvetica Neue"/>
                <a:ea typeface="Helvetica Neue"/>
                <a:cs typeface="Helvetica Neue"/>
              </a:defRPr>
            </a:lvl4pPr>
            <a:lvl5pPr>
              <a:defRPr sz="1950" b="0">
                <a:solidFill>
                  <a:srgbClr val="20333F"/>
                </a:solidFill>
                <a:latin typeface="Helvetica Neue"/>
                <a:ea typeface="Helvetica Neue"/>
                <a:cs typeface="Helvetica Neue"/>
              </a:defRPr>
            </a:lvl5pPr>
            <a:lvl6pPr>
              <a:defRPr sz="1950" b="0">
                <a:solidFill>
                  <a:srgbClr val="20333F"/>
                </a:solidFill>
                <a:latin typeface="Helvetica Neue"/>
                <a:ea typeface="Helvetica Neue"/>
                <a:cs typeface="Helvetica Neue"/>
              </a:defRPr>
            </a:lvl6pPr>
            <a:lvl7pPr>
              <a:defRPr sz="1950" b="0">
                <a:solidFill>
                  <a:srgbClr val="20333F"/>
                </a:solidFill>
                <a:latin typeface="Helvetica Neue"/>
                <a:ea typeface="Helvetica Neue"/>
                <a:cs typeface="Helvetica Neue"/>
              </a:defRPr>
            </a:lvl7pPr>
            <a:lvl8pPr>
              <a:defRPr sz="1950" b="0">
                <a:solidFill>
                  <a:srgbClr val="20333F"/>
                </a:solidFill>
                <a:latin typeface="Helvetica Neue"/>
                <a:ea typeface="Helvetica Neue"/>
                <a:cs typeface="Helvetica Neue"/>
              </a:defRPr>
            </a:lvl8pPr>
            <a:lvl9pPr>
              <a:defRPr sz="1950" b="0">
                <a:solidFill>
                  <a:srgbClr val="20333F"/>
                </a:solidFill>
                <a:latin typeface="Helvetica Neue"/>
                <a:ea typeface="Helvetica Neue"/>
                <a:cs typeface="Helvetica Neue"/>
              </a:defRPr>
            </a:lvl9pPr>
          </a:lstStyle>
          <a:p xmlns:a="http://schemas.openxmlformats.org/drawingml/2006/main">
            <a:pPr>
              <a:defRPr sz="1950" b="0">
                <a:solidFill>
                  <a:srgbClr val="20333F"/>
                </a:solidFill>
                <a:latin typeface="Helvetica Neue"/>
                <a:ea typeface="Helvetica Neue"/>
                <a:cs typeface="Helvetica Neue"/>
              </a:defRPr>
            </a:pPr>
            <a:r>
              <a:rPr sz="1950" b="0">
                <a:solidFill>
                  <a:srgbClr val="20333F"/>
                </a:solidFill>
                <a:latin typeface="Helvetica Neue"/>
                <a:ea typeface="Helvetica Neue"/>
                <a:cs typeface="Helvetica Neue"/>
              </a:rPr>
              <a:t>Capacity counts mean different things for each model family</a:t>
            </a:r>
          </a:p>
        </p:txBody>
      </p:sp>
    </p:spTree>
    <p:extLst>
      <p:ext uri="{BB962C8B-B14F-4D97-AF65-F5344CB8AC3E}">
        <p14:creationId xmlns:p14="http://schemas.microsoft.com/office/powerpoint/2010/main" val="455632143"/>
      </p:ext>
    </p:extLst>
  </p:cSld>
</p:sld>
</file>

<file path=ppt/slides/slide1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534813-1620-4675-8573-39861A0E61FB}"/>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Limitations and the CNN phase</a:t>
            </a:r>
          </a:p>
        </p:txBody>
      </p:sp>
      <p:sp>
        <p:nvSpPr>
          <p:cNvPr id="2" name="">
            <a:extLst xmlns:a="http://schemas.openxmlformats.org/drawingml/2006/main">
              <a:ext uri="{FF2B5EF4-FFF2-40B4-BE49-F238E27FC236}">
                <a16:creationId xmlns:a16="http://schemas.microsoft.com/office/drawing/2014/main" id="{9328B739-0A2D-410B-82B9-4EBBDB16DA4E}"/>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3B9FC1F0-A0F7-41BC-B167-9957BBBF3126}"/>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76D873D9-C490-4102-ACCE-34A876101944}"/>
              </a:ext>
            </a:extLst>
          </p:cNvPr>
          <p:cNvSpPr>
            <a:spLocks xmlns:a="http://schemas.openxmlformats.org/drawingml/2006/main" noGrp="1"/>
          </p:cNvSpPr>
          <p:nvPr/>
        </p:nvSpPr>
        <p:spPr>
          <a:xfrm xmlns:a="http://schemas.openxmlformats.org/drawingml/2006/main">
            <a:off x="714375" y="1476375"/>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One split and seed, with a limited settings search</a:t>
            </a:r>
          </a:p>
        </p:txBody>
      </p:sp>
      <p:sp>
        <p:nvSpPr>
          <p:cNvPr id="5" name="">
            <a:extLst xmlns:a="http://schemas.openxmlformats.org/drawingml/2006/main">
              <a:ext uri="{FF2B5EF4-FFF2-40B4-BE49-F238E27FC236}">
                <a16:creationId xmlns:a16="http://schemas.microsoft.com/office/drawing/2014/main" id="{8E9BAB89-DE71-42D0-AFBD-EDE51D36E749}"/>
              </a:ext>
            </a:extLst>
          </p:cNvPr>
          <p:cNvSpPr>
            <a:spLocks xmlns:a="http://schemas.openxmlformats.org/drawingml/2006/main" noGrp="1"/>
          </p:cNvSpPr>
          <p:nvPr/>
        </p:nvSpPr>
        <p:spPr>
          <a:xfrm xmlns:a="http://schemas.openxmlformats.org/drawingml/2006/main">
            <a:off x="714375" y="247650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Phone photos and new categories still need testing</a:t>
            </a:r>
          </a:p>
        </p:txBody>
      </p:sp>
      <p:sp>
        <p:nvSpPr>
          <p:cNvPr id="6" name="">
            <a:extLst xmlns:a="http://schemas.openxmlformats.org/drawingml/2006/main">
              <a:ext uri="{FF2B5EF4-FFF2-40B4-BE49-F238E27FC236}">
                <a16:creationId xmlns:a16="http://schemas.microsoft.com/office/drawing/2014/main" id="{068201DB-B5B0-415A-BD57-81B337E3FD8F}"/>
              </a:ext>
            </a:extLst>
          </p:cNvPr>
          <p:cNvSpPr>
            <a:spLocks xmlns:a="http://schemas.openxmlformats.org/drawingml/2006/main" noGrp="1"/>
          </p:cNvSpPr>
          <p:nvPr/>
        </p:nvSpPr>
        <p:spPr>
          <a:xfrm xmlns:a="http://schemas.openxmlformats.org/drawingml/2006/main">
            <a:off x="714375" y="3476625"/>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We acknowledge the reference. These scores come from our own runs</a:t>
            </a:r>
          </a:p>
        </p:txBody>
      </p:sp>
      <p:sp>
        <p:nvSpPr>
          <p:cNvPr id="7" name="">
            <a:extLst xmlns:a="http://schemas.openxmlformats.org/drawingml/2006/main">
              <a:ext uri="{FF2B5EF4-FFF2-40B4-BE49-F238E27FC236}">
                <a16:creationId xmlns:a16="http://schemas.microsoft.com/office/drawing/2014/main" id="{3F865B8F-6BCC-4AAD-B47F-3A6F1FEE2EE1}"/>
              </a:ext>
            </a:extLst>
          </p:cNvPr>
          <p:cNvSpPr>
            <a:spLocks xmlns:a="http://schemas.openxmlformats.org/drawingml/2006/main" noGrp="1"/>
          </p:cNvSpPr>
          <p:nvPr/>
        </p:nvSpPr>
        <p:spPr>
          <a:xfrm xmlns:a="http://schemas.openxmlformats.org/drawingml/2006/main">
            <a:off x="714375" y="44767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0333F"/>
                </a:solidFill>
                <a:latin typeface="Helvetica Neue"/>
                <a:ea typeface="Helvetica Neue"/>
                <a:cs typeface="Helvetica Neue"/>
              </a:defRPr>
            </a:defPPr>
            <a:lvl1pPr>
              <a:defRPr sz="2175" b="0">
                <a:solidFill>
                  <a:srgbClr val="20333F"/>
                </a:solidFill>
                <a:latin typeface="Helvetica Neue"/>
                <a:ea typeface="Helvetica Neue"/>
                <a:cs typeface="Helvetica Neue"/>
              </a:defRPr>
            </a:lvl1pPr>
            <a:lvl2pPr>
              <a:defRPr sz="2175" b="0">
                <a:solidFill>
                  <a:srgbClr val="20333F"/>
                </a:solidFill>
                <a:latin typeface="Helvetica Neue"/>
                <a:ea typeface="Helvetica Neue"/>
                <a:cs typeface="Helvetica Neue"/>
              </a:defRPr>
            </a:lvl2pPr>
            <a:lvl3pPr>
              <a:defRPr sz="2175" b="0">
                <a:solidFill>
                  <a:srgbClr val="20333F"/>
                </a:solidFill>
                <a:latin typeface="Helvetica Neue"/>
                <a:ea typeface="Helvetica Neue"/>
                <a:cs typeface="Helvetica Neue"/>
              </a:defRPr>
            </a:lvl3pPr>
            <a:lvl4pPr>
              <a:defRPr sz="2175" b="0">
                <a:solidFill>
                  <a:srgbClr val="20333F"/>
                </a:solidFill>
                <a:latin typeface="Helvetica Neue"/>
                <a:ea typeface="Helvetica Neue"/>
                <a:cs typeface="Helvetica Neue"/>
              </a:defRPr>
            </a:lvl4pPr>
            <a:lvl5pPr>
              <a:defRPr sz="2175" b="0">
                <a:solidFill>
                  <a:srgbClr val="20333F"/>
                </a:solidFill>
                <a:latin typeface="Helvetica Neue"/>
                <a:ea typeface="Helvetica Neue"/>
                <a:cs typeface="Helvetica Neue"/>
              </a:defRPr>
            </a:lvl5pPr>
            <a:lvl6pPr>
              <a:defRPr sz="2175" b="0">
                <a:solidFill>
                  <a:srgbClr val="20333F"/>
                </a:solidFill>
                <a:latin typeface="Helvetica Neue"/>
                <a:ea typeface="Helvetica Neue"/>
                <a:cs typeface="Helvetica Neue"/>
              </a:defRPr>
            </a:lvl6pPr>
            <a:lvl7pPr>
              <a:defRPr sz="2175" b="0">
                <a:solidFill>
                  <a:srgbClr val="20333F"/>
                </a:solidFill>
                <a:latin typeface="Helvetica Neue"/>
                <a:ea typeface="Helvetica Neue"/>
                <a:cs typeface="Helvetica Neue"/>
              </a:defRPr>
            </a:lvl7pPr>
            <a:lvl8pPr>
              <a:defRPr sz="2175" b="0">
                <a:solidFill>
                  <a:srgbClr val="20333F"/>
                </a:solidFill>
                <a:latin typeface="Helvetica Neue"/>
                <a:ea typeface="Helvetica Neue"/>
                <a:cs typeface="Helvetica Neue"/>
              </a:defRPr>
            </a:lvl8pPr>
            <a:lvl9pPr>
              <a:defRPr sz="2175" b="0">
                <a:solidFill>
                  <a:srgbClr val="20333F"/>
                </a:solidFill>
                <a:latin typeface="Helvetica Neue"/>
                <a:ea typeface="Helvetica Neue"/>
                <a:cs typeface="Helvetica Neue"/>
              </a:defRPr>
            </a:lvl9pPr>
          </a:lstStyle>
          <a:p xmlns:a="http://schemas.openxmlformats.org/drawingml/2006/main">
            <a:pPr>
              <a:defRPr sz="2175" b="0">
                <a:solidFill>
                  <a:srgbClr val="20333F"/>
                </a:solidFill>
                <a:latin typeface="Helvetica Neue"/>
                <a:ea typeface="Helvetica Neue"/>
                <a:cs typeface="Helvetica Neue"/>
              </a:defRPr>
            </a:pPr>
            <a:r>
              <a:rPr sz="2175" b="0">
                <a:solidFill>
                  <a:srgbClr val="20333F"/>
                </a:solidFill>
                <a:latin typeface="Helvetica Neue"/>
                <a:ea typeface="Helvetica Neue"/>
                <a:cs typeface="Helvetica Neue"/>
              </a:rPr>
              <a:t>Phase 2: a small CNN and experiments on its design choices</a:t>
            </a:r>
          </a:p>
        </p:txBody>
      </p:sp>
    </p:spTree>
    <p:extLst>
      <p:ext uri="{BB962C8B-B14F-4D97-AF65-F5344CB8AC3E}">
        <p14:creationId xmlns:p14="http://schemas.microsoft.com/office/powerpoint/2010/main" val="2053335834"/>
      </p:ext>
    </p:extLst>
  </p:cSld>
</p:sld>
</file>

<file path=ppt/slides/slide1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A167F8-1F31-4464-8CFC-8D5C4D41D8DC}"/>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Running the experiment</a:t>
            </a:r>
          </a:p>
        </p:txBody>
      </p:sp>
      <p:sp>
        <p:nvSpPr>
          <p:cNvPr id="2" name="">
            <a:extLst xmlns:a="http://schemas.openxmlformats.org/drawingml/2006/main">
              <a:ext uri="{FF2B5EF4-FFF2-40B4-BE49-F238E27FC236}">
                <a16:creationId xmlns:a16="http://schemas.microsoft.com/office/drawing/2014/main" id="{0F83A17D-F8A3-4F69-BB7F-9E038DD467A2}"/>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CD8063E1-F6E2-4D5A-BE78-CC314C5CADB5}"/>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D793A9F5-F533-4095-A498-B991ADF6309C}"/>
              </a:ext>
            </a:extLst>
          </p:cNvPr>
          <p:cNvSpPr>
            <a:spLocks xmlns:a="http://schemas.openxmlformats.org/drawingml/2006/main" noGrp="1"/>
          </p:cNvSpPr>
          <p:nvPr/>
        </p:nvSpPr>
        <p:spPr>
          <a:xfrm xmlns:a="http://schemas.openxmlformats.org/drawingml/2006/main">
            <a:off x="714375" y="1476375"/>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uv sync --locked</a:t>
            </a:r>
          </a:p>
        </p:txBody>
      </p:sp>
      <p:sp>
        <p:nvSpPr>
          <p:cNvPr id="5" name="">
            <a:extLst xmlns:a="http://schemas.openxmlformats.org/drawingml/2006/main">
              <a:ext uri="{FF2B5EF4-FFF2-40B4-BE49-F238E27FC236}">
                <a16:creationId xmlns:a16="http://schemas.microsoft.com/office/drawing/2014/main" id="{6573DA14-F1BC-47DB-BE5C-EAF29B089DE4}"/>
              </a:ext>
            </a:extLst>
          </p:cNvPr>
          <p:cNvSpPr>
            <a:spLocks xmlns:a="http://schemas.openxmlformats.org/drawingml/2006/main" noGrp="1"/>
          </p:cNvSpPr>
          <p:nvPr/>
        </p:nvSpPr>
        <p:spPr>
          <a:xfrm xmlns:a="http://schemas.openxmlformats.org/drawingml/2006/main">
            <a:off x="714375" y="247650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bash scripts/uv.sh run python scripts/reproduce.py</a:t>
            </a:r>
          </a:p>
        </p:txBody>
      </p:sp>
      <p:sp>
        <p:nvSpPr>
          <p:cNvPr id="6" name="">
            <a:extLst xmlns:a="http://schemas.openxmlformats.org/drawingml/2006/main">
              <a:ext uri="{FF2B5EF4-FFF2-40B4-BE49-F238E27FC236}">
                <a16:creationId xmlns:a16="http://schemas.microsoft.com/office/drawing/2014/main" id="{296E22F1-A3E6-4161-9363-9D3C107C396C}"/>
              </a:ext>
            </a:extLst>
          </p:cNvPr>
          <p:cNvSpPr>
            <a:spLocks xmlns:a="http://schemas.openxmlformats.org/drawingml/2006/main" noGrp="1"/>
          </p:cNvSpPr>
          <p:nvPr/>
        </p:nvSpPr>
        <p:spPr>
          <a:xfrm xmlns:a="http://schemas.openxmlformats.org/drawingml/2006/main">
            <a:off x="714375" y="3476625"/>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Notebook: notebooks/phase1.ipynb</a:t>
            </a:r>
          </a:p>
        </p:txBody>
      </p:sp>
      <p:sp>
        <p:nvSpPr>
          <p:cNvPr id="7" name="">
            <a:extLst xmlns:a="http://schemas.openxmlformats.org/drawingml/2006/main">
              <a:ext uri="{FF2B5EF4-FFF2-40B4-BE49-F238E27FC236}">
                <a16:creationId xmlns:a16="http://schemas.microsoft.com/office/drawing/2014/main" id="{3069A015-7C19-49CA-BA65-204817DF93A9}"/>
              </a:ext>
            </a:extLst>
          </p:cNvPr>
          <p:cNvSpPr>
            <a:spLocks xmlns:a="http://schemas.openxmlformats.org/drawingml/2006/main" noGrp="1"/>
          </p:cNvSpPr>
          <p:nvPr/>
        </p:nvSpPr>
        <p:spPr>
          <a:xfrm xmlns:a="http://schemas.openxmlformats.org/drawingml/2006/main">
            <a:off x="714375" y="4476750"/>
            <a:ext cx="1066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0333F"/>
                </a:solidFill>
                <a:latin typeface="Helvetica Neue"/>
                <a:ea typeface="Helvetica Neue"/>
                <a:cs typeface="Helvetica Neue"/>
              </a:defRPr>
            </a:defPPr>
            <a:lvl1pPr>
              <a:defRPr sz="2250" b="0">
                <a:solidFill>
                  <a:srgbClr val="20333F"/>
                </a:solidFill>
                <a:latin typeface="Helvetica Neue"/>
                <a:ea typeface="Helvetica Neue"/>
                <a:cs typeface="Helvetica Neue"/>
              </a:defRPr>
            </a:lvl1pPr>
            <a:lvl2pPr>
              <a:defRPr sz="2250" b="0">
                <a:solidFill>
                  <a:srgbClr val="20333F"/>
                </a:solidFill>
                <a:latin typeface="Helvetica Neue"/>
                <a:ea typeface="Helvetica Neue"/>
                <a:cs typeface="Helvetica Neue"/>
              </a:defRPr>
            </a:lvl2pPr>
            <a:lvl3pPr>
              <a:defRPr sz="2250" b="0">
                <a:solidFill>
                  <a:srgbClr val="20333F"/>
                </a:solidFill>
                <a:latin typeface="Helvetica Neue"/>
                <a:ea typeface="Helvetica Neue"/>
                <a:cs typeface="Helvetica Neue"/>
              </a:defRPr>
            </a:lvl3pPr>
            <a:lvl4pPr>
              <a:defRPr sz="2250" b="0">
                <a:solidFill>
                  <a:srgbClr val="20333F"/>
                </a:solidFill>
                <a:latin typeface="Helvetica Neue"/>
                <a:ea typeface="Helvetica Neue"/>
                <a:cs typeface="Helvetica Neue"/>
              </a:defRPr>
            </a:lvl4pPr>
            <a:lvl5pPr>
              <a:defRPr sz="2250" b="0">
                <a:solidFill>
                  <a:srgbClr val="20333F"/>
                </a:solidFill>
                <a:latin typeface="Helvetica Neue"/>
                <a:ea typeface="Helvetica Neue"/>
                <a:cs typeface="Helvetica Neue"/>
              </a:defRPr>
            </a:lvl5pPr>
            <a:lvl6pPr>
              <a:defRPr sz="2250" b="0">
                <a:solidFill>
                  <a:srgbClr val="20333F"/>
                </a:solidFill>
                <a:latin typeface="Helvetica Neue"/>
                <a:ea typeface="Helvetica Neue"/>
                <a:cs typeface="Helvetica Neue"/>
              </a:defRPr>
            </a:lvl6pPr>
            <a:lvl7pPr>
              <a:defRPr sz="2250" b="0">
                <a:solidFill>
                  <a:srgbClr val="20333F"/>
                </a:solidFill>
                <a:latin typeface="Helvetica Neue"/>
                <a:ea typeface="Helvetica Neue"/>
                <a:cs typeface="Helvetica Neue"/>
              </a:defRPr>
            </a:lvl7pPr>
            <a:lvl8pPr>
              <a:defRPr sz="2250" b="0">
                <a:solidFill>
                  <a:srgbClr val="20333F"/>
                </a:solidFill>
                <a:latin typeface="Helvetica Neue"/>
                <a:ea typeface="Helvetica Neue"/>
                <a:cs typeface="Helvetica Neue"/>
              </a:defRPr>
            </a:lvl8pPr>
            <a:lvl9pPr>
              <a:defRPr sz="2250" b="0">
                <a:solidFill>
                  <a:srgbClr val="20333F"/>
                </a:solidFill>
                <a:latin typeface="Helvetica Neue"/>
                <a:ea typeface="Helvetica Neue"/>
                <a:cs typeface="Helvetica Neue"/>
              </a:defRPr>
            </a:lvl9pPr>
          </a:lstStyle>
          <a:p xmlns:a="http://schemas.openxmlformats.org/drawingml/2006/main">
            <a:pPr>
              <a:defRPr sz="2250" b="0">
                <a:solidFill>
                  <a:srgbClr val="20333F"/>
                </a:solidFill>
                <a:latin typeface="Helvetica Neue"/>
                <a:ea typeface="Helvetica Neue"/>
                <a:cs typeface="Helvetica Neue"/>
              </a:defRPr>
            </a:pPr>
            <a:r>
              <a:rPr sz="2250" b="0">
                <a:solidFill>
                  <a:srgbClr val="20333F"/>
                </a:solidFill>
                <a:latin typeface="Helvetica Neue"/>
                <a:ea typeface="Helvetica Neue"/>
                <a:cs typeface="Helvetica Neue"/>
              </a:rPr>
              <a:t>Workflow: prepare data, extract features, train, validate, evaluate</a:t>
            </a:r>
          </a:p>
        </p:txBody>
      </p:sp>
    </p:spTree>
    <p:extLst>
      <p:ext uri="{BB962C8B-B14F-4D97-AF65-F5344CB8AC3E}">
        <p14:creationId xmlns:p14="http://schemas.microsoft.com/office/powerpoint/2010/main" val="1022174138"/>
      </p:ext>
    </p:extLst>
  </p:cSld>
</p:sld>
</file>

<file path=ppt/slides/slide1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5AEB43-300C-4CA2-A34F-640C6E2521E3}"/>
              </a:ext>
            </a:extLst>
          </p:cNvPr>
          <p:cNvSpPr>
            <a:spLocks xmlns:a="http://schemas.openxmlformats.org/drawingml/2006/main" noGrp="1"/>
          </p:cNvSpPr>
          <p:nvPr/>
        </p:nvSpPr>
        <p:spPr>
          <a:xfrm xmlns:a="http://schemas.openxmlformats.org/drawingml/2006/main">
            <a:off x="619125" y="41910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B3B"/>
                </a:solidFill>
                <a:latin typeface="Helvetica Neue"/>
                <a:ea typeface="Helvetica Neue"/>
                <a:cs typeface="Helvetica Neue"/>
              </a:defRPr>
            </a:defPPr>
            <a:lvl1pPr>
              <a:defRPr sz="3225" b="1">
                <a:solidFill>
                  <a:srgbClr val="102B3B"/>
                </a:solidFill>
                <a:latin typeface="Helvetica Neue"/>
                <a:ea typeface="Helvetica Neue"/>
                <a:cs typeface="Helvetica Neue"/>
              </a:defRPr>
            </a:lvl1pPr>
            <a:lvl2pPr>
              <a:defRPr sz="3225" b="1">
                <a:solidFill>
                  <a:srgbClr val="102B3B"/>
                </a:solidFill>
                <a:latin typeface="Helvetica Neue"/>
                <a:ea typeface="Helvetica Neue"/>
                <a:cs typeface="Helvetica Neue"/>
              </a:defRPr>
            </a:lvl2pPr>
            <a:lvl3pPr>
              <a:defRPr sz="3225" b="1">
                <a:solidFill>
                  <a:srgbClr val="102B3B"/>
                </a:solidFill>
                <a:latin typeface="Helvetica Neue"/>
                <a:ea typeface="Helvetica Neue"/>
                <a:cs typeface="Helvetica Neue"/>
              </a:defRPr>
            </a:lvl3pPr>
            <a:lvl4pPr>
              <a:defRPr sz="3225" b="1">
                <a:solidFill>
                  <a:srgbClr val="102B3B"/>
                </a:solidFill>
                <a:latin typeface="Helvetica Neue"/>
                <a:ea typeface="Helvetica Neue"/>
                <a:cs typeface="Helvetica Neue"/>
              </a:defRPr>
            </a:lvl4pPr>
            <a:lvl5pPr>
              <a:defRPr sz="3225" b="1">
                <a:solidFill>
                  <a:srgbClr val="102B3B"/>
                </a:solidFill>
                <a:latin typeface="Helvetica Neue"/>
                <a:ea typeface="Helvetica Neue"/>
                <a:cs typeface="Helvetica Neue"/>
              </a:defRPr>
            </a:lvl5pPr>
            <a:lvl6pPr>
              <a:defRPr sz="3225" b="1">
                <a:solidFill>
                  <a:srgbClr val="102B3B"/>
                </a:solidFill>
                <a:latin typeface="Helvetica Neue"/>
                <a:ea typeface="Helvetica Neue"/>
                <a:cs typeface="Helvetica Neue"/>
              </a:defRPr>
            </a:lvl6pPr>
            <a:lvl7pPr>
              <a:defRPr sz="3225" b="1">
                <a:solidFill>
                  <a:srgbClr val="102B3B"/>
                </a:solidFill>
                <a:latin typeface="Helvetica Neue"/>
                <a:ea typeface="Helvetica Neue"/>
                <a:cs typeface="Helvetica Neue"/>
              </a:defRPr>
            </a:lvl7pPr>
            <a:lvl8pPr>
              <a:defRPr sz="3225" b="1">
                <a:solidFill>
                  <a:srgbClr val="102B3B"/>
                </a:solidFill>
                <a:latin typeface="Helvetica Neue"/>
                <a:ea typeface="Helvetica Neue"/>
                <a:cs typeface="Helvetica Neue"/>
              </a:defRPr>
            </a:lvl8pPr>
            <a:lvl9pPr>
              <a:defRPr sz="3225" b="1">
                <a:solidFill>
                  <a:srgbClr val="102B3B"/>
                </a:solidFill>
                <a:latin typeface="Helvetica Neue"/>
                <a:ea typeface="Helvetica Neue"/>
                <a:cs typeface="Helvetica Neue"/>
              </a:defRPr>
            </a:lvl9pPr>
          </a:lstStyle>
          <a:p xmlns:a="http://schemas.openxmlformats.org/drawingml/2006/main">
            <a:pPr>
              <a:defRPr sz="3225" b="1">
                <a:solidFill>
                  <a:srgbClr val="102B3B"/>
                </a:solidFill>
                <a:latin typeface="Helvetica Neue"/>
                <a:ea typeface="Helvetica Neue"/>
                <a:cs typeface="Helvetica Neue"/>
              </a:defRPr>
            </a:pPr>
            <a:r>
              <a:rPr sz="3225" b="1">
                <a:solidFill>
                  <a:srgbClr val="102B3B"/>
                </a:solidFill>
                <a:latin typeface="Helvetica Neue"/>
                <a:ea typeface="Helvetica Neue"/>
                <a:cs typeface="Helvetica Neue"/>
              </a:rPr>
              <a:t>Project team</a:t>
            </a:r>
          </a:p>
        </p:txBody>
      </p:sp>
      <p:sp>
        <p:nvSpPr>
          <p:cNvPr id="2" name="">
            <a:extLst xmlns:a="http://schemas.openxmlformats.org/drawingml/2006/main">
              <a:ext uri="{FF2B5EF4-FFF2-40B4-BE49-F238E27FC236}">
                <a16:creationId xmlns:a16="http://schemas.microsoft.com/office/drawing/2014/main" id="{335CD2A9-D547-4EB0-BE3A-8449E0D8A417}"/>
              </a:ext>
            </a:extLst>
          </p:cNvPr>
          <p:cNvSpPr>
            <a:spLocks xmlns:a="http://schemas.openxmlformats.org/drawingml/2006/main" noGrp="1"/>
          </p:cNvSpPr>
          <p:nvPr/>
        </p:nvSpPr>
        <p:spPr>
          <a:xfrm xmlns:a="http://schemas.openxmlformats.org/drawingml/2006/main">
            <a:off x="619125" y="63436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PROJECT 11  /  PHASE 1</a:t>
            </a:r>
          </a:p>
        </p:txBody>
      </p:sp>
      <p:sp>
        <p:nvSpPr>
          <p:cNvPr id="3" name="">
            <a:extLst xmlns:a="http://schemas.openxmlformats.org/drawingml/2006/main">
              <a:ext uri="{FF2B5EF4-FFF2-40B4-BE49-F238E27FC236}">
                <a16:creationId xmlns:a16="http://schemas.microsoft.com/office/drawing/2014/main" id="{F485733D-6304-4A65-8749-46AF3282E526}"/>
              </a:ext>
            </a:extLst>
          </p:cNvPr>
          <p:cNvSpPr>
            <a:spLocks xmlns:a="http://schemas.openxmlformats.org/drawingml/2006/main" noGrp="1"/>
          </p:cNvSpPr>
          <p:nvPr/>
        </p:nvSpPr>
        <p:spPr>
          <a:xfrm xmlns:a="http://schemas.openxmlformats.org/drawingml/2006/main">
            <a:off x="11049000" y="63436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07582"/>
                </a:solidFill>
                <a:latin typeface="Helvetica Neue"/>
                <a:ea typeface="Helvetica Neue"/>
                <a:cs typeface="Helvetica Neue"/>
              </a:defRPr>
            </a:defPPr>
            <a:lvl1pPr>
              <a:defRPr sz="1200" b="0">
                <a:solidFill>
                  <a:srgbClr val="607582"/>
                </a:solidFill>
                <a:latin typeface="Helvetica Neue"/>
                <a:ea typeface="Helvetica Neue"/>
                <a:cs typeface="Helvetica Neue"/>
              </a:defRPr>
            </a:lvl1pPr>
            <a:lvl2pPr>
              <a:defRPr sz="1200" b="0">
                <a:solidFill>
                  <a:srgbClr val="607582"/>
                </a:solidFill>
                <a:latin typeface="Helvetica Neue"/>
                <a:ea typeface="Helvetica Neue"/>
                <a:cs typeface="Helvetica Neue"/>
              </a:defRPr>
            </a:lvl2pPr>
            <a:lvl3pPr>
              <a:defRPr sz="1200" b="0">
                <a:solidFill>
                  <a:srgbClr val="607582"/>
                </a:solidFill>
                <a:latin typeface="Helvetica Neue"/>
                <a:ea typeface="Helvetica Neue"/>
                <a:cs typeface="Helvetica Neue"/>
              </a:defRPr>
            </a:lvl3pPr>
            <a:lvl4pPr>
              <a:defRPr sz="1200" b="0">
                <a:solidFill>
                  <a:srgbClr val="607582"/>
                </a:solidFill>
                <a:latin typeface="Helvetica Neue"/>
                <a:ea typeface="Helvetica Neue"/>
                <a:cs typeface="Helvetica Neue"/>
              </a:defRPr>
            </a:lvl4pPr>
            <a:lvl5pPr>
              <a:defRPr sz="1200" b="0">
                <a:solidFill>
                  <a:srgbClr val="607582"/>
                </a:solidFill>
                <a:latin typeface="Helvetica Neue"/>
                <a:ea typeface="Helvetica Neue"/>
                <a:cs typeface="Helvetica Neue"/>
              </a:defRPr>
            </a:lvl5pPr>
            <a:lvl6pPr>
              <a:defRPr sz="1200" b="0">
                <a:solidFill>
                  <a:srgbClr val="607582"/>
                </a:solidFill>
                <a:latin typeface="Helvetica Neue"/>
                <a:ea typeface="Helvetica Neue"/>
                <a:cs typeface="Helvetica Neue"/>
              </a:defRPr>
            </a:lvl6pPr>
            <a:lvl7pPr>
              <a:defRPr sz="1200" b="0">
                <a:solidFill>
                  <a:srgbClr val="607582"/>
                </a:solidFill>
                <a:latin typeface="Helvetica Neue"/>
                <a:ea typeface="Helvetica Neue"/>
                <a:cs typeface="Helvetica Neue"/>
              </a:defRPr>
            </a:lvl7pPr>
            <a:lvl8pPr>
              <a:defRPr sz="1200" b="0">
                <a:solidFill>
                  <a:srgbClr val="607582"/>
                </a:solidFill>
                <a:latin typeface="Helvetica Neue"/>
                <a:ea typeface="Helvetica Neue"/>
                <a:cs typeface="Helvetica Neue"/>
              </a:defRPr>
            </a:lvl8pPr>
            <a:lvl9pPr>
              <a:defRPr sz="1200" b="0">
                <a:solidFill>
                  <a:srgbClr val="607582"/>
                </a:solidFill>
                <a:latin typeface="Helvetica Neue"/>
                <a:ea typeface="Helvetica Neue"/>
                <a:cs typeface="Helvetica Neue"/>
              </a:defRPr>
            </a:lvl9pPr>
          </a:lstStyle>
          <a:p xmlns:a="http://schemas.openxmlformats.org/drawingml/2006/main">
            <a:pPr>
              <a:defRPr sz="1200" b="0">
                <a:solidFill>
                  <a:srgbClr val="607582"/>
                </a:solidFill>
                <a:latin typeface="Helvetica Neue"/>
                <a:ea typeface="Helvetica Neue"/>
                <a:cs typeface="Helvetica Neue"/>
              </a:defRPr>
            </a:pPr>
            <a:r>
              <a:rPr sz="1200" b="0">
                <a:solidFill>
                  <a:srgbClr val="607582"/>
                </a:solidFill>
                <a:latin typeface="Helvetica Neue"/>
                <a:ea typeface="Helvetica Neue"/>
                <a:cs typeface="Helvetica Neue"/>
              </a:rPr>
              <a:t>15</a:t>
            </a:r>
          </a:p>
        </p:txBody>
      </p:sp>
      <p:graphicFrame>
        <p:nvGraphicFramePr>
          <p:cNvPr id="4" name="">
            <a:extLst xmlns:a="http://schemas.openxmlformats.org/drawingml/2006/main">
              <a:ext uri="{FF2B5EF4-FFF2-40B4-BE49-F238E27FC236}">
                <a16:creationId xmlns:a16="http://schemas.microsoft.com/office/drawing/2014/main" id="{36A3A457-0341-4835-AF26-5CE5935DF27B}"/>
              </a:ext>
            </a:extLst>
          </p:cNvPr>
          <p:cNvGraphicFramePr/>
          <p:nvPr/>
        </p:nvGraphicFramePr>
        <p:xfrm>
          <a:off xmlns:a="http://schemas.openxmlformats.org/drawingml/2006/main" x="714375" y="1428750"/>
          <a:ext xmlns:a="http://schemas.openxmlformats.org/drawingml/2006/main" cx="10715625" cy="3905250"/>
        </p:xfrm>
        <a:graphic xmlns:a="http://schemas.openxmlformats.org/drawingml/2006/main">
          <a:graphicData uri="http://schemas.openxmlformats.org/drawingml/2006/table">
            <a:tbl>
              <a:tblPr/>
              <a:tblGrid>
                <a:gridCol w="7143750"/>
                <a:gridCol w="3571875"/>
              </a:tblGrid>
              <a:tr h="650875">
                <a:tc>
                  <a:txBody>
                    <a:bodyPr/>
                    <a:lstStyle/>
                    <a:p>
                      <a:r>
                        <a:rPr sz="1800" b="1">
                          <a:solidFill>
                            <a:srgbClr val="FFFFFF"/>
                          </a:solidFill>
                          <a:latin typeface="Helvetica Neue"/>
                          <a:ea typeface="Helvetica Neue"/>
                          <a:cs typeface="Helvetica Neue"/>
                        </a:rPr>
                        <a:t>Member</a:t>
                      </a:r>
                    </a:p>
                  </a:txBody>
                  <a:tcPr marL="91440" marR="91440" marT="45720" marB="45720">
                    <a:solidFill>
                      <a:srgbClr val="185B70"/>
                    </a:solidFill>
                  </a:tcPr>
                </a:tc>
                <a:tc>
                  <a:txBody>
                    <a:bodyPr/>
                    <a:lstStyle/>
                    <a:p>
                      <a:r>
                        <a:rPr sz="1800" b="1">
                          <a:solidFill>
                            <a:srgbClr val="FFFFFF"/>
                          </a:solidFill>
                          <a:latin typeface="Helvetica Neue"/>
                          <a:ea typeface="Helvetica Neue"/>
                          <a:cs typeface="Helvetica Neue"/>
                        </a:rPr>
                        <a:t>Enrolment</a:t>
                      </a:r>
                    </a:p>
                  </a:txBody>
                  <a:tcPr marL="91440" marR="91440" marT="45720" marB="45720">
                    <a:solidFill>
                      <a:srgbClr val="185B70"/>
                    </a:solidFill>
                  </a:tcPr>
                </a:tc>
              </a:tr>
              <a:tr h="650875">
                <a:tc>
                  <a:txBody>
                    <a:bodyPr/>
                    <a:lstStyle/>
                    <a:p>
                      <a:r>
                        <a:rPr sz="1800" b="0">
                          <a:solidFill>
                            <a:srgbClr val="20333F"/>
                          </a:solidFill>
                          <a:latin typeface="Helvetica Neue"/>
                          <a:ea typeface="Helvetica Neue"/>
                          <a:cs typeface="Helvetica Neue"/>
                        </a:rPr>
                        <a:t>Aryan</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2401020013</a:t>
                      </a:r>
                    </a:p>
                  </a:txBody>
                  <a:tcPr marL="91440" marR="91440" marT="45720" marB="45720">
                    <a:solidFill>
                      <a:srgbClr val="EDF3F5"/>
                    </a:solidFill>
                  </a:tcPr>
                </a:tc>
              </a:tr>
              <a:tr h="650875">
                <a:tc>
                  <a:txBody>
                    <a:bodyPr/>
                    <a:lstStyle/>
                    <a:p>
                      <a:r>
                        <a:rPr sz="1800" b="0">
                          <a:solidFill>
                            <a:srgbClr val="20333F"/>
                          </a:solidFill>
                          <a:latin typeface="Helvetica Neue"/>
                          <a:ea typeface="Helvetica Neue"/>
                          <a:cs typeface="Helvetica Neue"/>
                        </a:rPr>
                        <a:t>Divyanshu Singh</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2401010161</a:t>
                      </a:r>
                    </a:p>
                  </a:txBody>
                  <a:tcPr marL="91440" marR="91440" marT="45720" marB="45720">
                    <a:solidFill>
                      <a:srgbClr val="FFFFFF"/>
                    </a:solidFill>
                  </a:tcPr>
                </a:tc>
              </a:tr>
              <a:tr h="650875">
                <a:tc>
                  <a:txBody>
                    <a:bodyPr/>
                    <a:lstStyle/>
                    <a:p>
                      <a:r>
                        <a:rPr sz="1800" b="0">
                          <a:solidFill>
                            <a:srgbClr val="20333F"/>
                          </a:solidFill>
                          <a:latin typeface="Helvetica Neue"/>
                          <a:ea typeface="Helvetica Neue"/>
                          <a:cs typeface="Helvetica Neue"/>
                        </a:rPr>
                        <a:t>Jatin Kumar Singh</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2401010199</a:t>
                      </a:r>
                    </a:p>
                  </a:txBody>
                  <a:tcPr marL="91440" marR="91440" marT="45720" marB="45720">
                    <a:solidFill>
                      <a:srgbClr val="EDF3F5"/>
                    </a:solidFill>
                  </a:tcPr>
                </a:tc>
              </a:tr>
              <a:tr h="650875">
                <a:tc>
                  <a:txBody>
                    <a:bodyPr/>
                    <a:lstStyle/>
                    <a:p>
                      <a:r>
                        <a:rPr sz="1800" b="0">
                          <a:solidFill>
                            <a:srgbClr val="20333F"/>
                          </a:solidFill>
                          <a:latin typeface="Helvetica Neue"/>
                          <a:ea typeface="Helvetica Neue"/>
                          <a:cs typeface="Helvetica Neue"/>
                        </a:rPr>
                        <a:t>Jatin Verma</a:t>
                      </a:r>
                    </a:p>
                  </a:txBody>
                  <a:tcPr marL="91440" marR="91440" marT="45720" marB="45720">
                    <a:solidFill>
                      <a:srgbClr val="FFFFFF"/>
                    </a:solidFill>
                  </a:tcPr>
                </a:tc>
                <a:tc>
                  <a:txBody>
                    <a:bodyPr/>
                    <a:lstStyle/>
                    <a:p>
                      <a:r>
                        <a:rPr sz="1800" b="0">
                          <a:solidFill>
                            <a:srgbClr val="20333F"/>
                          </a:solidFill>
                          <a:latin typeface="Helvetica Neue"/>
                          <a:ea typeface="Helvetica Neue"/>
                          <a:cs typeface="Helvetica Neue"/>
                        </a:rPr>
                        <a:t>2401010200</a:t>
                      </a:r>
                    </a:p>
                  </a:txBody>
                  <a:tcPr marL="91440" marR="91440" marT="45720" marB="45720">
                    <a:solidFill>
                      <a:srgbClr val="FFFFFF"/>
                    </a:solidFill>
                  </a:tcPr>
                </a:tc>
              </a:tr>
              <a:tr h="650875">
                <a:tc>
                  <a:txBody>
                    <a:bodyPr/>
                    <a:lstStyle/>
                    <a:p>
                      <a:r>
                        <a:rPr sz="1800" b="0">
                          <a:solidFill>
                            <a:srgbClr val="20333F"/>
                          </a:solidFill>
                          <a:latin typeface="Helvetica Neue"/>
                          <a:ea typeface="Helvetica Neue"/>
                          <a:cs typeface="Helvetica Neue"/>
                        </a:rPr>
                        <a:t>Kushagra Bhardwaj</a:t>
                      </a:r>
                    </a:p>
                  </a:txBody>
                  <a:tcPr marL="91440" marR="91440" marT="45720" marB="45720">
                    <a:solidFill>
                      <a:srgbClr val="EDF3F5"/>
                    </a:solidFill>
                  </a:tcPr>
                </a:tc>
                <a:tc>
                  <a:txBody>
                    <a:bodyPr/>
                    <a:lstStyle/>
                    <a:p>
                      <a:r>
                        <a:rPr sz="1800" b="0">
                          <a:solidFill>
                            <a:srgbClr val="20333F"/>
                          </a:solidFill>
                          <a:latin typeface="Helvetica Neue"/>
                          <a:ea typeface="Helvetica Neue"/>
                          <a:cs typeface="Helvetica Neue"/>
                        </a:rPr>
                        <a:t>2401010247</a:t>
                      </a:r>
                    </a:p>
                  </a:txBody>
                  <a:tcPr marL="91440" marR="91440" marT="45720" marB="45720">
                    <a:solidFill>
                      <a:srgbClr val="EDF3F5"/>
                    </a:solidFill>
                  </a:tcPr>
                </a:tc>
              </a:tr>
            </a:tbl>
          </a:graphicData>
        </a:graphic>
      </p:graphicFrame>
    </p:spTree>
    <p:extLst>
      <p:ext uri="{BB962C8B-B14F-4D97-AF65-F5344CB8AC3E}">
        <p14:creationId xmlns:p14="http://schemas.microsoft.com/office/powerpoint/2010/main" val="1568292151"/>
      </p:ext>
    </p:extLst>
  </p:cSld>
</p:sld>
</file>

<file path=ppt/theme/theme1.xml><?xml version="1.0" encoding="utf-8"?>
<a:theme xmlns:a="http://schemas.openxmlformats.org/drawingml/2006/main" name="Inventory Image Tagging">
  <a:themeElements>
    <a:clrScheme name="Inventory Image Tagging">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Inventory Image Tagg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2026-10-23T17:01:29.9180000Z</dcterms:created>
  <dcterms:modified xsi:type="dcterms:W3CDTF">2026-10-23T17:01:29.9190000Z</dcterms:modified>
</coreProperties>
</file>