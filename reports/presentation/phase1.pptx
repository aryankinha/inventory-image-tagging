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96de576a02e47bc" /><Relationship Type="http://schemas.openxmlformats.org/officeDocument/2006/relationships/extended-properties" Target="/docProps/app.xml" Id="Rf4ca8e5b77f84944" /><Relationship Type="http://schemas.openxmlformats.org/officeDocument/2006/relationships/officeDocument" Target="/ppt/presentation.xml" Id="R8dac5ce6db65404b" /></Relationships>
</file>

<file path=ppt/presentation.xml><?xml version="1.0" encoding="utf-8"?>
<p:presentation xmlns:p="http://schemas.openxmlformats.org/presentationml/2006/main">
  <p:sldMasterIdLst>
    <p:sldMasterId xmlns:r="http://schemas.openxmlformats.org/officeDocument/2006/relationships" id="2147483648" r:id="Ra3ed0f2609b74963"/>
  </p:sldMasterIdLst>
  <p:notesMasterIdLst>
    <p:notesMasterId xmlns:r="http://schemas.openxmlformats.org/officeDocument/2006/relationships" r:id="R5b4ee657a17f4762"/>
  </p:notesMasterIdLst>
  <p:sldIdLst>
    <p:sldId xmlns:r="http://schemas.openxmlformats.org/officeDocument/2006/relationships" id="256" r:id="R471a70e06dae4dc2"/>
    <p:sldId xmlns:r="http://schemas.openxmlformats.org/officeDocument/2006/relationships" id="257" r:id="R72a70c7f25e04d72"/>
    <p:sldId xmlns:r="http://schemas.openxmlformats.org/officeDocument/2006/relationships" id="258" r:id="R524ac9d82ab64270"/>
    <p:sldId xmlns:r="http://schemas.openxmlformats.org/officeDocument/2006/relationships" id="259" r:id="Rfd3bfd2a5b7f4aa3"/>
    <p:sldId xmlns:r="http://schemas.openxmlformats.org/officeDocument/2006/relationships" id="260" r:id="R28aa735dcdcc4785"/>
    <p:sldId xmlns:r="http://schemas.openxmlformats.org/officeDocument/2006/relationships" id="261" r:id="R4f474cc2b48645ff"/>
    <p:sldId xmlns:r="http://schemas.openxmlformats.org/officeDocument/2006/relationships" id="262" r:id="R116a519a61cb4b1a"/>
    <p:sldId xmlns:r="http://schemas.openxmlformats.org/officeDocument/2006/relationships" id="263" r:id="R30fe98d0f01c4a0f"/>
    <p:sldId xmlns:r="http://schemas.openxmlformats.org/officeDocument/2006/relationships" id="264" r:id="Rf874f63fdb5b431f"/>
  </p:sldIdLst>
  <p:sldSz cx="9144000" cy="51435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7b8127e7ebf49bd" /><Relationship Type="http://schemas.openxmlformats.org/officeDocument/2006/relationships/slideMaster" Target="/ppt/slideMasters/slideMaster1.xml" Id="Ra3ed0f2609b74963" /><Relationship Type="http://schemas.openxmlformats.org/officeDocument/2006/relationships/notesMaster" Target="/ppt/notesMasters/notesMaster1.xml" Id="R5b4ee657a17f4762" /><Relationship Type="http://schemas.openxmlformats.org/officeDocument/2006/relationships/presProps" Target="/ppt/presProps.xml" Id="R1d8974e00f334b44" /><Relationship Type="http://schemas.openxmlformats.org/officeDocument/2006/relationships/viewProps" Target="/ppt/viewProps.xml" Id="Ra4dc84a80af8432a" /><Relationship Type="http://schemas.openxmlformats.org/officeDocument/2006/relationships/tableStyles" Target="/ppt/tableStyles.xml" Id="Rea265fa445b04d4e" /><Relationship Type="http://schemas.openxmlformats.org/officeDocument/2006/relationships/slide" Target="/ppt/slides/slide1.xml" Id="R471a70e06dae4dc2" /><Relationship Type="http://schemas.openxmlformats.org/officeDocument/2006/relationships/slide" Target="/ppt/slides/slide2.xml" Id="R72a70c7f25e04d72" /><Relationship Type="http://schemas.openxmlformats.org/officeDocument/2006/relationships/slide" Target="/ppt/slides/slide3.xml" Id="R524ac9d82ab64270" /><Relationship Type="http://schemas.openxmlformats.org/officeDocument/2006/relationships/slide" Target="/ppt/slides/slide4.xml" Id="Rfd3bfd2a5b7f4aa3" /><Relationship Type="http://schemas.openxmlformats.org/officeDocument/2006/relationships/slide" Target="/ppt/slides/slide5.xml" Id="R28aa735dcdcc4785" /><Relationship Type="http://schemas.openxmlformats.org/officeDocument/2006/relationships/slide" Target="/ppt/slides/slide6.xml" Id="R4f474cc2b48645ff" /><Relationship Type="http://schemas.openxmlformats.org/officeDocument/2006/relationships/slide" Target="/ppt/slides/slide7.xml" Id="R116a519a61cb4b1a" /><Relationship Type="http://schemas.openxmlformats.org/officeDocument/2006/relationships/slide" Target="/ppt/slides/slide8.xml" Id="R30fe98d0f01c4a0f" /><Relationship Type="http://schemas.openxmlformats.org/officeDocument/2006/relationships/slide" Target="/ppt/slides/slide9.xml" Id="Rf874f63fdb5b43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3ff6d7f8fa4f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Quiet Slate">
  <a:themeElements>
    <a:clrScheme name="Quiet Slate">
      <a:dk1>
        <a:srgbClr val="263340"/>
      </a:dk1>
      <a:lt1>
        <a:srgbClr val="FFFFFF"/>
      </a:lt1>
      <a:dk2>
        <a:srgbClr val="3E5565"/>
      </a:dk2>
      <a:lt2>
        <a:srgbClr val="F3F5F7"/>
      </a:lt2>
      <a:accent1>
        <a:srgbClr val="C9785D"/>
      </a:accent1>
      <a:accent2>
        <a:srgbClr val="7C9BAA"/>
      </a:accent2>
      <a:accent3>
        <a:srgbClr val="DCE4E9"/>
      </a:accent3>
      <a:accent4>
        <a:srgbClr val="9AA5B1"/>
      </a:accent4>
      <a:accent5>
        <a:srgbClr val="B8C4CC"/>
      </a:accent5>
      <a:accent6>
        <a:srgbClr val="6B7A86"/>
      </a:accent6>
      <a:hlink>
        <a:srgbClr val="3E5565"/>
      </a:hlink>
      <a:folHlink>
        <a:srgbClr val="6B7A86"/>
      </a:folHlink>
    </a:clrScheme>
    <a:fontScheme name="Quiet S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Quiet Slat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efd670171d4ebd" /><Relationship Type="http://schemas.openxmlformats.org/officeDocument/2006/relationships/notesMaster" Target="/ppt/notesMasters/notesMaster1.xml" Id="R8eb1116243c6434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60ffc45f93449c" /><Relationship Type="http://schemas.openxmlformats.org/officeDocument/2006/relationships/notesMaster" Target="/ppt/notesMasters/notesMaster1.xml" Id="R790635e0dcc54f6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4ad42f4afe14cc6" /><Relationship Type="http://schemas.openxmlformats.org/officeDocument/2006/relationships/notesMaster" Target="/ppt/notesMasters/notesMaster1.xml" Id="R9a7ce4b81df1435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e793c6d5304e4d" /><Relationship Type="http://schemas.openxmlformats.org/officeDocument/2006/relationships/notesMaster" Target="/ppt/notesMasters/notesMaster1.xml" Id="Ra568f6bdf6d44f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7e2aee339246e2" /><Relationship Type="http://schemas.openxmlformats.org/officeDocument/2006/relationships/notesMaster" Target="/ppt/notesMasters/notesMaster1.xml" Id="R8b4cc75033cb4d64"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4bffc9d9aa4c94" /><Relationship Type="http://schemas.openxmlformats.org/officeDocument/2006/relationships/notesMaster" Target="/ppt/notesMasters/notesMaster1.xml" Id="Ra9acefd30d574b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b141d45dba24a5f" /><Relationship Type="http://schemas.openxmlformats.org/officeDocument/2006/relationships/notesMaster" Target="/ppt/notesMasters/notesMaster1.xml" Id="Rf4ce17847261454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913cf7121c486c" /><Relationship Type="http://schemas.openxmlformats.org/officeDocument/2006/relationships/notesMaster" Target="/ppt/notesMasters/notesMaster1.xml" Id="Rf2dab2a8ba0d4297" /></Relationships>
</file>

<file path=ppt/notesSlides/_rels/notesSlide9.xml.rels>&#65279;<?xml version="1.0" encoding="utf-8"?><Relationships xmlns="http://schemas.openxmlformats.org/package/2006/relationships"><Relationship Type="http://schemas.openxmlformats.org/officeDocument/2006/relationships/slide" Target="/ppt/slides/slide9.xml" Id="R03060387410c4604" /><Relationship Type="http://schemas.openxmlformats.org/officeDocument/2006/relationships/notesMaster" Target="/ppt/notesMasters/notesMaster1.xml" Id="Rf283eba9cca547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 covers ten-category Fashion-MNIST classification using classical models. CNN training belongs to Phase 2. Sources: docs/phase1_checklist.md; https://github.com/zalandoresearch/fashion-mnist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Compare pixels and HOG with Logistic Regression, k-NN, Random Forest and linear SVM. Validation macro F1 chooses settings, with accuracy breaking ties. Freeze those choices before final evaluation. The public test benchmark appeared in the supplied reference and an earlier expanded run, so we do not claim it was globally unseen. Sources: reports/frozen.json; reports/phase1_report/main.tex.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Shirt recall is 59.2% for the selected Pixels + Random Forest, not a property of every model. An initial StandardScaler + LinearSVC(C=0.1) fit took 299.543 seconds. The final recipe removes that dataset-level scaler and uses tolerance 1e-3 with max_iter 2000. The model family remains LinearSVC. The adjustment used runtime and validation evidence. Source: reports/engineering/solver_note.md and standardized_pixel_svm_initial_trials.json.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Seed 42 creates the same stratified 48,000/12,000 split for every model. Every model trains on all 48,000 images. Both settings for each combination are evaluated on validation data. Test scores do not choose the overall model. Sources: data.py, train.py, reports/frozen.json.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Pixels are float32 brightness values divided by 255 and flattened to 784 values. HOG uses nine orientation bins, 7x7-pixel cells, 2x2-cell blocks and L2-Hys normalization, giving 324 values. HOG visualization illustrates edge directions. Source: features.py and reports/figures/hog_visualization.png.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Best means best among the current eight combinations. Validation selects Pixels + Random Forest, with 400 trees and unrestricted depth. Its test accuracy is 87.61%, macro F1 0.874729. Median latency is 24.975 ms on the evaluation CPU after warm-up, including feature extraction and excluding decoding/loading. File size is 69.96 MiB. The earlier 11-model comparison selected fine HOG + RBF SVM (90.87% test accuracy); those additional candidates are outside this deck. Sources: reports/test/results.csv, reports/frozen.json; local runs/seed-audit-20261027/audit.md.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is the fraction of each true class identified correctly. Each class contains 1,000 test images. Shirt is 592/1000. The three error counts are directional. Similar outlines may contribute, but these examples do not establish causation. Sources: reports/test/per_class.csv and upper_body_confusions.csv.</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an included sample or upload, optionally choose another verified saved model, inspect its 28x28 input, then predict. The app shows category and measured request latency. Ordinary photographs remain experimental. Sources: dashboard/views.py, dashboard/services.py; https://inventory-image-tagging.streamlit.app/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HOG improves test macro F1 for Logistic Regression by 0.006018 and for linear SVM by 0.001235; it lowers it for k-NN and Random Forest. Each side is tuned separately. Findings use one split and limited settings. CNN performance has not been measured here. Source: reports/test/results.csv and reports/phase1_report/main.tex.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c50a84a9934e5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f2f0bf3a77445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e6597eccad4432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69fac7bdf2c4907"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TITLE_DARK">
    <p:bg>
      <p:bgPr>
        <a:solidFill xmlns:a="http://schemas.openxmlformats.org/drawingml/2006/main">
          <a:schemeClr val="tx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E950744-6DA7-4477-8041-400E5170806B}"/>
              </a:ext>
            </a:extLst>
          </p:cNvPr>
          <p:cNvSpPr>
            <a:spLocks xmlns:a="http://schemas.openxmlformats.org/drawingml/2006/main" noGrp="1"/>
          </p:cNvSpPr>
          <p:nvPr>
            <p:ph type="title" idx="100" hasCustomPrompt="1"/>
          </p:nvPr>
        </p:nvSpPr>
        <p:spPr>
          <a:xfrm xmlns:a="http://schemas.openxmlformats.org/drawingml/2006/main">
            <a:off x="548640" y="777240"/>
            <a:ext cx="5486400" cy="11887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800" b="1">
                <a:solidFill>
                  <a:schemeClr val="bg1"/>
                </a:solidFill>
              </a:defRPr>
            </a:lvl1pPr>
          </a:lstStyle>
          <a:p xmlns:a="http://schemas.openxmlformats.org/drawingml/2006/main">
            <a:pPr marL="0" indent="0" algn="l">
              <a:buNone/>
            </a:pPr>
            <a:endParaRPr sz="3800"/>
          </a:p>
        </p:txBody>
      </p:sp>
      <p:sp>
        <p:nvSpPr>
          <p:cNvPr id="25" name="Slide Number Placeholder 0">
            <a:extLst xmlns:a="http://schemas.openxmlformats.org/drawingml/2006/main">
              <a:ext uri="{FF2B5EF4-FFF2-40B4-BE49-F238E27FC236}">
                <a16:creationId xmlns:a16="http://schemas.microsoft.com/office/drawing/2014/main" id="{BBB3002D-4C76-4829-8B79-022FB44FBA42}"/>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5"/>
                </a:solidFill>
              </a:defRPr>
            </a:lvl1pPr>
          </a:lstStyle>
          <a:p xmlns:a="http://schemas.openxmlformats.org/drawingml/2006/main">
            <a:pPr algn="l">
              <a:buNone/>
            </a:pPr>
            <a:fld id="{F7021451-1387-4CA6-816F-3879F97B5CBC}" type="slidenum">
              <a:rPr b="0"/>
              <a:t>1002</a:t>
            </a:fld>
            <a:endParaRPr/>
          </a:p>
        </p:txBody>
      </p:sp>
    </p:spTree>
  </p:cSld>
</p:sldLayout>
</file>

<file path=ppt/slideLayouts/slideLayout3.xml><?xml version="1.0" encoding="utf-8"?>
<p:sldLayout xmlns:p="http://schemas.openxmlformats.org/presentationml/2006/main" preserve="1">
  <p:cSld name="LIGHT">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732C7A-B763-4977-B114-27ABC1BE8D70}"/>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400" b="1">
                <a:solidFill>
                  <a:schemeClr val="tx1"/>
                </a:solidFill>
              </a:defRPr>
            </a:lvl1pPr>
          </a:lstStyle>
          <a:p xmlns:a="http://schemas.openxmlformats.org/drawingml/2006/main">
            <a:pPr marL="0" indent="0" algn="l">
              <a:buNone/>
            </a:pPr>
            <a:endParaRPr sz="3400"/>
          </a:p>
        </p:txBody>
      </p:sp>
      <p:sp>
        <p:nvSpPr>
          <p:cNvPr id="3" name="Text 0">
            <a:extLst xmlns:a="http://schemas.openxmlformats.org/drawingml/2006/main">
              <a:ext uri="{FF2B5EF4-FFF2-40B4-BE49-F238E27FC236}">
                <a16:creationId xmlns:a16="http://schemas.microsoft.com/office/drawing/2014/main" id="{D1872FDB-8A68-490B-A257-68C3FF60C465}"/>
              </a:ext>
            </a:extLst>
          </p:cNvPr>
          <p:cNvSpPr>
            <a:spLocks xmlns:a="http://schemas.openxmlformats.org/drawingml/2006/main" noGrp="1"/>
          </p:cNvSpPr>
          <p:nvPr/>
        </p:nvSpPr>
        <p:spPr>
          <a:xfrm xmlns:a="http://schemas.openxmlformats.org/drawingml/2006/main">
            <a:off x="548640" y="4754880"/>
            <a:ext cx="2743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accent6"/>
                </a:solidFill>
              </a:rPr>
              <a:t>PROJECT 11  ·  PHASE 1</a:t>
            </a:r>
            <a:endParaRPr sz="1000"/>
          </a:p>
        </p:txBody>
      </p:sp>
      <p:sp>
        <p:nvSpPr>
          <p:cNvPr id="25" name="Slide Number Placeholder 0">
            <a:extLst xmlns:a="http://schemas.openxmlformats.org/drawingml/2006/main">
              <a:ext uri="{FF2B5EF4-FFF2-40B4-BE49-F238E27FC236}">
                <a16:creationId xmlns:a16="http://schemas.microsoft.com/office/drawing/2014/main" id="{F5B109FB-7C90-4984-B4C0-89E43C8C17A4}"/>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6"/>
                </a:solidFill>
              </a:defRPr>
            </a:lvl1pPr>
          </a:lstStyle>
          <a:p xmlns:a="http://schemas.openxmlformats.org/drawingml/2006/main">
            <a:pPr algn="l">
              <a:buNone/>
            </a:pPr>
            <a:fld id="{F7021451-1387-4CA6-816F-3879F97B5CBC}" type="slidenum">
              <a:rPr b="0"/>
              <a:t>1003</a:t>
            </a:fld>
            <a:endParaRPr/>
          </a:p>
        </p:txBody>
      </p:sp>
    </p:spTree>
  </p:cSld>
</p:sldLayout>
</file>

<file path=ppt/slideLayouts/slideLayout4.xml><?xml version="1.0" encoding="utf-8"?>
<p:sldLayout xmlns:p="http://schemas.openxmlformats.org/presentationml/2006/main" preserve="1">
  <p:cSld name="DARK">
    <p:bg>
      <p:bgPr>
        <a:solidFill xmlns:a="http://schemas.openxmlformats.org/drawingml/2006/main">
          <a:schemeClr val="tx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1498880-C7C5-401E-9609-D87294A5F9DC}"/>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400" b="1">
                <a:solidFill>
                  <a:schemeClr val="bg1"/>
                </a:solidFill>
              </a:defRPr>
            </a:lvl1pPr>
          </a:lstStyle>
          <a:p xmlns:a="http://schemas.openxmlformats.org/drawingml/2006/main">
            <a:pPr marL="0" indent="0" algn="l">
              <a:buNone/>
            </a:pPr>
            <a:endParaRPr sz="3400"/>
          </a:p>
        </p:txBody>
      </p:sp>
      <p:sp>
        <p:nvSpPr>
          <p:cNvPr id="3" name="Text 0">
            <a:extLst xmlns:a="http://schemas.openxmlformats.org/drawingml/2006/main">
              <a:ext uri="{FF2B5EF4-FFF2-40B4-BE49-F238E27FC236}">
                <a16:creationId xmlns:a16="http://schemas.microsoft.com/office/drawing/2014/main" id="{D5E1DE42-203A-480E-830E-E64BF7651C2D}"/>
              </a:ext>
            </a:extLst>
          </p:cNvPr>
          <p:cNvSpPr>
            <a:spLocks xmlns:a="http://schemas.openxmlformats.org/drawingml/2006/main" noGrp="1"/>
          </p:cNvSpPr>
          <p:nvPr/>
        </p:nvSpPr>
        <p:spPr>
          <a:xfrm xmlns:a="http://schemas.openxmlformats.org/drawingml/2006/main">
            <a:off x="548640" y="4754880"/>
            <a:ext cx="2743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accent5"/>
                </a:solidFill>
              </a:rPr>
              <a:t>PROJECT 11  ·  PHASE 1</a:t>
            </a:r>
            <a:endParaRPr sz="1000"/>
          </a:p>
        </p:txBody>
      </p:sp>
      <p:sp>
        <p:nvSpPr>
          <p:cNvPr id="25" name="Slide Number Placeholder 0">
            <a:extLst xmlns:a="http://schemas.openxmlformats.org/drawingml/2006/main">
              <a:ext uri="{FF2B5EF4-FFF2-40B4-BE49-F238E27FC236}">
                <a16:creationId xmlns:a16="http://schemas.microsoft.com/office/drawing/2014/main" id="{78F662C3-52D6-410C-A403-50E4539D8A85}"/>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5"/>
                </a:solidFill>
              </a:defRPr>
            </a:lvl1pPr>
          </a:lstStyle>
          <a:p xmlns:a="http://schemas.openxmlformats.org/drawingml/2006/main">
            <a:pPr algn="l">
              <a:buNone/>
            </a:pPr>
            <a:fld id="{F7021451-1387-4CA6-816F-3879F97B5CBC}" type="slidenum">
              <a:rPr b="0"/>
              <a:t>1004</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0fcf11bdbb49b1" /><Relationship Type="http://schemas.openxmlformats.org/officeDocument/2006/relationships/slideLayout" Target="/ppt/slideLayouts/slideLayout1.xml" Id="R66c839abe45e44cd" /><Relationship Type="http://schemas.openxmlformats.org/officeDocument/2006/relationships/slideLayout" Target="/ppt/slideLayouts/slideLayout2.xml" Id="Raf6d070a06654464" /><Relationship Type="http://schemas.openxmlformats.org/officeDocument/2006/relationships/slideLayout" Target="/ppt/slideLayouts/slideLayout3.xml" Id="Rc73ba8aa47a441eb" /><Relationship Type="http://schemas.openxmlformats.org/officeDocument/2006/relationships/slideLayout" Target="/ppt/slideLayouts/slideLayout4.xml" Id="Ree124f6f1af943e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4F1CE740-F9D7-406B-97B2-FA33A346172F}"/>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5"/>
                </a:solidFill>
              </a:defRPr>
            </a:lvl1pPr>
          </a:lstStyle>
          <a:p xmlns:a="http://schemas.openxmlformats.org/drawingml/2006/main">
            <a:pPr algn="l">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c839abe45e44cd"/>
    <p:sldLayoutId xmlns:r="http://schemas.openxmlformats.org/officeDocument/2006/relationships" id="2147483650" r:id="Raf6d070a06654464"/>
    <p:sldLayoutId xmlns:r="http://schemas.openxmlformats.org/officeDocument/2006/relationships" id="2147483651" r:id="Rc73ba8aa47a441eb"/>
    <p:sldLayoutId xmlns:r="http://schemas.openxmlformats.org/officeDocument/2006/relationships" id="2147483652" r:id="Ree124f6f1af943e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Quiet Slate">
  <a:themeElements>
    <a:clrScheme name="Quiet Slate">
      <a:dk1>
        <a:srgbClr val="263340"/>
      </a:dk1>
      <a:lt1>
        <a:srgbClr val="FFFFFF"/>
      </a:lt1>
      <a:dk2>
        <a:srgbClr val="3E5565"/>
      </a:dk2>
      <a:lt2>
        <a:srgbClr val="F3F5F7"/>
      </a:lt2>
      <a:accent1>
        <a:srgbClr val="C9785D"/>
      </a:accent1>
      <a:accent2>
        <a:srgbClr val="7C9BAA"/>
      </a:accent2>
      <a:accent3>
        <a:srgbClr val="DCE4E9"/>
      </a:accent3>
      <a:accent4>
        <a:srgbClr val="9AA5B1"/>
      </a:accent4>
      <a:accent5>
        <a:srgbClr val="B8C4CC"/>
      </a:accent5>
      <a:accent6>
        <a:srgbClr val="6B7A86"/>
      </a:accent6>
      <a:hlink>
        <a:srgbClr val="3E5565"/>
      </a:hlink>
      <a:folHlink>
        <a:srgbClr val="6B7A86"/>
      </a:folHlink>
    </a:clrScheme>
    <a:fontScheme name="Quiet S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Quiet Slat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4161f4e71aaa4d2f" /><Relationship Type="http://schemas.openxmlformats.org/officeDocument/2006/relationships/image" Target="/ppt/media/image.png" Id="R7db19bcac01945b9" /><Relationship Type="http://schemas.openxmlformats.org/officeDocument/2006/relationships/notesSlide" Target="/ppt/notesSlides/notesSlide1.xml" Id="R27719005e14243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baa30036d06f4e56" /><Relationship Type="http://schemas.openxmlformats.org/officeDocument/2006/relationships/notesSlide" Target="/ppt/notesSlides/notesSlide2.xml" Id="Rc0419e50f3054967"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996e1cfaf3f74f3e" /><Relationship Type="http://schemas.openxmlformats.org/officeDocument/2006/relationships/notesSlide" Target="/ppt/notesSlides/notesSlide3.xml" Id="Rdf2bef83c286417e"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66b5b065aa3f4dde" /><Relationship Type="http://schemas.openxmlformats.org/officeDocument/2006/relationships/notesSlide" Target="/ppt/notesSlides/notesSlide4.xml" Id="Re2c97ab57baf41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caf1fbde99524306" /><Relationship Type="http://schemas.openxmlformats.org/officeDocument/2006/relationships/image" Target="/ppt/media/image2.png" Id="R42614e6abe3548b2" /><Relationship Type="http://schemas.openxmlformats.org/officeDocument/2006/relationships/notesSlide" Target="/ppt/notesSlides/notesSlide5.xml" Id="R9a47a7d89b0143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24b5e2fd01c646af" /><Relationship Type="http://schemas.openxmlformats.org/officeDocument/2006/relationships/chart" Target="/ppt/slides/charts/chart1.xml" Id="Rd43d95d8b00242a2" /><Relationship Type="http://schemas.openxmlformats.org/officeDocument/2006/relationships/notesSlide" Target="/ppt/notesSlides/notesSlide6.xml" Id="Ra47486c35c514e6f"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7ec30af806514a99" /><Relationship Type="http://schemas.openxmlformats.org/officeDocument/2006/relationships/chart" Target="/ppt/slides/charts/chart2.xml" Id="R176fd46839f04f18" /><Relationship Type="http://schemas.openxmlformats.org/officeDocument/2006/relationships/notesSlide" Target="/ppt/notesSlides/notesSlide7.xml" Id="R05e42877e9a74c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e1492d06ef334941" /><Relationship Type="http://schemas.openxmlformats.org/officeDocument/2006/relationships/notesSlide" Target="/ppt/notesSlides/notesSlide8.xml" Id="Rdd4316ce2de44e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1534a56c29274e65" /><Relationship Type="http://schemas.openxmlformats.org/officeDocument/2006/relationships/notesSlide" Target="/ppt/notesSlides/notesSlide9.xml" Id="R33bc1614981b4972" /></Relationships>
</file>

<file path=ppt/slides/charts/_rels/chart1.xml.rels><?xml version='1.0' encoding='utf-8'?>
<ns0:Relationships xmlns:ns0="http://schemas.openxmlformats.org/package/2006/relationships"><ns0:Relationship Id="rId1" Type="http://schemas.openxmlformats.org/officeDocument/2006/relationships/package" Target="/ppt/embeddings/Microsoft_Excel_Worksheet1.xlsx" /></ns0:Relationships>
</file>

<file path=ppt/slides/charts/_rels/chart2.xml.rels><?xml version='1.0' encoding='utf-8'?>
<ns0:Relationships xmlns:ns0="http://schemas.openxmlformats.org/package/2006/relationships"><ns0:Relationship Id="rId1" Type="http://schemas.openxmlformats.org/officeDocument/2006/relationships/package" Target="/ppt/embeddings/Microsoft_Excel_Worksheet2.xlsx" /></ns0:Relationships>
</file>

<file path=ppt/slides/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Pixels</c:v>
                </c:pt>
              </c:strCache>
            </c:strRef>
          </c:tx>
          <c:spPr>
            <a:solidFill>
              <a:srgbClr val="3E5565"/>
            </a:solidFill>
            <a:effectLst/>
          </c:spPr>
          <c:invertIfNegative val="0"/>
          <c:dLbls>
            <c:numFmt formatCode="0.0" sourceLinked="0"/>
            <c:txPr>
              <a:bodyPr/>
              <a:lstStyle/>
              <a:p>
                <a:pPr>
                  <a:defRPr b="0" i="0" strike="noStrike" sz="1000" u="none">
                    <a:solidFill>
                      <a:srgbClr val="263340"/>
                    </a:solidFill>
                    <a:latin typeface="+mn-lt"/>
                  </a:defRPr>
                </a:pPr>
              </a:p>
            </c:txPr>
            <c:showLegendKey val="0"/>
            <c:showVal val="1"/>
            <c:showCatName val="0"/>
            <c:showSerName val="0"/>
            <c:showPercent val="0"/>
            <c:showBubbleSize val="0"/>
            <c:showLeaderLines val="0"/>
          </c:dLbls>
          <c:cat>
            <c:strRef>
              <c:f>Sheet1!$A$2:$A$5</c:f>
              <c:strCache>
                <c:ptCount val="4"/>
                <c:pt idx="0">
                  <c:v>Random Forest</c:v>
                </c:pt>
                <c:pt idx="1">
                  <c:v>k-NN</c:v>
                </c:pt>
                <c:pt idx="2">
                  <c:v>Logistic Reg.</c:v>
                </c:pt>
                <c:pt idx="3">
                  <c:v>Linear SVM</c:v>
                </c:pt>
              </c:strCache>
            </c:strRef>
          </c:cat>
          <c:val>
            <c:numRef>
              <c:f>Sheet1!$B$2:$B$5</c:f>
              <c:numCache>
                <c:formatCode>General</c:formatCode>
                <c:ptCount val="4"/>
                <c:pt idx="0">
                  <c:v>87.61</c:v>
                </c:pt>
                <c:pt idx="1">
                  <c:v>85.09</c:v>
                </c:pt>
                <c:pt idx="2">
                  <c:v>83.96</c:v>
                </c:pt>
                <c:pt idx="3">
                  <c:v>83.97</c:v>
                </c:pt>
              </c:numCache>
            </c:numRef>
          </c:val>
        </c:ser>
        <c:ser>
          <c:idx val="1"/>
          <c:order val="1"/>
          <c:tx>
            <c:strRef>
              <c:f>Sheet1!$C$1</c:f>
              <c:strCache>
                <c:ptCount val="1"/>
                <c:pt idx="0">
                  <c:v>HOG</c:v>
                </c:pt>
              </c:strCache>
            </c:strRef>
          </c:tx>
          <c:spPr>
            <a:solidFill>
              <a:srgbClr val="9FB4C0"/>
            </a:solidFill>
            <a:effectLst/>
          </c:spPr>
          <c:invertIfNegative val="0"/>
          <c:dLbls>
            <c:numFmt formatCode="0.0" sourceLinked="0"/>
            <c:txPr>
              <a:bodyPr/>
              <a:lstStyle/>
              <a:p>
                <a:pPr>
                  <a:defRPr b="0" i="0" strike="noStrike" sz="1000" u="none">
                    <a:solidFill>
                      <a:srgbClr val="263340"/>
                    </a:solidFill>
                    <a:latin typeface="+mn-lt"/>
                  </a:defRPr>
                </a:pPr>
              </a:p>
            </c:txPr>
            <c:showLegendKey val="0"/>
            <c:showVal val="1"/>
            <c:showCatName val="0"/>
            <c:showSerName val="0"/>
            <c:showPercent val="0"/>
            <c:showBubbleSize val="0"/>
            <c:showLeaderLines val="0"/>
          </c:dLbls>
          <c:cat>
            <c:strRef>
              <c:f>Sheet1!$A$2:$A$5</c:f>
              <c:strCache>
                <c:ptCount val="4"/>
                <c:pt idx="0">
                  <c:v>Random Forest</c:v>
                </c:pt>
                <c:pt idx="1">
                  <c:v>k-NN</c:v>
                </c:pt>
                <c:pt idx="2">
                  <c:v>Logistic Reg.</c:v>
                </c:pt>
                <c:pt idx="3">
                  <c:v>Linear SVM</c:v>
                </c:pt>
              </c:strCache>
            </c:strRef>
          </c:cat>
          <c:val>
            <c:numRef>
              <c:f>Sheet1!$C$2:$C$5</c:f>
              <c:numCache>
                <c:formatCode>General</c:formatCode>
                <c:ptCount val="4"/>
                <c:pt idx="0">
                  <c:v>84.59</c:v>
                </c:pt>
                <c:pt idx="1">
                  <c:v>83.81</c:v>
                </c:pt>
                <c:pt idx="2">
                  <c:v>84.55</c:v>
                </c:pt>
                <c:pt idx="3">
                  <c:v>84.01</c:v>
                </c:pt>
              </c:numCache>
            </c:numRef>
          </c:val>
        </c:ser>
        <c:dLbls>
          <c:numFmt formatCode="0.0" sourceLinked="0"/>
          <c:txPr>
            <a:bodyPr/>
            <a:lstStyle/>
            <a:p>
              <a:pPr>
                <a:defRPr b="0" i="0" strike="noStrike" sz="1000" u="none">
                  <a:solidFill>
                    <a:srgbClr val="26334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63340"/>
                </a:solidFill>
                <a:latin typeface="+mn-lt"/>
              </a:defRPr>
            </a:pPr>
            <a:endParaRPr lang="en-US"/>
          </a:p>
        </c:txPr>
        <c:crossAx val="2094734552"/>
        <c:crosses val="autoZero"/>
        <c:auto val="1"/>
        <c:lblAlgn val="ctr"/>
        <c:noMultiLvlLbl val="1"/>
      </c:catAx>
      <c:valAx>
        <c:axId val="2094734552"/>
        <c:scaling>
          <c:orientation val="minMax"/>
          <c:max val="90"/>
          <c:min val="80"/>
        </c:scaling>
        <c:delete val="0"/>
        <c:axPos val="l"/>
        <c:majorGridlines>
          <c:spPr>
            <a:ln w="6350" cap="flat">
              <a:solidFill>
                <a:srgbClr val="E3E8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A86"/>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100">
              <a:solidFill>
                <a:srgbClr val="263340"/>
              </a:solidFill>
              <a:latin typeface="+mn-lt"/>
              <a:cs typeface="+mn-lt"/>
            </a:defRPr>
          </a:pPr>
          <a:endParaRPr lang="en-US"/>
        </a:p>
      </c:txPr>
    </c:legend>
    <c:plotVisOnly val="1"/>
    <c:dispBlanksAs val="span"/>
  </c:chart>
  <c:spPr>
    <a:noFill/>
    <a:ln>
      <a:noFill/>
    </a:ln>
    <a:effectLst/>
  </c:spPr>
  <c:externalData r:id="rId1">
    <c:autoUpdate val="0"/>
  </c:externalData>
</c:chartSpace>
</file>

<file path=ppt/slides/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Recall</c:v>
                </c:pt>
              </c:strCache>
            </c:strRef>
          </c:tx>
          <c:spPr>
            <a:solidFill>
              <a:srgbClr val="C9785D"/>
            </a:solidFill>
            <a:effectLst/>
          </c:spPr>
          <c:invertIfNegative val="0"/>
          <c:dLbls>
            <c:numFmt formatCode="0.0" sourceLinked="0"/>
            <c:txPr>
              <a:bodyPr/>
              <a:lstStyle/>
              <a:p>
                <a:pPr>
                  <a:defRPr b="0" i="0" strike="noStrike" sz="1000" u="none">
                    <a:solidFill>
                      <a:srgbClr val="263340"/>
                    </a:solidFill>
                    <a:latin typeface="+mn-lt"/>
                  </a:defRPr>
                </a:pPr>
              </a:p>
            </c:txPr>
            <c:showLegendKey val="0"/>
            <c:showVal val="1"/>
            <c:showCatName val="0"/>
            <c:showSerName val="0"/>
            <c:showPercent val="0"/>
            <c:showBubbleSize val="0"/>
            <c:showLeaderLines val="0"/>
          </c:dLbls>
          <c:dPt>
            <c:idx val="0"/>
            <c:invertIfNegative val="0"/>
            <c:bubble3D val="0"/>
            <c:spPr>
              <a:solidFill>
                <a:srgbClr val="C9785D"/>
              </a:solidFill>
              <a:effectLst/>
            </c:spPr>
          </c:dPt>
          <c:dPt>
            <c:idx val="1"/>
            <c:invertIfNegative val="0"/>
            <c:bubble3D val="0"/>
            <c:spPr>
              <a:solidFill>
                <a:srgbClr val="9FB4C0"/>
              </a:solidFill>
              <a:effectLst/>
            </c:spPr>
          </c:dPt>
          <c:dPt>
            <c:idx val="2"/>
            <c:invertIfNegative val="0"/>
            <c:bubble3D val="0"/>
            <c:spPr>
              <a:solidFill>
                <a:srgbClr val="9FB4C0"/>
              </a:solidFill>
              <a:effectLst/>
            </c:spPr>
          </c:dPt>
          <c:dPt>
            <c:idx val="3"/>
            <c:invertIfNegative val="0"/>
            <c:bubble3D val="0"/>
            <c:spPr>
              <a:solidFill>
                <a:srgbClr val="9FB4C0"/>
              </a:solidFill>
              <a:effectLst/>
            </c:spPr>
          </c:dPt>
          <c:dPt>
            <c:idx val="4"/>
            <c:invertIfNegative val="0"/>
            <c:bubble3D val="0"/>
            <c:spPr>
              <a:solidFill>
                <a:srgbClr val="9FB4C0"/>
              </a:solidFill>
              <a:effectLst/>
            </c:spPr>
          </c:dPt>
          <c:dPt>
            <c:idx val="5"/>
            <c:invertIfNegative val="0"/>
            <c:bubble3D val="0"/>
            <c:spPr>
              <a:solidFill>
                <a:srgbClr val="9FB4C0"/>
              </a:solidFill>
              <a:effectLst/>
            </c:spPr>
          </c:dPt>
          <c:dPt>
            <c:idx val="6"/>
            <c:invertIfNegative val="0"/>
            <c:bubble3D val="0"/>
            <c:spPr>
              <a:solidFill>
                <a:srgbClr val="9FB4C0"/>
              </a:solidFill>
              <a:effectLst/>
            </c:spPr>
          </c:dPt>
          <c:dPt>
            <c:idx val="7"/>
            <c:invertIfNegative val="0"/>
            <c:bubble3D val="0"/>
            <c:spPr>
              <a:solidFill>
                <a:srgbClr val="9FB4C0"/>
              </a:solidFill>
              <a:effectLst/>
            </c:spPr>
          </c:dPt>
          <c:dPt>
            <c:idx val="8"/>
            <c:invertIfNegative val="0"/>
            <c:bubble3D val="0"/>
            <c:spPr>
              <a:solidFill>
                <a:srgbClr val="9FB4C0"/>
              </a:solidFill>
              <a:effectLst/>
            </c:spPr>
          </c:dPt>
          <c:dPt>
            <c:idx val="9"/>
            <c:invertIfNegative val="0"/>
            <c:bubble3D val="0"/>
            <c:spPr>
              <a:solidFill>
                <a:srgbClr val="9FB4C0"/>
              </a:solidFill>
              <a:effectLst/>
            </c:spPr>
          </c:dPt>
          <c:cat>
            <c:strRef>
              <c:f>Sheet1!$A$2:$A$11</c:f>
              <c:strCache>
                <c:ptCount val="10"/>
                <c:pt idx="0">
                  <c:v>Shirt</c:v>
                </c:pt>
                <c:pt idx="1">
                  <c:v>Pullover</c:v>
                </c:pt>
                <c:pt idx="2">
                  <c:v>Coat</c:v>
                </c:pt>
                <c:pt idx="3">
                  <c:v>T-shirt/top</c:v>
                </c:pt>
                <c:pt idx="4">
                  <c:v>Dress</c:v>
                </c:pt>
                <c:pt idx="5">
                  <c:v>Sneaker</c:v>
                </c:pt>
                <c:pt idx="6">
                  <c:v>Ankle boot</c:v>
                </c:pt>
                <c:pt idx="7">
                  <c:v>Sandal</c:v>
                </c:pt>
                <c:pt idx="8">
                  <c:v>Trouser</c:v>
                </c:pt>
                <c:pt idx="9">
                  <c:v>Bag</c:v>
                </c:pt>
              </c:strCache>
            </c:strRef>
          </c:cat>
          <c:val>
            <c:numRef>
              <c:f>Sheet1!$B$2:$B$11</c:f>
              <c:numCache>
                <c:formatCode>General</c:formatCode>
                <c:ptCount val="10"/>
                <c:pt idx="0">
                  <c:v>59.2</c:v>
                </c:pt>
                <c:pt idx="1">
                  <c:v>80.2</c:v>
                </c:pt>
                <c:pt idx="2">
                  <c:v>82.2</c:v>
                </c:pt>
                <c:pt idx="3">
                  <c:v>85.2</c:v>
                </c:pt>
                <c:pt idx="4">
                  <c:v>91</c:v>
                </c:pt>
                <c:pt idx="5">
                  <c:v>94.7</c:v>
                </c:pt>
                <c:pt idx="6">
                  <c:v>94.8</c:v>
                </c:pt>
                <c:pt idx="7">
                  <c:v>95.4</c:v>
                </c:pt>
                <c:pt idx="8">
                  <c:v>95.9</c:v>
                </c:pt>
                <c:pt idx="9">
                  <c:v>97.5</c:v>
                </c:pt>
              </c:numCache>
            </c:numRef>
          </c:val>
        </c:ser>
        <c:dLbls>
          <c:numFmt formatCode="0.0" sourceLinked="0"/>
          <c:txPr>
            <a:bodyPr/>
            <a:lstStyle/>
            <a:p>
              <a:pPr>
                <a:defRPr b="0" i="0" strike="noStrike" sz="1000" u="none">
                  <a:solidFill>
                    <a:srgbClr val="26334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3340"/>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C9D920A-EB0D-4B20-A87B-02EF18D102D7}"/>
              </a:ext>
            </a:extLst>
          </p:cNvPr>
          <p:cNvSpPr>
            <a:spLocks xmlns:a="http://schemas.openxmlformats.org/drawingml/2006/main" noGrp="1"/>
          </p:cNvSpPr>
          <p:nvPr>
            <p:ph type="title" idx="100" hasCustomPrompt="1"/>
          </p:nvPr>
        </p:nvSpPr>
        <p:spPr>
          <a:xfrm xmlns:a="http://schemas.openxmlformats.org/drawingml/2006/main">
            <a:off x="548640" y="777240"/>
            <a:ext cx="548640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chemeClr val="bg1"/>
                </a:solidFill>
              </a:rPr>
              <a:t>Inventory Image Tagging</a:t>
            </a:r>
            <a:endParaRPr sz="3800"/>
          </a:p>
        </p:txBody>
      </p:sp>
      <p:sp>
        <p:nvSpPr>
          <p:cNvPr id="3" name="Pill PROJECT 11  ·  PHASE 1">
            <a:extLst xmlns:a="http://schemas.openxmlformats.org/drawingml/2006/main">
              <a:ext uri="{FF2B5EF4-FFF2-40B4-BE49-F238E27FC236}">
                <a16:creationId xmlns:a16="http://schemas.microsoft.com/office/drawing/2014/main" id="{5E4F7513-87DC-4168-B332-04CDBACBBC41}"/>
              </a:ext>
            </a:extLst>
          </p:cNvPr>
          <p:cNvSpPr>
            <a:spLocks xmlns:a="http://schemas.openxmlformats.org/drawingml/2006/main" noGrp="1"/>
          </p:cNvSpPr>
          <p:nvPr/>
        </p:nvSpPr>
        <p:spPr>
          <a:xfrm xmlns:a="http://schemas.openxmlformats.org/drawingml/2006/main">
            <a:off x="548640" y="365760"/>
            <a:ext cx="2103120" cy="310896"/>
          </a:xfrm>
          <a:prstGeom xmlns:a="http://schemas.openxmlformats.org/drawingml/2006/main" prst="roundRect">
            <a:avLst>
              <a:gd name="adj" fmla="val 50000"/>
            </a:avLst>
          </a:prstGeom>
          <a:solidFill xmlns:a="http://schemas.openxmlformats.org/drawingml/2006/main">
            <a:schemeClr val="accent1"/>
          </a:solidFill>
          <a:ln xmlns:a="http://schemas.openxmlformats.org/drawingml/2006/main" w="12700">
            <a:solidFill>
              <a:schemeClr val="accent1"/>
            </a:solidFill>
            <a:prstDash val="solid"/>
          </a:ln>
        </p:spPr>
      </p:sp>
      <p:sp>
        <p:nvSpPr>
          <p:cNvPr id="4" name="Text 2">
            <a:extLst xmlns:a="http://schemas.openxmlformats.org/drawingml/2006/main">
              <a:ext uri="{FF2B5EF4-FFF2-40B4-BE49-F238E27FC236}">
                <a16:creationId xmlns:a16="http://schemas.microsoft.com/office/drawing/2014/main" id="{D6926D4D-68CF-451F-9D3C-8ED5FEED7B40}"/>
              </a:ext>
            </a:extLst>
          </p:cNvPr>
          <p:cNvSpPr>
            <a:spLocks xmlns:a="http://schemas.openxmlformats.org/drawingml/2006/main" noGrp="1"/>
          </p:cNvSpPr>
          <p:nvPr/>
        </p:nvSpPr>
        <p:spPr>
          <a:xfrm xmlns:a="http://schemas.openxmlformats.org/drawingml/2006/main">
            <a:off x="548640" y="365760"/>
            <a:ext cx="21031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chemeClr val="bg1"/>
                </a:solidFill>
              </a:rPr>
              <a:t>PROJECT 11  ·  PHASE 1</a:t>
            </a:r>
            <a:endParaRPr sz="1100"/>
          </a:p>
        </p:txBody>
      </p:sp>
      <p:sp>
        <p:nvSpPr>
          <p:cNvPr id="5" name="Text 3">
            <a:extLst xmlns:a="http://schemas.openxmlformats.org/drawingml/2006/main">
              <a:ext uri="{FF2B5EF4-FFF2-40B4-BE49-F238E27FC236}">
                <a16:creationId xmlns:a16="http://schemas.microsoft.com/office/drawing/2014/main" id="{1EBF2189-DCE6-4767-B293-8423A327780D}"/>
              </a:ext>
            </a:extLst>
          </p:cNvPr>
          <p:cNvSpPr>
            <a:spLocks xmlns:a="http://schemas.openxmlformats.org/drawingml/2006/main" noGrp="1"/>
          </p:cNvSpPr>
          <p:nvPr/>
        </p:nvSpPr>
        <p:spPr>
          <a:xfrm xmlns:a="http://schemas.openxmlformats.org/drawingml/2006/main">
            <a:off x="548640" y="2103120"/>
            <a:ext cx="80467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chemeClr val="accent3"/>
                </a:solidFill>
              </a:rPr>
              <a:t>Teaching simple classifiers to tell clothes apart</a:t>
            </a:r>
            <a:endParaRPr sz="1600"/>
          </a:p>
        </p:txBody>
      </p:sp>
      <p:sp>
        <p:nvSpPr>
          <p:cNvPr id="6" name="Samples card">
            <a:extLst xmlns:a="http://schemas.openxmlformats.org/drawingml/2006/main">
              <a:ext uri="{FF2B5EF4-FFF2-40B4-BE49-F238E27FC236}">
                <a16:creationId xmlns:a16="http://schemas.microsoft.com/office/drawing/2014/main" id="{832ACD7B-5349-4B4A-B6F8-B75473E590C9}"/>
              </a:ext>
            </a:extLst>
          </p:cNvPr>
          <p:cNvSpPr>
            <a:spLocks xmlns:a="http://schemas.openxmlformats.org/drawingml/2006/main" noGrp="1"/>
          </p:cNvSpPr>
          <p:nvPr/>
        </p:nvSpPr>
        <p:spPr>
          <a:xfrm xmlns:a="http://schemas.openxmlformats.org/drawingml/2006/main">
            <a:off x="548640" y="2606040"/>
            <a:ext cx="5486400" cy="1828800"/>
          </a:xfrm>
          <a:prstGeom xmlns:a="http://schemas.openxmlformats.org/drawingml/2006/main" prst="roundRect">
            <a:avLst>
              <a:gd name="adj" fmla="val 8000"/>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pic>
        <p:nvPicPr>
          <p:cNvPr id="7" name="Image 0">
            <a:extLst xmlns:a="http://schemas.openxmlformats.org/drawingml/2006/main">
              <a:ext uri="{FF2B5EF4-FFF2-40B4-BE49-F238E27FC236}">
                <a16:creationId xmlns:a16="http://schemas.microsoft.com/office/drawing/2014/main" id="{CD405C83-2DCC-4D26-A141-D37D8FAD0594}"/>
              </a:ext>
            </a:extLst>
          </p:cNvPr>
          <p:cNvPicPr>
            <a:picLocks xmlns:a="http://schemas.openxmlformats.org/drawingml/2006/main" noChangeAspect="1"/>
          </p:cNvPicPr>
          <p:nvPr/>
        </p:nvPicPr>
        <p:blipFill>
          <a:blip xmlns:r="http://schemas.openxmlformats.org/officeDocument/2006/relationships" xmlns:a="http://schemas.openxmlformats.org/drawingml/2006/main" r:embed="R7db19bcac01945b9"/>
          <a:stretch xmlns:a="http://schemas.openxmlformats.org/drawingml/2006/main">
            <a:fillRect l="0" t="0" r="0" b="0"/>
          </a:stretch>
        </p:blipFill>
        <p:spPr>
          <a:xfrm xmlns:a="http://schemas.openxmlformats.org/drawingml/2006/main">
            <a:off x="685800" y="2651760"/>
            <a:ext cx="5212080" cy="1737360"/>
          </a:xfrm>
          <a:prstGeom xmlns:a="http://schemas.openxmlformats.org/drawingml/2006/main" prst="rect">
            <a:avLst/>
          </a:prstGeom>
        </p:spPr>
      </p:pic>
      <p:sp>
        <p:nvSpPr>
          <p:cNvPr id="8" name="Fact clothing categories">
            <a:extLst xmlns:a="http://schemas.openxmlformats.org/drawingml/2006/main">
              <a:ext uri="{FF2B5EF4-FFF2-40B4-BE49-F238E27FC236}">
                <a16:creationId xmlns:a16="http://schemas.microsoft.com/office/drawing/2014/main" id="{9EB68A85-B380-47E7-8395-6CBB92CEFA9E}"/>
              </a:ext>
            </a:extLst>
          </p:cNvPr>
          <p:cNvSpPr>
            <a:spLocks xmlns:a="http://schemas.openxmlformats.org/drawingml/2006/main" noGrp="1"/>
          </p:cNvSpPr>
          <p:nvPr/>
        </p:nvSpPr>
        <p:spPr>
          <a:xfrm xmlns:a="http://schemas.openxmlformats.org/drawingml/2006/main">
            <a:off x="6355080" y="2606040"/>
            <a:ext cx="2240280" cy="548640"/>
          </a:xfrm>
          <a:prstGeom xmlns:a="http://schemas.openxmlformats.org/drawingml/2006/main" prst="roundRect">
            <a:avLst>
              <a:gd name="adj" fmla="val 26667"/>
            </a:avLst>
          </a:prstGeom>
          <a:solidFill xmlns:a="http://schemas.openxmlformats.org/drawingml/2006/main">
            <a:schemeClr val="accent2"/>
          </a:solidFill>
          <a:ln xmlns:a="http://schemas.openxmlformats.org/drawingml/2006/main" w="12700">
            <a:solidFill>
              <a:schemeClr val="accent2"/>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9" name="Text 6">
            <a:extLst xmlns:a="http://schemas.openxmlformats.org/drawingml/2006/main">
              <a:ext uri="{FF2B5EF4-FFF2-40B4-BE49-F238E27FC236}">
                <a16:creationId xmlns:a16="http://schemas.microsoft.com/office/drawing/2014/main" id="{62EEF3F6-31E4-46A6-BB4D-8AE4DCAF263F}"/>
              </a:ext>
            </a:extLst>
          </p:cNvPr>
          <p:cNvSpPr>
            <a:spLocks xmlns:a="http://schemas.openxmlformats.org/drawingml/2006/main" noGrp="1"/>
          </p:cNvSpPr>
          <p:nvPr/>
        </p:nvSpPr>
        <p:spPr>
          <a:xfrm xmlns:a="http://schemas.openxmlformats.org/drawingml/2006/main">
            <a:off x="6492240" y="2606040"/>
            <a:ext cx="8686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chemeClr val="bg1"/>
                </a:solidFill>
              </a:rPr>
              <a:t>10</a:t>
            </a:r>
            <a:endParaRPr sz="1800"/>
          </a:p>
        </p:txBody>
      </p:sp>
      <p:sp>
        <p:nvSpPr>
          <p:cNvPr id="10" name="Text 7">
            <a:extLst xmlns:a="http://schemas.openxmlformats.org/drawingml/2006/main">
              <a:ext uri="{FF2B5EF4-FFF2-40B4-BE49-F238E27FC236}">
                <a16:creationId xmlns:a16="http://schemas.microsoft.com/office/drawing/2014/main" id="{D03CCE31-689E-4212-A4CE-8C5966677A17}"/>
              </a:ext>
            </a:extLst>
          </p:cNvPr>
          <p:cNvSpPr>
            <a:spLocks xmlns:a="http://schemas.openxmlformats.org/drawingml/2006/main" noGrp="1"/>
          </p:cNvSpPr>
          <p:nvPr/>
        </p:nvSpPr>
        <p:spPr>
          <a:xfrm xmlns:a="http://schemas.openxmlformats.org/drawingml/2006/main">
            <a:off x="7315200" y="2606040"/>
            <a:ext cx="1234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1"/>
                </a:solidFill>
              </a:rPr>
              <a:t>clothing categories</a:t>
            </a:r>
            <a:endParaRPr sz="1100"/>
          </a:p>
        </p:txBody>
      </p:sp>
      <p:sp>
        <p:nvSpPr>
          <p:cNvPr id="11" name="Fact grayscale images">
            <a:extLst xmlns:a="http://schemas.openxmlformats.org/drawingml/2006/main">
              <a:ext uri="{FF2B5EF4-FFF2-40B4-BE49-F238E27FC236}">
                <a16:creationId xmlns:a16="http://schemas.microsoft.com/office/drawing/2014/main" id="{CE9F0991-2683-4CE3-B6A9-642C16B2AB69}"/>
              </a:ext>
            </a:extLst>
          </p:cNvPr>
          <p:cNvSpPr>
            <a:spLocks xmlns:a="http://schemas.openxmlformats.org/drawingml/2006/main" noGrp="1"/>
          </p:cNvSpPr>
          <p:nvPr/>
        </p:nvSpPr>
        <p:spPr>
          <a:xfrm xmlns:a="http://schemas.openxmlformats.org/drawingml/2006/main">
            <a:off x="6355080" y="3246120"/>
            <a:ext cx="2240280" cy="548640"/>
          </a:xfrm>
          <a:prstGeom xmlns:a="http://schemas.openxmlformats.org/drawingml/2006/main" prst="roundRect">
            <a:avLst>
              <a:gd name="adj" fmla="val 26667"/>
            </a:avLst>
          </a:prstGeom>
          <a:solidFill xmlns:a="http://schemas.openxmlformats.org/drawingml/2006/main">
            <a:schemeClr val="accent2"/>
          </a:solidFill>
          <a:ln xmlns:a="http://schemas.openxmlformats.org/drawingml/2006/main" w="12700">
            <a:solidFill>
              <a:schemeClr val="accent2"/>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2" name="Text 9">
            <a:extLst xmlns:a="http://schemas.openxmlformats.org/drawingml/2006/main">
              <a:ext uri="{FF2B5EF4-FFF2-40B4-BE49-F238E27FC236}">
                <a16:creationId xmlns:a16="http://schemas.microsoft.com/office/drawing/2014/main" id="{0B009391-EC80-4839-B65A-3B74D12910CA}"/>
              </a:ext>
            </a:extLst>
          </p:cNvPr>
          <p:cNvSpPr>
            <a:spLocks xmlns:a="http://schemas.openxmlformats.org/drawingml/2006/main" noGrp="1"/>
          </p:cNvSpPr>
          <p:nvPr/>
        </p:nvSpPr>
        <p:spPr>
          <a:xfrm xmlns:a="http://schemas.openxmlformats.org/drawingml/2006/main">
            <a:off x="6492240" y="3246120"/>
            <a:ext cx="8686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chemeClr val="bg1"/>
                </a:solidFill>
              </a:rPr>
              <a:t>28 × 28</a:t>
            </a:r>
            <a:endParaRPr sz="1800"/>
          </a:p>
        </p:txBody>
      </p:sp>
      <p:sp>
        <p:nvSpPr>
          <p:cNvPr id="13" name="Text 10">
            <a:extLst xmlns:a="http://schemas.openxmlformats.org/drawingml/2006/main">
              <a:ext uri="{FF2B5EF4-FFF2-40B4-BE49-F238E27FC236}">
                <a16:creationId xmlns:a16="http://schemas.microsoft.com/office/drawing/2014/main" id="{7048FF3B-4183-4D90-9474-440B430B05FE}"/>
              </a:ext>
            </a:extLst>
          </p:cNvPr>
          <p:cNvSpPr>
            <a:spLocks xmlns:a="http://schemas.openxmlformats.org/drawingml/2006/main" noGrp="1"/>
          </p:cNvSpPr>
          <p:nvPr/>
        </p:nvSpPr>
        <p:spPr>
          <a:xfrm xmlns:a="http://schemas.openxmlformats.org/drawingml/2006/main">
            <a:off x="7315200" y="3246120"/>
            <a:ext cx="1234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1"/>
                </a:solidFill>
              </a:rPr>
              <a:t>grayscale images</a:t>
            </a:r>
            <a:endParaRPr sz="1100"/>
          </a:p>
        </p:txBody>
      </p:sp>
      <p:sp>
        <p:nvSpPr>
          <p:cNvPr id="14" name="Fact models compared">
            <a:extLst xmlns:a="http://schemas.openxmlformats.org/drawingml/2006/main">
              <a:ext uri="{FF2B5EF4-FFF2-40B4-BE49-F238E27FC236}">
                <a16:creationId xmlns:a16="http://schemas.microsoft.com/office/drawing/2014/main" id="{3D27214F-98E3-4415-B6D3-A87670ABB814}"/>
              </a:ext>
            </a:extLst>
          </p:cNvPr>
          <p:cNvSpPr>
            <a:spLocks xmlns:a="http://schemas.openxmlformats.org/drawingml/2006/main" noGrp="1"/>
          </p:cNvSpPr>
          <p:nvPr/>
        </p:nvSpPr>
        <p:spPr>
          <a:xfrm xmlns:a="http://schemas.openxmlformats.org/drawingml/2006/main">
            <a:off x="6355080" y="3886200"/>
            <a:ext cx="2240280" cy="548640"/>
          </a:xfrm>
          <a:prstGeom xmlns:a="http://schemas.openxmlformats.org/drawingml/2006/main" prst="roundRect">
            <a:avLst>
              <a:gd name="adj" fmla="val 26667"/>
            </a:avLst>
          </a:prstGeom>
          <a:solidFill xmlns:a="http://schemas.openxmlformats.org/drawingml/2006/main">
            <a:schemeClr val="accent2"/>
          </a:solidFill>
          <a:ln xmlns:a="http://schemas.openxmlformats.org/drawingml/2006/main" w="12700">
            <a:solidFill>
              <a:schemeClr val="accent2"/>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5" name="Text 12">
            <a:extLst xmlns:a="http://schemas.openxmlformats.org/drawingml/2006/main">
              <a:ext uri="{FF2B5EF4-FFF2-40B4-BE49-F238E27FC236}">
                <a16:creationId xmlns:a16="http://schemas.microsoft.com/office/drawing/2014/main" id="{C03EEE72-C7D0-4EE3-8F57-B55B28390EF5}"/>
              </a:ext>
            </a:extLst>
          </p:cNvPr>
          <p:cNvSpPr>
            <a:spLocks xmlns:a="http://schemas.openxmlformats.org/drawingml/2006/main" noGrp="1"/>
          </p:cNvSpPr>
          <p:nvPr/>
        </p:nvSpPr>
        <p:spPr>
          <a:xfrm xmlns:a="http://schemas.openxmlformats.org/drawingml/2006/main">
            <a:off x="6492240" y="3886200"/>
            <a:ext cx="8686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chemeClr val="bg1"/>
                </a:solidFill>
              </a:rPr>
              <a:t>8</a:t>
            </a:r>
            <a:endParaRPr sz="1800"/>
          </a:p>
        </p:txBody>
      </p:sp>
      <p:sp>
        <p:nvSpPr>
          <p:cNvPr id="16" name="Text 13">
            <a:extLst xmlns:a="http://schemas.openxmlformats.org/drawingml/2006/main">
              <a:ext uri="{FF2B5EF4-FFF2-40B4-BE49-F238E27FC236}">
                <a16:creationId xmlns:a16="http://schemas.microsoft.com/office/drawing/2014/main" id="{E9ACF6CA-684F-4B2F-879A-E0A85A5E1042}"/>
              </a:ext>
            </a:extLst>
          </p:cNvPr>
          <p:cNvSpPr>
            <a:spLocks xmlns:a="http://schemas.openxmlformats.org/drawingml/2006/main" noGrp="1"/>
          </p:cNvSpPr>
          <p:nvPr/>
        </p:nvSpPr>
        <p:spPr>
          <a:xfrm xmlns:a="http://schemas.openxmlformats.org/drawingml/2006/main">
            <a:off x="7315200" y="3886200"/>
            <a:ext cx="1234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1"/>
                </a:solidFill>
              </a:rPr>
              <a:t>models compared</a:t>
            </a:r>
            <a:endParaRPr sz="1100"/>
          </a:p>
        </p:txBody>
      </p:sp>
      <p:sp>
        <p:nvSpPr>
          <p:cNvPr id="17" name="Text 14">
            <a:extLst xmlns:a="http://schemas.openxmlformats.org/drawingml/2006/main">
              <a:ext uri="{FF2B5EF4-FFF2-40B4-BE49-F238E27FC236}">
                <a16:creationId xmlns:a16="http://schemas.microsoft.com/office/drawing/2014/main" id="{4F716A51-ED62-4809-9F43-9D7216D4F39A}"/>
              </a:ext>
            </a:extLst>
          </p:cNvPr>
          <p:cNvSpPr>
            <a:spLocks xmlns:a="http://schemas.openxmlformats.org/drawingml/2006/main" noGrp="1"/>
          </p:cNvSpPr>
          <p:nvPr/>
        </p:nvSpPr>
        <p:spPr>
          <a:xfrm xmlns:a="http://schemas.openxmlformats.org/drawingml/2006/main">
            <a:off x="548640" y="457200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accent3"/>
                </a:solidFill>
              </a:rPr>
              <a:t>Aryan  ·  Divyanshu Singh  ·  Jatin Kumar Singh  ·  Jatin Verma  ·  Kushagra Bhardwaj</a:t>
            </a:r>
            <a:endParaRPr sz="1100"/>
          </a:p>
        </p:txBody>
      </p:sp>
      <p:sp>
        <p:nvSpPr>
          <p:cNvPr id="25" name="Slide Number Placeholder 0">
            <a:extLst xmlns:a="http://schemas.openxmlformats.org/drawingml/2006/main">
              <a:ext uri="{FF2B5EF4-FFF2-40B4-BE49-F238E27FC236}">
                <a16:creationId xmlns:a16="http://schemas.microsoft.com/office/drawing/2014/main" id="{608D519D-73D3-44ED-88F9-8CE099E4C874}"/>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5"/>
                </a:solidFill>
              </a:defRPr>
            </a:lvl1pPr>
          </a:lstStyle>
          <a:p xmlns:a="http://schemas.openxmlformats.org/drawingml/2006/main">
            <a:pPr algn="l">
              <a:buNone/>
            </a:pPr>
            <a:fld id="{F7021451-1387-4CA6-816F-3879F97B5CBC}" type="slidenum">
              <a:rPr b="0"/>
              <a:t>1</a:t>
            </a:fld>
            <a:endParaRPr/>
          </a:p>
        </p:txBody>
      </p:sp>
    </p:spTree>
    <p:extLst>
      <p:ext uri="{BB962C8B-B14F-4D97-AF65-F5344CB8AC3E}">
        <p14:creationId xmlns:p14="http://schemas.microsoft.com/office/powerpoint/2010/main" val="113391870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C973999-5BE2-4892-8A19-BFFAE940DEF7}"/>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400" b="1">
                <a:solidFill>
                  <a:schemeClr val="tx1"/>
                </a:solidFill>
              </a:rPr>
              <a:t>The problem we set out to solve</a:t>
            </a:r>
            <a:endParaRPr sz="3400"/>
          </a:p>
        </p:txBody>
      </p:sp>
      <p:sp>
        <p:nvSpPr>
          <p:cNvPr id="3" name="Text 1">
            <a:extLst xmlns:a="http://schemas.openxmlformats.org/drawingml/2006/main">
              <a:ext uri="{FF2B5EF4-FFF2-40B4-BE49-F238E27FC236}">
                <a16:creationId xmlns:a16="http://schemas.microsoft.com/office/drawing/2014/main" id="{A3A87D1B-1D54-4B02-967F-1713F60EEDA5}"/>
              </a:ext>
            </a:extLst>
          </p:cNvPr>
          <p:cNvSpPr>
            <a:spLocks xmlns:a="http://schemas.openxmlformats.org/drawingml/2006/main" noGrp="1"/>
          </p:cNvSpPr>
          <p:nvPr/>
        </p:nvSpPr>
        <p:spPr>
          <a:xfrm xmlns:a="http://schemas.openxmlformats.org/drawingml/2006/main">
            <a:off x="548640" y="1143000"/>
            <a:ext cx="80467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000">
                <a:solidFill>
                  <a:schemeClr val="tx2"/>
                </a:solidFill>
              </a:rPr>
              <a:t>A shop has thousands of clothing photos. Given one image, which of ten categories is it?</a:t>
            </a:r>
            <a:endParaRPr sz="2000"/>
          </a:p>
        </p:txBody>
      </p:sp>
      <p:sp>
        <p:nvSpPr>
          <p:cNvPr id="4" name="Goal 1">
            <a:extLst xmlns:a="http://schemas.openxmlformats.org/drawingml/2006/main">
              <a:ext uri="{FF2B5EF4-FFF2-40B4-BE49-F238E27FC236}">
                <a16:creationId xmlns:a16="http://schemas.microsoft.com/office/drawing/2014/main" id="{DBA02483-82E6-4BEA-9B01-3D100D1FB231}"/>
              </a:ext>
            </a:extLst>
          </p:cNvPr>
          <p:cNvSpPr>
            <a:spLocks xmlns:a="http://schemas.openxmlformats.org/drawingml/2006/main" noGrp="1"/>
          </p:cNvSpPr>
          <p:nvPr/>
        </p:nvSpPr>
        <p:spPr>
          <a:xfrm xmlns:a="http://schemas.openxmlformats.org/drawingml/2006/main">
            <a:off x="548640" y="2103120"/>
            <a:ext cx="2560320" cy="2377440"/>
          </a:xfrm>
          <a:prstGeom xmlns:a="http://schemas.openxmlformats.org/drawingml/2006/main" prst="roundRect">
            <a:avLst>
              <a:gd name="adj" fmla="val 6154"/>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5" name="Number 1">
            <a:extLst xmlns:a="http://schemas.openxmlformats.org/drawingml/2006/main">
              <a:ext uri="{FF2B5EF4-FFF2-40B4-BE49-F238E27FC236}">
                <a16:creationId xmlns:a16="http://schemas.microsoft.com/office/drawing/2014/main" id="{86F90400-884B-4D8E-8252-4200CA535FDA}"/>
              </a:ext>
            </a:extLst>
          </p:cNvPr>
          <p:cNvSpPr>
            <a:spLocks xmlns:a="http://schemas.openxmlformats.org/drawingml/2006/main" noGrp="1"/>
          </p:cNvSpPr>
          <p:nvPr/>
        </p:nvSpPr>
        <p:spPr>
          <a:xfrm xmlns:a="http://schemas.openxmlformats.org/drawingml/2006/main">
            <a:off x="777240" y="233172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6" name="Text 4">
            <a:extLst xmlns:a="http://schemas.openxmlformats.org/drawingml/2006/main">
              <a:ext uri="{FF2B5EF4-FFF2-40B4-BE49-F238E27FC236}">
                <a16:creationId xmlns:a16="http://schemas.microsoft.com/office/drawing/2014/main" id="{0F295CEC-0437-462A-AC82-4CED1821FE3D}"/>
              </a:ext>
            </a:extLst>
          </p:cNvPr>
          <p:cNvSpPr>
            <a:spLocks xmlns:a="http://schemas.openxmlformats.org/drawingml/2006/main" noGrp="1"/>
          </p:cNvSpPr>
          <p:nvPr/>
        </p:nvSpPr>
        <p:spPr>
          <a:xfrm xmlns:a="http://schemas.openxmlformats.org/drawingml/2006/main">
            <a:off x="777240" y="23317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1</a:t>
            </a:r>
            <a:endParaRPr sz="1500"/>
          </a:p>
        </p:txBody>
      </p:sp>
      <p:sp>
        <p:nvSpPr>
          <p:cNvPr id="7" name="Text 5">
            <a:extLst xmlns:a="http://schemas.openxmlformats.org/drawingml/2006/main">
              <a:ext uri="{FF2B5EF4-FFF2-40B4-BE49-F238E27FC236}">
                <a16:creationId xmlns:a16="http://schemas.microsoft.com/office/drawing/2014/main" id="{7A255862-23E4-43EE-AFC2-C93B5EA79FF2}"/>
              </a:ext>
            </a:extLst>
          </p:cNvPr>
          <p:cNvSpPr>
            <a:spLocks xmlns:a="http://schemas.openxmlformats.org/drawingml/2006/main" noGrp="1"/>
          </p:cNvSpPr>
          <p:nvPr/>
        </p:nvSpPr>
        <p:spPr>
          <a:xfrm xmlns:a="http://schemas.openxmlformats.org/drawingml/2006/main">
            <a:off x="777240" y="2926080"/>
            <a:ext cx="210312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chemeClr val="tx1"/>
                </a:solidFill>
              </a:rPr>
              <a:t>Compare two ways of seeing an image</a:t>
            </a:r>
            <a:endParaRPr sz="1600"/>
          </a:p>
        </p:txBody>
      </p:sp>
      <p:sp>
        <p:nvSpPr>
          <p:cNvPr id="8" name="Text 6">
            <a:extLst xmlns:a="http://schemas.openxmlformats.org/drawingml/2006/main">
              <a:ext uri="{FF2B5EF4-FFF2-40B4-BE49-F238E27FC236}">
                <a16:creationId xmlns:a16="http://schemas.microsoft.com/office/drawing/2014/main" id="{A5F659B3-65C4-4002-8D37-FA71688DAC7C}"/>
              </a:ext>
            </a:extLst>
          </p:cNvPr>
          <p:cNvSpPr>
            <a:spLocks xmlns:a="http://schemas.openxmlformats.org/drawingml/2006/main" noGrp="1"/>
          </p:cNvSpPr>
          <p:nvPr/>
        </p:nvSpPr>
        <p:spPr>
          <a:xfrm xmlns:a="http://schemas.openxmlformats.org/drawingml/2006/main">
            <a:off x="777240" y="3566160"/>
            <a:ext cx="21031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Raw pixel brightness versus HOG edge directions, each tried with four classifiers.</a:t>
            </a:r>
            <a:endParaRPr sz="1200"/>
          </a:p>
        </p:txBody>
      </p:sp>
      <p:sp>
        <p:nvSpPr>
          <p:cNvPr id="9" name="Goal 2">
            <a:extLst xmlns:a="http://schemas.openxmlformats.org/drawingml/2006/main">
              <a:ext uri="{FF2B5EF4-FFF2-40B4-BE49-F238E27FC236}">
                <a16:creationId xmlns:a16="http://schemas.microsoft.com/office/drawing/2014/main" id="{478FAB95-494C-4AB3-89C2-B2C05AAD325B}"/>
              </a:ext>
            </a:extLst>
          </p:cNvPr>
          <p:cNvSpPr>
            <a:spLocks xmlns:a="http://schemas.openxmlformats.org/drawingml/2006/main" noGrp="1"/>
          </p:cNvSpPr>
          <p:nvPr/>
        </p:nvSpPr>
        <p:spPr>
          <a:xfrm xmlns:a="http://schemas.openxmlformats.org/drawingml/2006/main">
            <a:off x="3291840" y="2103120"/>
            <a:ext cx="2560320" cy="2377440"/>
          </a:xfrm>
          <a:prstGeom xmlns:a="http://schemas.openxmlformats.org/drawingml/2006/main" prst="roundRect">
            <a:avLst>
              <a:gd name="adj" fmla="val 6154"/>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0" name="Number 2">
            <a:extLst xmlns:a="http://schemas.openxmlformats.org/drawingml/2006/main">
              <a:ext uri="{FF2B5EF4-FFF2-40B4-BE49-F238E27FC236}">
                <a16:creationId xmlns:a16="http://schemas.microsoft.com/office/drawing/2014/main" id="{149F7EC6-4CAC-4A9B-BB8D-2D6491D5F764}"/>
              </a:ext>
            </a:extLst>
          </p:cNvPr>
          <p:cNvSpPr>
            <a:spLocks xmlns:a="http://schemas.openxmlformats.org/drawingml/2006/main" noGrp="1"/>
          </p:cNvSpPr>
          <p:nvPr/>
        </p:nvSpPr>
        <p:spPr>
          <a:xfrm xmlns:a="http://schemas.openxmlformats.org/drawingml/2006/main">
            <a:off x="3520440" y="233172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11" name="Text 9">
            <a:extLst xmlns:a="http://schemas.openxmlformats.org/drawingml/2006/main">
              <a:ext uri="{FF2B5EF4-FFF2-40B4-BE49-F238E27FC236}">
                <a16:creationId xmlns:a16="http://schemas.microsoft.com/office/drawing/2014/main" id="{30E7FB8B-D250-48B0-9C4F-240625603B54}"/>
              </a:ext>
            </a:extLst>
          </p:cNvPr>
          <p:cNvSpPr>
            <a:spLocks xmlns:a="http://schemas.openxmlformats.org/drawingml/2006/main" noGrp="1"/>
          </p:cNvSpPr>
          <p:nvPr/>
        </p:nvSpPr>
        <p:spPr>
          <a:xfrm xmlns:a="http://schemas.openxmlformats.org/drawingml/2006/main">
            <a:off x="3520440" y="23317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2</a:t>
            </a:r>
            <a:endParaRPr sz="1500"/>
          </a:p>
        </p:txBody>
      </p:sp>
      <p:sp>
        <p:nvSpPr>
          <p:cNvPr id="12" name="Text 10">
            <a:extLst xmlns:a="http://schemas.openxmlformats.org/drawingml/2006/main">
              <a:ext uri="{FF2B5EF4-FFF2-40B4-BE49-F238E27FC236}">
                <a16:creationId xmlns:a16="http://schemas.microsoft.com/office/drawing/2014/main" id="{3D01A998-00D8-4016-B945-E86BF43BA4A8}"/>
              </a:ext>
            </a:extLst>
          </p:cNvPr>
          <p:cNvSpPr>
            <a:spLocks xmlns:a="http://schemas.openxmlformats.org/drawingml/2006/main" noGrp="1"/>
          </p:cNvSpPr>
          <p:nvPr/>
        </p:nvSpPr>
        <p:spPr>
          <a:xfrm xmlns:a="http://schemas.openxmlformats.org/drawingml/2006/main">
            <a:off x="3520440" y="2926080"/>
            <a:ext cx="210312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chemeClr val="tx1"/>
                </a:solidFill>
              </a:rPr>
              <a:t>Test it fairly</a:t>
            </a:r>
            <a:endParaRPr sz="1600"/>
          </a:p>
        </p:txBody>
      </p:sp>
      <p:sp>
        <p:nvSpPr>
          <p:cNvPr id="13" name="Text 11">
            <a:extLst xmlns:a="http://schemas.openxmlformats.org/drawingml/2006/main">
              <a:ext uri="{FF2B5EF4-FFF2-40B4-BE49-F238E27FC236}">
                <a16:creationId xmlns:a16="http://schemas.microsoft.com/office/drawing/2014/main" id="{17B63A33-DFF4-473C-A44A-D32F8D1C2186}"/>
              </a:ext>
            </a:extLst>
          </p:cNvPr>
          <p:cNvSpPr>
            <a:spLocks xmlns:a="http://schemas.openxmlformats.org/drawingml/2006/main" noGrp="1"/>
          </p:cNvSpPr>
          <p:nvPr/>
        </p:nvSpPr>
        <p:spPr>
          <a:xfrm xmlns:a="http://schemas.openxmlformats.org/drawingml/2006/main">
            <a:off x="3520440" y="3566160"/>
            <a:ext cx="21031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Choose settings on validation images only. Freeze choices before evaluating the official test set.</a:t>
            </a:r>
            <a:endParaRPr sz="1200"/>
          </a:p>
        </p:txBody>
      </p:sp>
      <p:sp>
        <p:nvSpPr>
          <p:cNvPr id="14" name="Goal 3">
            <a:extLst xmlns:a="http://schemas.openxmlformats.org/drawingml/2006/main">
              <a:ext uri="{FF2B5EF4-FFF2-40B4-BE49-F238E27FC236}">
                <a16:creationId xmlns:a16="http://schemas.microsoft.com/office/drawing/2014/main" id="{35CE87C8-949C-45A4-86CC-07456D372ED4}"/>
              </a:ext>
            </a:extLst>
          </p:cNvPr>
          <p:cNvSpPr>
            <a:spLocks xmlns:a="http://schemas.openxmlformats.org/drawingml/2006/main" noGrp="1"/>
          </p:cNvSpPr>
          <p:nvPr/>
        </p:nvSpPr>
        <p:spPr>
          <a:xfrm xmlns:a="http://schemas.openxmlformats.org/drawingml/2006/main">
            <a:off x="6035040" y="2103120"/>
            <a:ext cx="2560320" cy="2377440"/>
          </a:xfrm>
          <a:prstGeom xmlns:a="http://schemas.openxmlformats.org/drawingml/2006/main" prst="roundRect">
            <a:avLst>
              <a:gd name="adj" fmla="val 6154"/>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5" name="Number 3">
            <a:extLst xmlns:a="http://schemas.openxmlformats.org/drawingml/2006/main">
              <a:ext uri="{FF2B5EF4-FFF2-40B4-BE49-F238E27FC236}">
                <a16:creationId xmlns:a16="http://schemas.microsoft.com/office/drawing/2014/main" id="{BD77B69B-0E8D-49C3-9E1B-F16A58B02DF5}"/>
              </a:ext>
            </a:extLst>
          </p:cNvPr>
          <p:cNvSpPr>
            <a:spLocks xmlns:a="http://schemas.openxmlformats.org/drawingml/2006/main" noGrp="1"/>
          </p:cNvSpPr>
          <p:nvPr/>
        </p:nvSpPr>
        <p:spPr>
          <a:xfrm xmlns:a="http://schemas.openxmlformats.org/drawingml/2006/main">
            <a:off x="6263640" y="233172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16" name="Text 14">
            <a:extLst xmlns:a="http://schemas.openxmlformats.org/drawingml/2006/main">
              <a:ext uri="{FF2B5EF4-FFF2-40B4-BE49-F238E27FC236}">
                <a16:creationId xmlns:a16="http://schemas.microsoft.com/office/drawing/2014/main" id="{CBDDB0C5-E200-4FD2-BF26-DCFA586562FC}"/>
              </a:ext>
            </a:extLst>
          </p:cNvPr>
          <p:cNvSpPr>
            <a:spLocks xmlns:a="http://schemas.openxmlformats.org/drawingml/2006/main" noGrp="1"/>
          </p:cNvSpPr>
          <p:nvPr/>
        </p:nvSpPr>
        <p:spPr>
          <a:xfrm xmlns:a="http://schemas.openxmlformats.org/drawingml/2006/main">
            <a:off x="6263640" y="23317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3</a:t>
            </a:r>
            <a:endParaRPr sz="1500"/>
          </a:p>
        </p:txBody>
      </p:sp>
      <p:sp>
        <p:nvSpPr>
          <p:cNvPr id="17" name="Text 15">
            <a:extLst xmlns:a="http://schemas.openxmlformats.org/drawingml/2006/main">
              <a:ext uri="{FF2B5EF4-FFF2-40B4-BE49-F238E27FC236}">
                <a16:creationId xmlns:a16="http://schemas.microsoft.com/office/drawing/2014/main" id="{9FB88F2F-C59E-48C2-B153-05A424950013}"/>
              </a:ext>
            </a:extLst>
          </p:cNvPr>
          <p:cNvSpPr>
            <a:spLocks xmlns:a="http://schemas.openxmlformats.org/drawingml/2006/main" noGrp="1"/>
          </p:cNvSpPr>
          <p:nvPr/>
        </p:nvSpPr>
        <p:spPr>
          <a:xfrm xmlns:a="http://schemas.openxmlformats.org/drawingml/2006/main">
            <a:off x="6263640" y="2926080"/>
            <a:ext cx="210312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chemeClr val="tx1"/>
                </a:solidFill>
              </a:rPr>
              <a:t>Explain the mistakes</a:t>
            </a:r>
            <a:endParaRPr sz="1600"/>
          </a:p>
        </p:txBody>
      </p:sp>
      <p:sp>
        <p:nvSpPr>
          <p:cNvPr id="18" name="Text 16">
            <a:extLst xmlns:a="http://schemas.openxmlformats.org/drawingml/2006/main">
              <a:ext uri="{FF2B5EF4-FFF2-40B4-BE49-F238E27FC236}">
                <a16:creationId xmlns:a16="http://schemas.microsoft.com/office/drawing/2014/main" id="{CD9BC281-A85B-469C-91DC-AF4E36FAD677}"/>
              </a:ext>
            </a:extLst>
          </p:cNvPr>
          <p:cNvSpPr>
            <a:spLocks xmlns:a="http://schemas.openxmlformats.org/drawingml/2006/main" noGrp="1"/>
          </p:cNvSpPr>
          <p:nvPr/>
        </p:nvSpPr>
        <p:spPr>
          <a:xfrm xmlns:a="http://schemas.openxmlformats.org/drawingml/2006/main">
            <a:off x="6263640" y="3566160"/>
            <a:ext cx="21031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Find out which clothes get confused, especially shirts, T-shirts and pullovers.</a:t>
            </a:r>
            <a:endParaRPr sz="1200"/>
          </a:p>
        </p:txBody>
      </p:sp>
      <p:sp>
        <p:nvSpPr>
          <p:cNvPr id="25" name="Slide Number Placeholder 0">
            <a:extLst xmlns:a="http://schemas.openxmlformats.org/drawingml/2006/main">
              <a:ext uri="{FF2B5EF4-FFF2-40B4-BE49-F238E27FC236}">
                <a16:creationId xmlns:a16="http://schemas.microsoft.com/office/drawing/2014/main" id="{F9578D10-C26A-4A22-B896-86B657AE4E82}"/>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6"/>
                </a:solidFill>
              </a:defRPr>
            </a:lvl1pPr>
          </a:lstStyle>
          <a:p xmlns:a="http://schemas.openxmlformats.org/drawingml/2006/main">
            <a:pPr algn="l">
              <a:buNone/>
            </a:pPr>
            <a:fld id="{F7021451-1387-4CA6-816F-3879F97B5CBC}" type="slidenum">
              <a:rPr b="0"/>
              <a:t>2</a:t>
            </a:fld>
            <a:endParaRPr/>
          </a:p>
        </p:txBody>
      </p:sp>
    </p:spTree>
    <p:extLst>
      <p:ext uri="{BB962C8B-B14F-4D97-AF65-F5344CB8AC3E}">
        <p14:creationId xmlns:p14="http://schemas.microsoft.com/office/powerpoint/2010/main" val="122400813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09ECB72-1878-4F15-9E3B-A0D568981D15}"/>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400" b="1">
                <a:solidFill>
                  <a:schemeClr val="tx1"/>
                </a:solidFill>
              </a:rPr>
              <a:t>What made it hard</a:t>
            </a:r>
            <a:endParaRPr sz="3400"/>
          </a:p>
        </p:txBody>
      </p:sp>
      <p:sp>
        <p:nvSpPr>
          <p:cNvPr id="3" name="Challenge Tiny pictures">
            <a:extLst xmlns:a="http://schemas.openxmlformats.org/drawingml/2006/main">
              <a:ext uri="{FF2B5EF4-FFF2-40B4-BE49-F238E27FC236}">
                <a16:creationId xmlns:a16="http://schemas.microsoft.com/office/drawing/2014/main" id="{26AA7C62-C234-4B43-A498-6CBF4C084A30}"/>
              </a:ext>
            </a:extLst>
          </p:cNvPr>
          <p:cNvSpPr>
            <a:spLocks xmlns:a="http://schemas.openxmlformats.org/drawingml/2006/main" noGrp="1"/>
          </p:cNvSpPr>
          <p:nvPr/>
        </p:nvSpPr>
        <p:spPr>
          <a:xfrm xmlns:a="http://schemas.openxmlformats.org/drawingml/2006/main">
            <a:off x="548640" y="1188720"/>
            <a:ext cx="3931920" cy="1554480"/>
          </a:xfrm>
          <a:prstGeom xmlns:a="http://schemas.openxmlformats.org/drawingml/2006/main" prst="roundRect">
            <a:avLst>
              <a:gd name="adj" fmla="val 9412"/>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4" name="Text 2">
            <a:extLst xmlns:a="http://schemas.openxmlformats.org/drawingml/2006/main">
              <a:ext uri="{FF2B5EF4-FFF2-40B4-BE49-F238E27FC236}">
                <a16:creationId xmlns:a16="http://schemas.microsoft.com/office/drawing/2014/main" id="{CEF9F16B-F521-4E16-98AE-E3469E1F55F4}"/>
              </a:ext>
            </a:extLst>
          </p:cNvPr>
          <p:cNvSpPr>
            <a:spLocks xmlns:a="http://schemas.openxmlformats.org/drawingml/2006/main" noGrp="1"/>
          </p:cNvSpPr>
          <p:nvPr/>
        </p:nvSpPr>
        <p:spPr>
          <a:xfrm xmlns:a="http://schemas.openxmlformats.org/drawingml/2006/main">
            <a:off x="777240" y="1371600"/>
            <a:ext cx="15544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chemeClr val="tx2"/>
                </a:solidFill>
              </a:rPr>
              <a:t>28 × 28</a:t>
            </a:r>
            <a:endParaRPr sz="2400"/>
          </a:p>
        </p:txBody>
      </p:sp>
      <p:sp>
        <p:nvSpPr>
          <p:cNvPr id="5" name="Text 3">
            <a:extLst xmlns:a="http://schemas.openxmlformats.org/drawingml/2006/main">
              <a:ext uri="{FF2B5EF4-FFF2-40B4-BE49-F238E27FC236}">
                <a16:creationId xmlns:a16="http://schemas.microsoft.com/office/drawing/2014/main" id="{912252BE-EA50-4B4B-BF9A-AE823DE697B4}"/>
              </a:ext>
            </a:extLst>
          </p:cNvPr>
          <p:cNvSpPr>
            <a:spLocks xmlns:a="http://schemas.openxmlformats.org/drawingml/2006/main" noGrp="1"/>
          </p:cNvSpPr>
          <p:nvPr/>
        </p:nvSpPr>
        <p:spPr>
          <a:xfrm xmlns:a="http://schemas.openxmlformats.org/drawingml/2006/main">
            <a:off x="777240" y="1965960"/>
            <a:ext cx="15544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chemeClr val="tx1"/>
                </a:solidFill>
              </a:rPr>
              <a:t>Tiny pictures</a:t>
            </a:r>
            <a:endParaRPr sz="1400"/>
          </a:p>
        </p:txBody>
      </p:sp>
      <p:sp>
        <p:nvSpPr>
          <p:cNvPr id="6" name="Text 4">
            <a:extLst xmlns:a="http://schemas.openxmlformats.org/drawingml/2006/main">
              <a:ext uri="{FF2B5EF4-FFF2-40B4-BE49-F238E27FC236}">
                <a16:creationId xmlns:a16="http://schemas.microsoft.com/office/drawing/2014/main" id="{7B86AA37-88AE-4029-94FC-ED26917FE554}"/>
              </a:ext>
            </a:extLst>
          </p:cNvPr>
          <p:cNvSpPr>
            <a:spLocks xmlns:a="http://schemas.openxmlformats.org/drawingml/2006/main" noGrp="1"/>
          </p:cNvSpPr>
          <p:nvPr/>
        </p:nvSpPr>
        <p:spPr>
          <a:xfrm xmlns:a="http://schemas.openxmlformats.org/drawingml/2006/main">
            <a:off x="2377440" y="1371600"/>
            <a:ext cx="19202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Only 784 gray values per image. No color and very little fine detail to lean on.</a:t>
            </a:r>
            <a:endParaRPr sz="1200"/>
          </a:p>
        </p:txBody>
      </p:sp>
      <p:sp>
        <p:nvSpPr>
          <p:cNvPr id="7" name="Challenge Lookalike tops">
            <a:extLst xmlns:a="http://schemas.openxmlformats.org/drawingml/2006/main">
              <a:ext uri="{FF2B5EF4-FFF2-40B4-BE49-F238E27FC236}">
                <a16:creationId xmlns:a16="http://schemas.microsoft.com/office/drawing/2014/main" id="{A192A1D1-1874-4FBB-8579-0E523FB56886}"/>
              </a:ext>
            </a:extLst>
          </p:cNvPr>
          <p:cNvSpPr>
            <a:spLocks xmlns:a="http://schemas.openxmlformats.org/drawingml/2006/main" noGrp="1"/>
          </p:cNvSpPr>
          <p:nvPr/>
        </p:nvSpPr>
        <p:spPr>
          <a:xfrm xmlns:a="http://schemas.openxmlformats.org/drawingml/2006/main">
            <a:off x="4663440" y="1188720"/>
            <a:ext cx="3931920" cy="1554480"/>
          </a:xfrm>
          <a:prstGeom xmlns:a="http://schemas.openxmlformats.org/drawingml/2006/main" prst="roundRect">
            <a:avLst>
              <a:gd name="adj" fmla="val 9412"/>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8" name="Text 6">
            <a:extLst xmlns:a="http://schemas.openxmlformats.org/drawingml/2006/main">
              <a:ext uri="{FF2B5EF4-FFF2-40B4-BE49-F238E27FC236}">
                <a16:creationId xmlns:a16="http://schemas.microsoft.com/office/drawing/2014/main" id="{446C7BF1-A5DA-44A6-8841-840AF5BF4E75}"/>
              </a:ext>
            </a:extLst>
          </p:cNvPr>
          <p:cNvSpPr>
            <a:spLocks xmlns:a="http://schemas.openxmlformats.org/drawingml/2006/main" noGrp="1"/>
          </p:cNvSpPr>
          <p:nvPr/>
        </p:nvSpPr>
        <p:spPr>
          <a:xfrm xmlns:a="http://schemas.openxmlformats.org/drawingml/2006/main">
            <a:off x="4892040" y="1371600"/>
            <a:ext cx="15544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chemeClr val="accent1"/>
                </a:solidFill>
              </a:rPr>
              <a:t>59.2%</a:t>
            </a:r>
            <a:endParaRPr sz="2400"/>
          </a:p>
        </p:txBody>
      </p:sp>
      <p:sp>
        <p:nvSpPr>
          <p:cNvPr id="9" name="Text 7">
            <a:extLst xmlns:a="http://schemas.openxmlformats.org/drawingml/2006/main">
              <a:ext uri="{FF2B5EF4-FFF2-40B4-BE49-F238E27FC236}">
                <a16:creationId xmlns:a16="http://schemas.microsoft.com/office/drawing/2014/main" id="{C7A7568A-BF66-44A6-B495-BD9845C58986}"/>
              </a:ext>
            </a:extLst>
          </p:cNvPr>
          <p:cNvSpPr>
            <a:spLocks xmlns:a="http://schemas.openxmlformats.org/drawingml/2006/main" noGrp="1"/>
          </p:cNvSpPr>
          <p:nvPr/>
        </p:nvSpPr>
        <p:spPr>
          <a:xfrm xmlns:a="http://schemas.openxmlformats.org/drawingml/2006/main">
            <a:off x="4892040" y="1965960"/>
            <a:ext cx="15544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chemeClr val="tx1"/>
                </a:solidFill>
              </a:rPr>
              <a:t>Lookalike tops</a:t>
            </a:r>
            <a:endParaRPr sz="1400"/>
          </a:p>
        </p:txBody>
      </p:sp>
      <p:sp>
        <p:nvSpPr>
          <p:cNvPr id="10" name="Text 8">
            <a:extLst xmlns:a="http://schemas.openxmlformats.org/drawingml/2006/main">
              <a:ext uri="{FF2B5EF4-FFF2-40B4-BE49-F238E27FC236}">
                <a16:creationId xmlns:a16="http://schemas.microsoft.com/office/drawing/2014/main" id="{127B44FC-A817-4E52-92D5-5577A2AB7589}"/>
              </a:ext>
            </a:extLst>
          </p:cNvPr>
          <p:cNvSpPr>
            <a:spLocks xmlns:a="http://schemas.openxmlformats.org/drawingml/2006/main" noGrp="1"/>
          </p:cNvSpPr>
          <p:nvPr/>
        </p:nvSpPr>
        <p:spPr>
          <a:xfrm xmlns:a="http://schemas.openxmlformats.org/drawingml/2006/main">
            <a:off x="6492240" y="1371600"/>
            <a:ext cx="19202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Shirts get mixed up with T-shirts, pullovers and coats. They have the lowest recall of all ten.</a:t>
            </a:r>
            <a:endParaRPr sz="1200"/>
          </a:p>
        </p:txBody>
      </p:sp>
      <p:sp>
        <p:nvSpPr>
          <p:cNvPr id="11" name="Challenge Honest testing">
            <a:extLst xmlns:a="http://schemas.openxmlformats.org/drawingml/2006/main">
              <a:ext uri="{FF2B5EF4-FFF2-40B4-BE49-F238E27FC236}">
                <a16:creationId xmlns:a16="http://schemas.microsoft.com/office/drawing/2014/main" id="{FE3CA111-0773-45AB-BFBB-CCADE685E095}"/>
              </a:ext>
            </a:extLst>
          </p:cNvPr>
          <p:cNvSpPr>
            <a:spLocks xmlns:a="http://schemas.openxmlformats.org/drawingml/2006/main" noGrp="1"/>
          </p:cNvSpPr>
          <p:nvPr/>
        </p:nvSpPr>
        <p:spPr>
          <a:xfrm xmlns:a="http://schemas.openxmlformats.org/drawingml/2006/main">
            <a:off x="548640" y="2926080"/>
            <a:ext cx="3931920" cy="1554480"/>
          </a:xfrm>
          <a:prstGeom xmlns:a="http://schemas.openxmlformats.org/drawingml/2006/main" prst="roundRect">
            <a:avLst>
              <a:gd name="adj" fmla="val 9412"/>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2" name="Text 10">
            <a:extLst xmlns:a="http://schemas.openxmlformats.org/drawingml/2006/main">
              <a:ext uri="{FF2B5EF4-FFF2-40B4-BE49-F238E27FC236}">
                <a16:creationId xmlns:a16="http://schemas.microsoft.com/office/drawing/2014/main" id="{B020B150-B768-4A49-AB45-E8BC96DBC6AC}"/>
              </a:ext>
            </a:extLst>
          </p:cNvPr>
          <p:cNvSpPr>
            <a:spLocks xmlns:a="http://schemas.openxmlformats.org/drawingml/2006/main" noGrp="1"/>
          </p:cNvSpPr>
          <p:nvPr/>
        </p:nvSpPr>
        <p:spPr>
          <a:xfrm xmlns:a="http://schemas.openxmlformats.org/drawingml/2006/main">
            <a:off x="777240" y="3108960"/>
            <a:ext cx="15544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chemeClr val="tx2"/>
                </a:solidFill>
              </a:rPr>
              <a:t>Fixed</a:t>
            </a:r>
            <a:endParaRPr sz="2400"/>
          </a:p>
        </p:txBody>
      </p:sp>
      <p:sp>
        <p:nvSpPr>
          <p:cNvPr id="13" name="Text 11">
            <a:extLst xmlns:a="http://schemas.openxmlformats.org/drawingml/2006/main">
              <a:ext uri="{FF2B5EF4-FFF2-40B4-BE49-F238E27FC236}">
                <a16:creationId xmlns:a16="http://schemas.microsoft.com/office/drawing/2014/main" id="{0E3D55CF-5757-48ED-A73A-D223FFF03684}"/>
              </a:ext>
            </a:extLst>
          </p:cNvPr>
          <p:cNvSpPr>
            <a:spLocks xmlns:a="http://schemas.openxmlformats.org/drawingml/2006/main" noGrp="1"/>
          </p:cNvSpPr>
          <p:nvPr/>
        </p:nvSpPr>
        <p:spPr>
          <a:xfrm xmlns:a="http://schemas.openxmlformats.org/drawingml/2006/main">
            <a:off x="777240" y="3703320"/>
            <a:ext cx="15544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chemeClr val="tx1"/>
                </a:solidFill>
              </a:rPr>
              <a:t>Honest testing</a:t>
            </a:r>
            <a:endParaRPr sz="1400"/>
          </a:p>
        </p:txBody>
      </p:sp>
      <p:sp>
        <p:nvSpPr>
          <p:cNvPr id="14" name="Text 12">
            <a:extLst xmlns:a="http://schemas.openxmlformats.org/drawingml/2006/main">
              <a:ext uri="{FF2B5EF4-FFF2-40B4-BE49-F238E27FC236}">
                <a16:creationId xmlns:a16="http://schemas.microsoft.com/office/drawing/2014/main" id="{B3F1FFB4-236E-483D-827D-4CEF7C3E7929}"/>
              </a:ext>
            </a:extLst>
          </p:cNvPr>
          <p:cNvSpPr>
            <a:spLocks xmlns:a="http://schemas.openxmlformats.org/drawingml/2006/main" noGrp="1"/>
          </p:cNvSpPr>
          <p:nvPr/>
        </p:nvSpPr>
        <p:spPr>
          <a:xfrm xmlns:a="http://schemas.openxmlformats.org/drawingml/2006/main">
            <a:off x="2377440" y="3108960"/>
            <a:ext cx="19202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Settings come from 12,000 validation images. Freeze choices before the final 10,000-image test.</a:t>
            </a:r>
            <a:endParaRPr sz="1200"/>
          </a:p>
        </p:txBody>
      </p:sp>
      <p:sp>
        <p:nvSpPr>
          <p:cNvPr id="15" name="Challenge A slow linear SVM">
            <a:extLst xmlns:a="http://schemas.openxmlformats.org/drawingml/2006/main">
              <a:ext uri="{FF2B5EF4-FFF2-40B4-BE49-F238E27FC236}">
                <a16:creationId xmlns:a16="http://schemas.microsoft.com/office/drawing/2014/main" id="{90A7AA85-CA41-45AA-A33E-C935AF85BB02}"/>
              </a:ext>
            </a:extLst>
          </p:cNvPr>
          <p:cNvSpPr>
            <a:spLocks xmlns:a="http://schemas.openxmlformats.org/drawingml/2006/main" noGrp="1"/>
          </p:cNvSpPr>
          <p:nvPr/>
        </p:nvSpPr>
        <p:spPr>
          <a:xfrm xmlns:a="http://schemas.openxmlformats.org/drawingml/2006/main">
            <a:off x="4663440" y="2926080"/>
            <a:ext cx="3931920" cy="1554480"/>
          </a:xfrm>
          <a:prstGeom xmlns:a="http://schemas.openxmlformats.org/drawingml/2006/main" prst="roundRect">
            <a:avLst>
              <a:gd name="adj" fmla="val 9412"/>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6" name="Text 14">
            <a:extLst xmlns:a="http://schemas.openxmlformats.org/drawingml/2006/main">
              <a:ext uri="{FF2B5EF4-FFF2-40B4-BE49-F238E27FC236}">
                <a16:creationId xmlns:a16="http://schemas.microsoft.com/office/drawing/2014/main" id="{2049D6F7-05FD-49FA-9BA4-49B129B1FFB7}"/>
              </a:ext>
            </a:extLst>
          </p:cNvPr>
          <p:cNvSpPr>
            <a:spLocks xmlns:a="http://schemas.openxmlformats.org/drawingml/2006/main" noGrp="1"/>
          </p:cNvSpPr>
          <p:nvPr/>
        </p:nvSpPr>
        <p:spPr>
          <a:xfrm xmlns:a="http://schemas.openxmlformats.org/drawingml/2006/main">
            <a:off x="4892040" y="3108960"/>
            <a:ext cx="15544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chemeClr val="tx2"/>
                </a:solidFill>
              </a:rPr>
              <a:t>299.5 s</a:t>
            </a:r>
            <a:endParaRPr sz="2400"/>
          </a:p>
        </p:txBody>
      </p:sp>
      <p:sp>
        <p:nvSpPr>
          <p:cNvPr id="17" name="Text 15">
            <a:extLst xmlns:a="http://schemas.openxmlformats.org/drawingml/2006/main">
              <a:ext uri="{FF2B5EF4-FFF2-40B4-BE49-F238E27FC236}">
                <a16:creationId xmlns:a16="http://schemas.microsoft.com/office/drawing/2014/main" id="{04EECACB-CA07-4D17-BF35-84E4F3333595}"/>
              </a:ext>
            </a:extLst>
          </p:cNvPr>
          <p:cNvSpPr>
            <a:spLocks xmlns:a="http://schemas.openxmlformats.org/drawingml/2006/main" noGrp="1"/>
          </p:cNvSpPr>
          <p:nvPr/>
        </p:nvSpPr>
        <p:spPr>
          <a:xfrm xmlns:a="http://schemas.openxmlformats.org/drawingml/2006/main">
            <a:off x="4892040" y="3703320"/>
            <a:ext cx="15544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chemeClr val="tx1"/>
                </a:solidFill>
              </a:rPr>
              <a:t>A slow linear SVM</a:t>
            </a:r>
            <a:endParaRPr sz="1400"/>
          </a:p>
        </p:txBody>
      </p:sp>
      <p:sp>
        <p:nvSpPr>
          <p:cNvPr id="18" name="Text 16">
            <a:extLst xmlns:a="http://schemas.openxmlformats.org/drawingml/2006/main">
              <a:ext uri="{FF2B5EF4-FFF2-40B4-BE49-F238E27FC236}">
                <a16:creationId xmlns:a16="http://schemas.microsoft.com/office/drawing/2014/main" id="{3FE1D831-F0D6-4480-8121-BB9AB7CE36E1}"/>
              </a:ext>
            </a:extLst>
          </p:cNvPr>
          <p:cNvSpPr>
            <a:spLocks xmlns:a="http://schemas.openxmlformats.org/drawingml/2006/main" noGrp="1"/>
          </p:cNvSpPr>
          <p:nvPr/>
        </p:nvSpPr>
        <p:spPr>
          <a:xfrm xmlns:a="http://schemas.openxmlformats.org/drawingml/2006/main">
            <a:off x="6492240" y="3108960"/>
            <a:ext cx="19202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An early fit took five minutes. We adjusted scaling and stopping settings before testing.</a:t>
            </a:r>
            <a:endParaRPr sz="1200"/>
          </a:p>
        </p:txBody>
      </p:sp>
      <p:sp>
        <p:nvSpPr>
          <p:cNvPr id="25" name="Slide Number Placeholder 0">
            <a:extLst xmlns:a="http://schemas.openxmlformats.org/drawingml/2006/main">
              <a:ext uri="{FF2B5EF4-FFF2-40B4-BE49-F238E27FC236}">
                <a16:creationId xmlns:a16="http://schemas.microsoft.com/office/drawing/2014/main" id="{19797493-D05F-45AD-880C-8440E7D0FEA0}"/>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6"/>
                </a:solidFill>
              </a:defRPr>
            </a:lvl1pPr>
          </a:lstStyle>
          <a:p xmlns:a="http://schemas.openxmlformats.org/drawingml/2006/main">
            <a:pPr algn="l">
              <a:buNone/>
            </a:pPr>
            <a:fld id="{F7021451-1387-4CA6-816F-3879F97B5CBC}" type="slidenum">
              <a:rPr b="0"/>
              <a:t>3</a:t>
            </a:fld>
            <a:endParaRPr/>
          </a:p>
        </p:txBody>
      </p:sp>
    </p:spTree>
    <p:extLst>
      <p:ext uri="{BB962C8B-B14F-4D97-AF65-F5344CB8AC3E}">
        <p14:creationId xmlns:p14="http://schemas.microsoft.com/office/powerpoint/2010/main" val="190138699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B2A89-E8AC-4951-9F06-B45B4F568333}"/>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400" b="1">
                <a:solidFill>
                  <a:schemeClr val="tx1"/>
                </a:solidFill>
              </a:rPr>
              <a:t>How we tackled it</a:t>
            </a:r>
            <a:endParaRPr sz="3400"/>
          </a:p>
        </p:txBody>
      </p:sp>
      <p:sp>
        <p:nvSpPr>
          <p:cNvPr id="3" name="Step Fashion-MNIST">
            <a:extLst xmlns:a="http://schemas.openxmlformats.org/drawingml/2006/main">
              <a:ext uri="{FF2B5EF4-FFF2-40B4-BE49-F238E27FC236}">
                <a16:creationId xmlns:a16="http://schemas.microsoft.com/office/drawing/2014/main" id="{E6C10521-C7DD-4546-AED2-578FDFC68197}"/>
              </a:ext>
            </a:extLst>
          </p:cNvPr>
          <p:cNvSpPr>
            <a:spLocks xmlns:a="http://schemas.openxmlformats.org/drawingml/2006/main" noGrp="1"/>
          </p:cNvSpPr>
          <p:nvPr/>
        </p:nvSpPr>
        <p:spPr>
          <a:xfrm xmlns:a="http://schemas.openxmlformats.org/drawingml/2006/main">
            <a:off x="548640" y="1188720"/>
            <a:ext cx="1463040" cy="1051560"/>
          </a:xfrm>
          <a:prstGeom xmlns:a="http://schemas.openxmlformats.org/drawingml/2006/main" prst="roundRect">
            <a:avLst>
              <a:gd name="adj" fmla="val 13913"/>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4" name="Number 1">
            <a:extLst xmlns:a="http://schemas.openxmlformats.org/drawingml/2006/main">
              <a:ext uri="{FF2B5EF4-FFF2-40B4-BE49-F238E27FC236}">
                <a16:creationId xmlns:a16="http://schemas.microsoft.com/office/drawing/2014/main" id="{4432BBC1-C6BE-4EC2-A1BF-B8BC9D555377}"/>
              </a:ext>
            </a:extLst>
          </p:cNvPr>
          <p:cNvSpPr>
            <a:spLocks xmlns:a="http://schemas.openxmlformats.org/drawingml/2006/main" noGrp="1"/>
          </p:cNvSpPr>
          <p:nvPr/>
        </p:nvSpPr>
        <p:spPr>
          <a:xfrm xmlns:a="http://schemas.openxmlformats.org/drawingml/2006/main">
            <a:off x="1069848" y="128016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5" name="Text 3">
            <a:extLst xmlns:a="http://schemas.openxmlformats.org/drawingml/2006/main">
              <a:ext uri="{FF2B5EF4-FFF2-40B4-BE49-F238E27FC236}">
                <a16:creationId xmlns:a16="http://schemas.microsoft.com/office/drawing/2014/main" id="{80C37F18-2FDA-424D-918C-0E7B7FA3519E}"/>
              </a:ext>
            </a:extLst>
          </p:cNvPr>
          <p:cNvSpPr>
            <a:spLocks xmlns:a="http://schemas.openxmlformats.org/drawingml/2006/main" noGrp="1"/>
          </p:cNvSpPr>
          <p:nvPr/>
        </p:nvSpPr>
        <p:spPr>
          <a:xfrm xmlns:a="http://schemas.openxmlformats.org/drawingml/2006/main">
            <a:off x="1069848" y="128016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1</a:t>
            </a:r>
            <a:endParaRPr sz="1500"/>
          </a:p>
        </p:txBody>
      </p:sp>
      <p:sp>
        <p:nvSpPr>
          <p:cNvPr id="6" name="Text 4">
            <a:extLst xmlns:a="http://schemas.openxmlformats.org/drawingml/2006/main">
              <a:ext uri="{FF2B5EF4-FFF2-40B4-BE49-F238E27FC236}">
                <a16:creationId xmlns:a16="http://schemas.microsoft.com/office/drawing/2014/main" id="{712D5003-901D-4A7D-9F34-389B3421F80A}"/>
              </a:ext>
            </a:extLst>
          </p:cNvPr>
          <p:cNvSpPr>
            <a:spLocks xmlns:a="http://schemas.openxmlformats.org/drawingml/2006/main" noGrp="1"/>
          </p:cNvSpPr>
          <p:nvPr/>
        </p:nvSpPr>
        <p:spPr>
          <a:xfrm xmlns:a="http://schemas.openxmlformats.org/drawingml/2006/main">
            <a:off x="640080" y="1783080"/>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chemeClr val="tx1"/>
                </a:solidFill>
              </a:rPr>
              <a:t>Fashion-MNIST</a:t>
            </a:r>
            <a:endParaRPr sz="1300"/>
          </a:p>
        </p:txBody>
      </p:sp>
      <p:sp>
        <p:nvSpPr>
          <p:cNvPr id="7" name="Text 5">
            <a:extLst xmlns:a="http://schemas.openxmlformats.org/drawingml/2006/main">
              <a:ext uri="{FF2B5EF4-FFF2-40B4-BE49-F238E27FC236}">
                <a16:creationId xmlns:a16="http://schemas.microsoft.com/office/drawing/2014/main" id="{E9A0872E-B034-45A6-81E1-B8DEA4D38A94}"/>
              </a:ext>
            </a:extLst>
          </p:cNvPr>
          <p:cNvSpPr>
            <a:spLocks xmlns:a="http://schemas.openxmlformats.org/drawingml/2006/main" noGrp="1"/>
          </p:cNvSpPr>
          <p:nvPr/>
        </p:nvSpPr>
        <p:spPr>
          <a:xfrm xmlns:a="http://schemas.openxmlformats.org/drawingml/2006/main">
            <a:off x="2011680" y="1508760"/>
            <a:ext cx="182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a:solidFill>
                  <a:schemeClr val="accent4"/>
                </a:solidFill>
              </a:rPr>
              <a:t>→</a:t>
            </a:r>
            <a:endParaRPr sz="1400"/>
          </a:p>
        </p:txBody>
      </p:sp>
      <p:sp>
        <p:nvSpPr>
          <p:cNvPr id="8" name="Step Shared split">
            <a:extLst xmlns:a="http://schemas.openxmlformats.org/drawingml/2006/main">
              <a:ext uri="{FF2B5EF4-FFF2-40B4-BE49-F238E27FC236}">
                <a16:creationId xmlns:a16="http://schemas.microsoft.com/office/drawing/2014/main" id="{1EA6CEE1-98E2-47BE-91F6-F138B36DA5E6}"/>
              </a:ext>
            </a:extLst>
          </p:cNvPr>
          <p:cNvSpPr>
            <a:spLocks xmlns:a="http://schemas.openxmlformats.org/drawingml/2006/main" noGrp="1"/>
          </p:cNvSpPr>
          <p:nvPr/>
        </p:nvSpPr>
        <p:spPr>
          <a:xfrm xmlns:a="http://schemas.openxmlformats.org/drawingml/2006/main">
            <a:off x="2194560" y="1188720"/>
            <a:ext cx="1463040" cy="1051560"/>
          </a:xfrm>
          <a:prstGeom xmlns:a="http://schemas.openxmlformats.org/drawingml/2006/main" prst="roundRect">
            <a:avLst>
              <a:gd name="adj" fmla="val 13913"/>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9" name="Number 2">
            <a:extLst xmlns:a="http://schemas.openxmlformats.org/drawingml/2006/main">
              <a:ext uri="{FF2B5EF4-FFF2-40B4-BE49-F238E27FC236}">
                <a16:creationId xmlns:a16="http://schemas.microsoft.com/office/drawing/2014/main" id="{F331C9D6-759E-464A-A053-619C7FB36C11}"/>
              </a:ext>
            </a:extLst>
          </p:cNvPr>
          <p:cNvSpPr>
            <a:spLocks xmlns:a="http://schemas.openxmlformats.org/drawingml/2006/main" noGrp="1"/>
          </p:cNvSpPr>
          <p:nvPr/>
        </p:nvSpPr>
        <p:spPr>
          <a:xfrm xmlns:a="http://schemas.openxmlformats.org/drawingml/2006/main">
            <a:off x="2715768" y="128016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10" name="Text 8">
            <a:extLst xmlns:a="http://schemas.openxmlformats.org/drawingml/2006/main">
              <a:ext uri="{FF2B5EF4-FFF2-40B4-BE49-F238E27FC236}">
                <a16:creationId xmlns:a16="http://schemas.microsoft.com/office/drawing/2014/main" id="{63E56C91-D238-4221-BF01-968DDCBF54C0}"/>
              </a:ext>
            </a:extLst>
          </p:cNvPr>
          <p:cNvSpPr>
            <a:spLocks xmlns:a="http://schemas.openxmlformats.org/drawingml/2006/main" noGrp="1"/>
          </p:cNvSpPr>
          <p:nvPr/>
        </p:nvSpPr>
        <p:spPr>
          <a:xfrm xmlns:a="http://schemas.openxmlformats.org/drawingml/2006/main">
            <a:off x="2715768" y="128016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2</a:t>
            </a:r>
            <a:endParaRPr sz="1500"/>
          </a:p>
        </p:txBody>
      </p:sp>
      <p:sp>
        <p:nvSpPr>
          <p:cNvPr id="11" name="Text 9">
            <a:extLst xmlns:a="http://schemas.openxmlformats.org/drawingml/2006/main">
              <a:ext uri="{FF2B5EF4-FFF2-40B4-BE49-F238E27FC236}">
                <a16:creationId xmlns:a16="http://schemas.microsoft.com/office/drawing/2014/main" id="{B8A3119B-D134-414A-B659-91852ED33554}"/>
              </a:ext>
            </a:extLst>
          </p:cNvPr>
          <p:cNvSpPr>
            <a:spLocks xmlns:a="http://schemas.openxmlformats.org/drawingml/2006/main" noGrp="1"/>
          </p:cNvSpPr>
          <p:nvPr/>
        </p:nvSpPr>
        <p:spPr>
          <a:xfrm xmlns:a="http://schemas.openxmlformats.org/drawingml/2006/main">
            <a:off x="2286000" y="1783080"/>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chemeClr val="tx1"/>
                </a:solidFill>
              </a:rPr>
              <a:t>Shared split</a:t>
            </a:r>
            <a:endParaRPr sz="1300"/>
          </a:p>
        </p:txBody>
      </p:sp>
      <p:sp>
        <p:nvSpPr>
          <p:cNvPr id="12" name="Text 10">
            <a:extLst xmlns:a="http://schemas.openxmlformats.org/drawingml/2006/main">
              <a:ext uri="{FF2B5EF4-FFF2-40B4-BE49-F238E27FC236}">
                <a16:creationId xmlns:a16="http://schemas.microsoft.com/office/drawing/2014/main" id="{0140E865-F69D-46E3-AC42-76C201E770D8}"/>
              </a:ext>
            </a:extLst>
          </p:cNvPr>
          <p:cNvSpPr>
            <a:spLocks xmlns:a="http://schemas.openxmlformats.org/drawingml/2006/main" noGrp="1"/>
          </p:cNvSpPr>
          <p:nvPr/>
        </p:nvSpPr>
        <p:spPr>
          <a:xfrm xmlns:a="http://schemas.openxmlformats.org/drawingml/2006/main">
            <a:off x="3657600" y="1508760"/>
            <a:ext cx="182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a:solidFill>
                  <a:schemeClr val="accent4"/>
                </a:solidFill>
              </a:rPr>
              <a:t>→</a:t>
            </a:r>
            <a:endParaRPr sz="1400"/>
          </a:p>
        </p:txBody>
      </p:sp>
      <p:sp>
        <p:nvSpPr>
          <p:cNvPr id="13" name="Step Pixels or HOG">
            <a:extLst xmlns:a="http://schemas.openxmlformats.org/drawingml/2006/main">
              <a:ext uri="{FF2B5EF4-FFF2-40B4-BE49-F238E27FC236}">
                <a16:creationId xmlns:a16="http://schemas.microsoft.com/office/drawing/2014/main" id="{8A4B728D-ADC7-4644-86EC-F04691E587B9}"/>
              </a:ext>
            </a:extLst>
          </p:cNvPr>
          <p:cNvSpPr>
            <a:spLocks xmlns:a="http://schemas.openxmlformats.org/drawingml/2006/main" noGrp="1"/>
          </p:cNvSpPr>
          <p:nvPr/>
        </p:nvSpPr>
        <p:spPr>
          <a:xfrm xmlns:a="http://schemas.openxmlformats.org/drawingml/2006/main">
            <a:off x="3840480" y="1188720"/>
            <a:ext cx="1463040" cy="1051560"/>
          </a:xfrm>
          <a:prstGeom xmlns:a="http://schemas.openxmlformats.org/drawingml/2006/main" prst="roundRect">
            <a:avLst>
              <a:gd name="adj" fmla="val 13913"/>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4" name="Number 3">
            <a:extLst xmlns:a="http://schemas.openxmlformats.org/drawingml/2006/main">
              <a:ext uri="{FF2B5EF4-FFF2-40B4-BE49-F238E27FC236}">
                <a16:creationId xmlns:a16="http://schemas.microsoft.com/office/drawing/2014/main" id="{EEC3ED7F-5EE3-4C8A-9059-D94C29972619}"/>
              </a:ext>
            </a:extLst>
          </p:cNvPr>
          <p:cNvSpPr>
            <a:spLocks xmlns:a="http://schemas.openxmlformats.org/drawingml/2006/main" noGrp="1"/>
          </p:cNvSpPr>
          <p:nvPr/>
        </p:nvSpPr>
        <p:spPr>
          <a:xfrm xmlns:a="http://schemas.openxmlformats.org/drawingml/2006/main">
            <a:off x="4361688" y="128016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15" name="Text 13">
            <a:extLst xmlns:a="http://schemas.openxmlformats.org/drawingml/2006/main">
              <a:ext uri="{FF2B5EF4-FFF2-40B4-BE49-F238E27FC236}">
                <a16:creationId xmlns:a16="http://schemas.microsoft.com/office/drawing/2014/main" id="{60C1EBD6-B2EC-4931-A026-CB7044253B51}"/>
              </a:ext>
            </a:extLst>
          </p:cNvPr>
          <p:cNvSpPr>
            <a:spLocks xmlns:a="http://schemas.openxmlformats.org/drawingml/2006/main" noGrp="1"/>
          </p:cNvSpPr>
          <p:nvPr/>
        </p:nvSpPr>
        <p:spPr>
          <a:xfrm xmlns:a="http://schemas.openxmlformats.org/drawingml/2006/main">
            <a:off x="4361688" y="128016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3</a:t>
            </a:r>
            <a:endParaRPr sz="1500"/>
          </a:p>
        </p:txBody>
      </p:sp>
      <p:sp>
        <p:nvSpPr>
          <p:cNvPr id="16" name="Text 14">
            <a:extLst xmlns:a="http://schemas.openxmlformats.org/drawingml/2006/main">
              <a:ext uri="{FF2B5EF4-FFF2-40B4-BE49-F238E27FC236}">
                <a16:creationId xmlns:a16="http://schemas.microsoft.com/office/drawing/2014/main" id="{130427AA-0317-4880-AF24-F0BB8053FEA2}"/>
              </a:ext>
            </a:extLst>
          </p:cNvPr>
          <p:cNvSpPr>
            <a:spLocks xmlns:a="http://schemas.openxmlformats.org/drawingml/2006/main" noGrp="1"/>
          </p:cNvSpPr>
          <p:nvPr/>
        </p:nvSpPr>
        <p:spPr>
          <a:xfrm xmlns:a="http://schemas.openxmlformats.org/drawingml/2006/main">
            <a:off x="3931920" y="1783080"/>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chemeClr val="tx1"/>
                </a:solidFill>
              </a:rPr>
              <a:t>Pixels or HOG</a:t>
            </a:r>
            <a:endParaRPr sz="1300"/>
          </a:p>
        </p:txBody>
      </p:sp>
      <p:sp>
        <p:nvSpPr>
          <p:cNvPr id="17" name="Text 15">
            <a:extLst xmlns:a="http://schemas.openxmlformats.org/drawingml/2006/main">
              <a:ext uri="{FF2B5EF4-FFF2-40B4-BE49-F238E27FC236}">
                <a16:creationId xmlns:a16="http://schemas.microsoft.com/office/drawing/2014/main" id="{DC2ABD30-2F08-4726-8DBE-6C2E0F722F96}"/>
              </a:ext>
            </a:extLst>
          </p:cNvPr>
          <p:cNvSpPr>
            <a:spLocks xmlns:a="http://schemas.openxmlformats.org/drawingml/2006/main" noGrp="1"/>
          </p:cNvSpPr>
          <p:nvPr/>
        </p:nvSpPr>
        <p:spPr>
          <a:xfrm xmlns:a="http://schemas.openxmlformats.org/drawingml/2006/main">
            <a:off x="5303520" y="1508760"/>
            <a:ext cx="182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a:solidFill>
                  <a:schemeClr val="accent4"/>
                </a:solidFill>
              </a:rPr>
              <a:t>→</a:t>
            </a:r>
            <a:endParaRPr sz="1400"/>
          </a:p>
        </p:txBody>
      </p:sp>
      <p:sp>
        <p:nvSpPr>
          <p:cNvPr id="18" name="Step 4 classifiers">
            <a:extLst xmlns:a="http://schemas.openxmlformats.org/drawingml/2006/main">
              <a:ext uri="{FF2B5EF4-FFF2-40B4-BE49-F238E27FC236}">
                <a16:creationId xmlns:a16="http://schemas.microsoft.com/office/drawing/2014/main" id="{2F4F3A0A-01A3-440E-8EC4-96C35C2F0CE8}"/>
              </a:ext>
            </a:extLst>
          </p:cNvPr>
          <p:cNvSpPr>
            <a:spLocks xmlns:a="http://schemas.openxmlformats.org/drawingml/2006/main" noGrp="1"/>
          </p:cNvSpPr>
          <p:nvPr/>
        </p:nvSpPr>
        <p:spPr>
          <a:xfrm xmlns:a="http://schemas.openxmlformats.org/drawingml/2006/main">
            <a:off x="5486400" y="1188720"/>
            <a:ext cx="1463040" cy="1051560"/>
          </a:xfrm>
          <a:prstGeom xmlns:a="http://schemas.openxmlformats.org/drawingml/2006/main" prst="roundRect">
            <a:avLst>
              <a:gd name="adj" fmla="val 13913"/>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9" name="Number 4">
            <a:extLst xmlns:a="http://schemas.openxmlformats.org/drawingml/2006/main">
              <a:ext uri="{FF2B5EF4-FFF2-40B4-BE49-F238E27FC236}">
                <a16:creationId xmlns:a16="http://schemas.microsoft.com/office/drawing/2014/main" id="{33497D56-12AD-4C81-BFC4-23668C464193}"/>
              </a:ext>
            </a:extLst>
          </p:cNvPr>
          <p:cNvSpPr>
            <a:spLocks xmlns:a="http://schemas.openxmlformats.org/drawingml/2006/main" noGrp="1"/>
          </p:cNvSpPr>
          <p:nvPr/>
        </p:nvSpPr>
        <p:spPr>
          <a:xfrm xmlns:a="http://schemas.openxmlformats.org/drawingml/2006/main">
            <a:off x="6007608" y="128016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20" name="Text 18">
            <a:extLst xmlns:a="http://schemas.openxmlformats.org/drawingml/2006/main">
              <a:ext uri="{FF2B5EF4-FFF2-40B4-BE49-F238E27FC236}">
                <a16:creationId xmlns:a16="http://schemas.microsoft.com/office/drawing/2014/main" id="{62476678-018C-4EF9-AE31-AA3CD8637E5C}"/>
              </a:ext>
            </a:extLst>
          </p:cNvPr>
          <p:cNvSpPr>
            <a:spLocks xmlns:a="http://schemas.openxmlformats.org/drawingml/2006/main" noGrp="1"/>
          </p:cNvSpPr>
          <p:nvPr/>
        </p:nvSpPr>
        <p:spPr>
          <a:xfrm xmlns:a="http://schemas.openxmlformats.org/drawingml/2006/main">
            <a:off x="6007608" y="128016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4</a:t>
            </a:r>
            <a:endParaRPr sz="1500"/>
          </a:p>
        </p:txBody>
      </p:sp>
      <p:sp>
        <p:nvSpPr>
          <p:cNvPr id="21" name="Text 19">
            <a:extLst xmlns:a="http://schemas.openxmlformats.org/drawingml/2006/main">
              <a:ext uri="{FF2B5EF4-FFF2-40B4-BE49-F238E27FC236}">
                <a16:creationId xmlns:a16="http://schemas.microsoft.com/office/drawing/2014/main" id="{F5476081-CFF7-40D5-AE9E-95C0B416C776}"/>
              </a:ext>
            </a:extLst>
          </p:cNvPr>
          <p:cNvSpPr>
            <a:spLocks xmlns:a="http://schemas.openxmlformats.org/drawingml/2006/main" noGrp="1"/>
          </p:cNvSpPr>
          <p:nvPr/>
        </p:nvSpPr>
        <p:spPr>
          <a:xfrm xmlns:a="http://schemas.openxmlformats.org/drawingml/2006/main">
            <a:off x="5577840" y="1783080"/>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chemeClr val="tx1"/>
                </a:solidFill>
              </a:rPr>
              <a:t>4 classifiers</a:t>
            </a:r>
            <a:endParaRPr sz="1300"/>
          </a:p>
        </p:txBody>
      </p:sp>
      <p:sp>
        <p:nvSpPr>
          <p:cNvPr id="22" name="Text 20">
            <a:extLst xmlns:a="http://schemas.openxmlformats.org/drawingml/2006/main">
              <a:ext uri="{FF2B5EF4-FFF2-40B4-BE49-F238E27FC236}">
                <a16:creationId xmlns:a16="http://schemas.microsoft.com/office/drawing/2014/main" id="{6B730ABD-5155-4F42-84AB-815DE258C1B6}"/>
              </a:ext>
            </a:extLst>
          </p:cNvPr>
          <p:cNvSpPr>
            <a:spLocks xmlns:a="http://schemas.openxmlformats.org/drawingml/2006/main" noGrp="1"/>
          </p:cNvSpPr>
          <p:nvPr/>
        </p:nvSpPr>
        <p:spPr>
          <a:xfrm xmlns:a="http://schemas.openxmlformats.org/drawingml/2006/main">
            <a:off x="6949440" y="1508760"/>
            <a:ext cx="182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a:solidFill>
                  <a:schemeClr val="accent4"/>
                </a:solidFill>
              </a:rPr>
              <a:t>→</a:t>
            </a:r>
            <a:endParaRPr sz="1400"/>
          </a:p>
        </p:txBody>
      </p:sp>
      <p:sp>
        <p:nvSpPr>
          <p:cNvPr id="23" name="Step Pick on validation">
            <a:extLst xmlns:a="http://schemas.openxmlformats.org/drawingml/2006/main">
              <a:ext uri="{FF2B5EF4-FFF2-40B4-BE49-F238E27FC236}">
                <a16:creationId xmlns:a16="http://schemas.microsoft.com/office/drawing/2014/main" id="{BE7BDD29-1849-4A75-957E-1DCB4FF9D027}"/>
              </a:ext>
            </a:extLst>
          </p:cNvPr>
          <p:cNvSpPr>
            <a:spLocks xmlns:a="http://schemas.openxmlformats.org/drawingml/2006/main" noGrp="1"/>
          </p:cNvSpPr>
          <p:nvPr/>
        </p:nvSpPr>
        <p:spPr>
          <a:xfrm xmlns:a="http://schemas.openxmlformats.org/drawingml/2006/main">
            <a:off x="7132320" y="1188720"/>
            <a:ext cx="1463040" cy="1051560"/>
          </a:xfrm>
          <a:prstGeom xmlns:a="http://schemas.openxmlformats.org/drawingml/2006/main" prst="roundRect">
            <a:avLst>
              <a:gd name="adj" fmla="val 13913"/>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24" name="Number 5">
            <a:extLst xmlns:a="http://schemas.openxmlformats.org/drawingml/2006/main">
              <a:ext uri="{FF2B5EF4-FFF2-40B4-BE49-F238E27FC236}">
                <a16:creationId xmlns:a16="http://schemas.microsoft.com/office/drawing/2014/main" id="{32E03AB5-99CB-40AE-8CE8-400310EA57CB}"/>
              </a:ext>
            </a:extLst>
          </p:cNvPr>
          <p:cNvSpPr>
            <a:spLocks xmlns:a="http://schemas.openxmlformats.org/drawingml/2006/main" noGrp="1"/>
          </p:cNvSpPr>
          <p:nvPr/>
        </p:nvSpPr>
        <p:spPr>
          <a:xfrm xmlns:a="http://schemas.openxmlformats.org/drawingml/2006/main">
            <a:off x="7653528" y="1280160"/>
            <a:ext cx="420624" cy="420624"/>
          </a:xfrm>
          <a:prstGeom xmlns:a="http://schemas.openxmlformats.org/drawingml/2006/main" prst="ellipse">
            <a:avLst/>
          </a:prstGeom>
          <a:solidFill xmlns:a="http://schemas.openxmlformats.org/drawingml/2006/main">
            <a:schemeClr val="accent1"/>
          </a:solidFill>
          <a:ln xmlns:a="http://schemas.openxmlformats.org/drawingml/2006/main" w="12700">
            <a:solidFill>
              <a:schemeClr val="accent1"/>
            </a:solidFill>
            <a:prstDash val="solid"/>
          </a:ln>
        </p:spPr>
      </p:sp>
      <p:sp>
        <p:nvSpPr>
          <p:cNvPr id="25" name="Text 23">
            <a:extLst xmlns:a="http://schemas.openxmlformats.org/drawingml/2006/main">
              <a:ext uri="{FF2B5EF4-FFF2-40B4-BE49-F238E27FC236}">
                <a16:creationId xmlns:a16="http://schemas.microsoft.com/office/drawing/2014/main" id="{BD2C0BA4-EED2-42EF-AB59-FA138B4165E1}"/>
              </a:ext>
            </a:extLst>
          </p:cNvPr>
          <p:cNvSpPr>
            <a:spLocks xmlns:a="http://schemas.openxmlformats.org/drawingml/2006/main" noGrp="1"/>
          </p:cNvSpPr>
          <p:nvPr/>
        </p:nvSpPr>
        <p:spPr>
          <a:xfrm xmlns:a="http://schemas.openxmlformats.org/drawingml/2006/main">
            <a:off x="7653528" y="128016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5</a:t>
            </a:r>
            <a:endParaRPr sz="1500"/>
          </a:p>
        </p:txBody>
      </p:sp>
      <p:sp>
        <p:nvSpPr>
          <p:cNvPr id="26" name="Text 24">
            <a:extLst xmlns:a="http://schemas.openxmlformats.org/drawingml/2006/main">
              <a:ext uri="{FF2B5EF4-FFF2-40B4-BE49-F238E27FC236}">
                <a16:creationId xmlns:a16="http://schemas.microsoft.com/office/drawing/2014/main" id="{ADF49CE3-E09D-48A2-AAEC-C6C6BDB29A9A}"/>
              </a:ext>
            </a:extLst>
          </p:cNvPr>
          <p:cNvSpPr>
            <a:spLocks xmlns:a="http://schemas.openxmlformats.org/drawingml/2006/main" noGrp="1"/>
          </p:cNvSpPr>
          <p:nvPr/>
        </p:nvSpPr>
        <p:spPr>
          <a:xfrm xmlns:a="http://schemas.openxmlformats.org/drawingml/2006/main">
            <a:off x="7223760" y="1783080"/>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chemeClr val="tx1"/>
                </a:solidFill>
              </a:rPr>
              <a:t>Pick on validation</a:t>
            </a:r>
            <a:endParaRPr sz="1300"/>
          </a:p>
        </p:txBody>
      </p:sp>
      <p:sp>
        <p:nvSpPr>
          <p:cNvPr id="27" name="Split 48,000">
            <a:extLst xmlns:a="http://schemas.openxmlformats.org/drawingml/2006/main">
              <a:ext uri="{FF2B5EF4-FFF2-40B4-BE49-F238E27FC236}">
                <a16:creationId xmlns:a16="http://schemas.microsoft.com/office/drawing/2014/main" id="{9CC5E984-E577-48B5-904E-9BCB8489E1E3}"/>
              </a:ext>
            </a:extLst>
          </p:cNvPr>
          <p:cNvSpPr>
            <a:spLocks xmlns:a="http://schemas.openxmlformats.org/drawingml/2006/main" noGrp="1"/>
          </p:cNvSpPr>
          <p:nvPr/>
        </p:nvSpPr>
        <p:spPr>
          <a:xfrm xmlns:a="http://schemas.openxmlformats.org/drawingml/2006/main">
            <a:off x="548640" y="2606040"/>
            <a:ext cx="2560320" cy="1234440"/>
          </a:xfrm>
          <a:prstGeom xmlns:a="http://schemas.openxmlformats.org/drawingml/2006/main" prst="roundRect">
            <a:avLst>
              <a:gd name="adj" fmla="val 11852"/>
            </a:avLst>
          </a:prstGeom>
          <a:solidFill xmlns:a="http://schemas.openxmlformats.org/drawingml/2006/main">
            <a:schemeClr val="tx2"/>
          </a:solidFill>
          <a:ln xmlns:a="http://schemas.openxmlformats.org/drawingml/2006/main" w="12700">
            <a:solidFill>
              <a:schemeClr val="tx2"/>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28" name="Text 26">
            <a:extLst xmlns:a="http://schemas.openxmlformats.org/drawingml/2006/main">
              <a:ext uri="{FF2B5EF4-FFF2-40B4-BE49-F238E27FC236}">
                <a16:creationId xmlns:a16="http://schemas.microsoft.com/office/drawing/2014/main" id="{FDC5DF09-FDB7-483F-A8F4-E8864E84FBB6}"/>
              </a:ext>
            </a:extLst>
          </p:cNvPr>
          <p:cNvSpPr>
            <a:spLocks xmlns:a="http://schemas.openxmlformats.org/drawingml/2006/main" noGrp="1"/>
          </p:cNvSpPr>
          <p:nvPr/>
        </p:nvSpPr>
        <p:spPr>
          <a:xfrm xmlns:a="http://schemas.openxmlformats.org/drawingml/2006/main">
            <a:off x="777240" y="2697480"/>
            <a:ext cx="21031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600" b="1">
                <a:solidFill>
                  <a:schemeClr val="bg1"/>
                </a:solidFill>
              </a:rPr>
              <a:t>48,000</a:t>
            </a:r>
            <a:endParaRPr sz="3600"/>
          </a:p>
        </p:txBody>
      </p:sp>
      <p:sp>
        <p:nvSpPr>
          <p:cNvPr id="29" name="Text 27">
            <a:extLst xmlns:a="http://schemas.openxmlformats.org/drawingml/2006/main">
              <a:ext uri="{FF2B5EF4-FFF2-40B4-BE49-F238E27FC236}">
                <a16:creationId xmlns:a16="http://schemas.microsoft.com/office/drawing/2014/main" id="{EB207BBC-384C-466B-B899-2C3A31443E59}"/>
              </a:ext>
            </a:extLst>
          </p:cNvPr>
          <p:cNvSpPr>
            <a:spLocks xmlns:a="http://schemas.openxmlformats.org/drawingml/2006/main" noGrp="1"/>
          </p:cNvSpPr>
          <p:nvPr/>
        </p:nvSpPr>
        <p:spPr>
          <a:xfrm xmlns:a="http://schemas.openxmlformats.org/drawingml/2006/main">
            <a:off x="777240" y="3337560"/>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bg1"/>
                </a:solidFill>
              </a:rPr>
              <a:t>images to train every model</a:t>
            </a:r>
            <a:endParaRPr sz="1300"/>
          </a:p>
        </p:txBody>
      </p:sp>
      <p:sp>
        <p:nvSpPr>
          <p:cNvPr id="30" name="Split 12,000">
            <a:extLst xmlns:a="http://schemas.openxmlformats.org/drawingml/2006/main">
              <a:ext uri="{FF2B5EF4-FFF2-40B4-BE49-F238E27FC236}">
                <a16:creationId xmlns:a16="http://schemas.microsoft.com/office/drawing/2014/main" id="{AEFAE5FC-D295-407D-88F7-DC7B7154523E}"/>
              </a:ext>
            </a:extLst>
          </p:cNvPr>
          <p:cNvSpPr>
            <a:spLocks xmlns:a="http://schemas.openxmlformats.org/drawingml/2006/main" noGrp="1"/>
          </p:cNvSpPr>
          <p:nvPr/>
        </p:nvSpPr>
        <p:spPr>
          <a:xfrm xmlns:a="http://schemas.openxmlformats.org/drawingml/2006/main">
            <a:off x="3291840" y="2606040"/>
            <a:ext cx="2560320" cy="1234440"/>
          </a:xfrm>
          <a:prstGeom xmlns:a="http://schemas.openxmlformats.org/drawingml/2006/main" prst="roundRect">
            <a:avLst>
              <a:gd name="adj" fmla="val 11852"/>
            </a:avLst>
          </a:prstGeom>
          <a:solidFill xmlns:a="http://schemas.openxmlformats.org/drawingml/2006/main">
            <a:schemeClr val="accent2"/>
          </a:solidFill>
          <a:ln xmlns:a="http://schemas.openxmlformats.org/drawingml/2006/main" w="12700">
            <a:solidFill>
              <a:schemeClr val="accent2"/>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31" name="Text 29">
            <a:extLst xmlns:a="http://schemas.openxmlformats.org/drawingml/2006/main">
              <a:ext uri="{FF2B5EF4-FFF2-40B4-BE49-F238E27FC236}">
                <a16:creationId xmlns:a16="http://schemas.microsoft.com/office/drawing/2014/main" id="{B4CD9821-F437-4BC7-BE46-628CE4FDFA84}"/>
              </a:ext>
            </a:extLst>
          </p:cNvPr>
          <p:cNvSpPr>
            <a:spLocks xmlns:a="http://schemas.openxmlformats.org/drawingml/2006/main" noGrp="1"/>
          </p:cNvSpPr>
          <p:nvPr/>
        </p:nvSpPr>
        <p:spPr>
          <a:xfrm xmlns:a="http://schemas.openxmlformats.org/drawingml/2006/main">
            <a:off x="3520440" y="2697480"/>
            <a:ext cx="21031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600" b="1">
                <a:solidFill>
                  <a:schemeClr val="bg1"/>
                </a:solidFill>
              </a:rPr>
              <a:t>12,000</a:t>
            </a:r>
            <a:endParaRPr sz="3600"/>
          </a:p>
        </p:txBody>
      </p:sp>
      <p:sp>
        <p:nvSpPr>
          <p:cNvPr id="32" name="Text 30">
            <a:extLst xmlns:a="http://schemas.openxmlformats.org/drawingml/2006/main">
              <a:ext uri="{FF2B5EF4-FFF2-40B4-BE49-F238E27FC236}">
                <a16:creationId xmlns:a16="http://schemas.microsoft.com/office/drawing/2014/main" id="{52822AA7-8C05-45C8-B528-D82C1DC8A1AB}"/>
              </a:ext>
            </a:extLst>
          </p:cNvPr>
          <p:cNvSpPr>
            <a:spLocks xmlns:a="http://schemas.openxmlformats.org/drawingml/2006/main" noGrp="1"/>
          </p:cNvSpPr>
          <p:nvPr/>
        </p:nvSpPr>
        <p:spPr>
          <a:xfrm xmlns:a="http://schemas.openxmlformats.org/drawingml/2006/main">
            <a:off x="3520440" y="3337560"/>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bg1"/>
                </a:solidFill>
              </a:rPr>
              <a:t>images to choose settings</a:t>
            </a:r>
            <a:endParaRPr sz="1300"/>
          </a:p>
        </p:txBody>
      </p:sp>
      <p:sp>
        <p:nvSpPr>
          <p:cNvPr id="33" name="Split 10,000">
            <a:extLst xmlns:a="http://schemas.openxmlformats.org/drawingml/2006/main">
              <a:ext uri="{FF2B5EF4-FFF2-40B4-BE49-F238E27FC236}">
                <a16:creationId xmlns:a16="http://schemas.microsoft.com/office/drawing/2014/main" id="{71799F63-6310-46E7-A048-B2051D0DC8D4}"/>
              </a:ext>
            </a:extLst>
          </p:cNvPr>
          <p:cNvSpPr>
            <a:spLocks xmlns:a="http://schemas.openxmlformats.org/drawingml/2006/main" noGrp="1"/>
          </p:cNvSpPr>
          <p:nvPr/>
        </p:nvSpPr>
        <p:spPr>
          <a:xfrm xmlns:a="http://schemas.openxmlformats.org/drawingml/2006/main">
            <a:off x="6035040" y="2606040"/>
            <a:ext cx="2560320" cy="1234440"/>
          </a:xfrm>
          <a:prstGeom xmlns:a="http://schemas.openxmlformats.org/drawingml/2006/main" prst="roundRect">
            <a:avLst>
              <a:gd name="adj" fmla="val 11852"/>
            </a:avLst>
          </a:prstGeom>
          <a:solidFill xmlns:a="http://schemas.openxmlformats.org/drawingml/2006/main">
            <a:schemeClr val="accent1"/>
          </a:solidFill>
          <a:ln xmlns:a="http://schemas.openxmlformats.org/drawingml/2006/main" w="12700">
            <a:solidFill>
              <a:schemeClr val="accent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34" name="Text 32">
            <a:extLst xmlns:a="http://schemas.openxmlformats.org/drawingml/2006/main">
              <a:ext uri="{FF2B5EF4-FFF2-40B4-BE49-F238E27FC236}">
                <a16:creationId xmlns:a16="http://schemas.microsoft.com/office/drawing/2014/main" id="{AAF33257-339D-47BD-A823-14F292F1D93E}"/>
              </a:ext>
            </a:extLst>
          </p:cNvPr>
          <p:cNvSpPr>
            <a:spLocks xmlns:a="http://schemas.openxmlformats.org/drawingml/2006/main" noGrp="1"/>
          </p:cNvSpPr>
          <p:nvPr/>
        </p:nvSpPr>
        <p:spPr>
          <a:xfrm xmlns:a="http://schemas.openxmlformats.org/drawingml/2006/main">
            <a:off x="6263640" y="2697480"/>
            <a:ext cx="21031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600" b="1">
                <a:solidFill>
                  <a:schemeClr val="bg1"/>
                </a:solidFill>
              </a:rPr>
              <a:t>10,000</a:t>
            </a:r>
            <a:endParaRPr sz="3600"/>
          </a:p>
        </p:txBody>
      </p:sp>
      <p:sp>
        <p:nvSpPr>
          <p:cNvPr id="35" name="Text 33">
            <a:extLst xmlns:a="http://schemas.openxmlformats.org/drawingml/2006/main">
              <a:ext uri="{FF2B5EF4-FFF2-40B4-BE49-F238E27FC236}">
                <a16:creationId xmlns:a16="http://schemas.microsoft.com/office/drawing/2014/main" id="{68A624F5-94BA-486D-A606-E2223CBFF2FA}"/>
              </a:ext>
            </a:extLst>
          </p:cNvPr>
          <p:cNvSpPr>
            <a:spLocks xmlns:a="http://schemas.openxmlformats.org/drawingml/2006/main" noGrp="1"/>
          </p:cNvSpPr>
          <p:nvPr/>
        </p:nvSpPr>
        <p:spPr>
          <a:xfrm xmlns:a="http://schemas.openxmlformats.org/drawingml/2006/main">
            <a:off x="6263640" y="3337560"/>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bg1"/>
                </a:solidFill>
              </a:rPr>
              <a:t>official images for the final test</a:t>
            </a:r>
            <a:endParaRPr sz="1300"/>
          </a:p>
        </p:txBody>
      </p:sp>
      <p:sp>
        <p:nvSpPr>
          <p:cNvPr id="36" name="Text 34">
            <a:extLst xmlns:a="http://schemas.openxmlformats.org/drawingml/2006/main">
              <a:ext uri="{FF2B5EF4-FFF2-40B4-BE49-F238E27FC236}">
                <a16:creationId xmlns:a16="http://schemas.microsoft.com/office/drawing/2014/main" id="{FC1200D7-3DD6-4AB4-884A-7FC0A7B81FCE}"/>
              </a:ext>
            </a:extLst>
          </p:cNvPr>
          <p:cNvSpPr>
            <a:spLocks xmlns:a="http://schemas.openxmlformats.org/drawingml/2006/main" noGrp="1"/>
          </p:cNvSpPr>
          <p:nvPr/>
        </p:nvSpPr>
        <p:spPr>
          <a:xfrm xmlns:a="http://schemas.openxmlformats.org/drawingml/2006/main">
            <a:off x="548640" y="4114800"/>
            <a:ext cx="8046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chemeClr val="accent6"/>
                </a:solidFill>
              </a:rPr>
              <a:t>Same images for all 8 combinations (2 representations × 4 classifiers), so the comparison stays fair.</a:t>
            </a:r>
            <a:endParaRPr sz="1400"/>
          </a:p>
        </p:txBody>
      </p:sp>
      <p:sp>
        <p:nvSpPr>
          <p:cNvPr id="37" name="Slide Number Placeholder 0">
            <a:extLst xmlns:a="http://schemas.openxmlformats.org/drawingml/2006/main">
              <a:ext uri="{FF2B5EF4-FFF2-40B4-BE49-F238E27FC236}">
                <a16:creationId xmlns:a16="http://schemas.microsoft.com/office/drawing/2014/main" id="{2FC95D5E-3D58-4B69-8414-E0E71526604D}"/>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6"/>
                </a:solidFill>
              </a:defRPr>
            </a:lvl1pPr>
          </a:lstStyle>
          <a:p xmlns:a="http://schemas.openxmlformats.org/drawingml/2006/main">
            <a:pPr algn="l">
              <a:buNone/>
            </a:pPr>
            <a:fld id="{F7021451-1387-4CA6-816F-3879F97B5CBC}" type="slidenum">
              <a:rPr b="0"/>
              <a:t>4</a:t>
            </a:fld>
            <a:endParaRPr/>
          </a:p>
        </p:txBody>
      </p:sp>
    </p:spTree>
    <p:extLst>
      <p:ext uri="{BB962C8B-B14F-4D97-AF65-F5344CB8AC3E}">
        <p14:creationId xmlns:p14="http://schemas.microsoft.com/office/powerpoint/2010/main" val="27573230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319627-4456-4ACA-AE63-41FB612B11BD}"/>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400" b="1">
                <a:solidFill>
                  <a:schemeClr val="tx1"/>
                </a:solidFill>
              </a:rPr>
              <a:t>Two ways to describe a picture</a:t>
            </a:r>
            <a:endParaRPr sz="3400"/>
          </a:p>
        </p:txBody>
      </p:sp>
      <p:sp>
        <p:nvSpPr>
          <p:cNvPr id="3" name="Pixels card">
            <a:extLst xmlns:a="http://schemas.openxmlformats.org/drawingml/2006/main">
              <a:ext uri="{FF2B5EF4-FFF2-40B4-BE49-F238E27FC236}">
                <a16:creationId xmlns:a16="http://schemas.microsoft.com/office/drawing/2014/main" id="{BE11B2B7-3C6E-48E3-954D-FA9326822D64}"/>
              </a:ext>
            </a:extLst>
          </p:cNvPr>
          <p:cNvSpPr>
            <a:spLocks xmlns:a="http://schemas.openxmlformats.org/drawingml/2006/main" noGrp="1"/>
          </p:cNvSpPr>
          <p:nvPr/>
        </p:nvSpPr>
        <p:spPr>
          <a:xfrm xmlns:a="http://schemas.openxmlformats.org/drawingml/2006/main">
            <a:off x="548640" y="1188720"/>
            <a:ext cx="3566160" cy="1554480"/>
          </a:xfrm>
          <a:prstGeom xmlns:a="http://schemas.openxmlformats.org/drawingml/2006/main" prst="roundRect">
            <a:avLst>
              <a:gd name="adj" fmla="val 9412"/>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4" name="Pill Pixels">
            <a:extLst xmlns:a="http://schemas.openxmlformats.org/drawingml/2006/main">
              <a:ext uri="{FF2B5EF4-FFF2-40B4-BE49-F238E27FC236}">
                <a16:creationId xmlns:a16="http://schemas.microsoft.com/office/drawing/2014/main" id="{B4638191-5649-4002-958B-AF83103EBE08}"/>
              </a:ext>
            </a:extLst>
          </p:cNvPr>
          <p:cNvSpPr>
            <a:spLocks xmlns:a="http://schemas.openxmlformats.org/drawingml/2006/main" noGrp="1"/>
          </p:cNvSpPr>
          <p:nvPr/>
        </p:nvSpPr>
        <p:spPr>
          <a:xfrm xmlns:a="http://schemas.openxmlformats.org/drawingml/2006/main">
            <a:off x="777240" y="1371600"/>
            <a:ext cx="868680" cy="310896"/>
          </a:xfrm>
          <a:prstGeom xmlns:a="http://schemas.openxmlformats.org/drawingml/2006/main" prst="roundRect">
            <a:avLst>
              <a:gd name="adj" fmla="val 50000"/>
            </a:avLst>
          </a:prstGeom>
          <a:solidFill xmlns:a="http://schemas.openxmlformats.org/drawingml/2006/main">
            <a:schemeClr val="tx2"/>
          </a:solidFill>
          <a:ln xmlns:a="http://schemas.openxmlformats.org/drawingml/2006/main" w="12700">
            <a:solidFill>
              <a:schemeClr val="tx2"/>
            </a:solidFill>
            <a:prstDash val="solid"/>
          </a:ln>
        </p:spPr>
      </p:sp>
      <p:sp>
        <p:nvSpPr>
          <p:cNvPr id="5" name="Text 3">
            <a:extLst xmlns:a="http://schemas.openxmlformats.org/drawingml/2006/main">
              <a:ext uri="{FF2B5EF4-FFF2-40B4-BE49-F238E27FC236}">
                <a16:creationId xmlns:a16="http://schemas.microsoft.com/office/drawing/2014/main" id="{B55B3A74-CF7C-406D-963E-AA81C8B4D94E}"/>
              </a:ext>
            </a:extLst>
          </p:cNvPr>
          <p:cNvSpPr>
            <a:spLocks xmlns:a="http://schemas.openxmlformats.org/drawingml/2006/main" noGrp="1"/>
          </p:cNvSpPr>
          <p:nvPr/>
        </p:nvSpPr>
        <p:spPr>
          <a:xfrm xmlns:a="http://schemas.openxmlformats.org/drawingml/2006/main">
            <a:off x="777240" y="1371600"/>
            <a:ext cx="86868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chemeClr val="bg1"/>
                </a:solidFill>
              </a:rPr>
              <a:t>Pixels</a:t>
            </a:r>
            <a:endParaRPr sz="1200"/>
          </a:p>
        </p:txBody>
      </p:sp>
      <p:sp>
        <p:nvSpPr>
          <p:cNvPr id="6" name="Text 4">
            <a:extLst xmlns:a="http://schemas.openxmlformats.org/drawingml/2006/main">
              <a:ext uri="{FF2B5EF4-FFF2-40B4-BE49-F238E27FC236}">
                <a16:creationId xmlns:a16="http://schemas.microsoft.com/office/drawing/2014/main" id="{C1294038-1DB0-40DC-BB4B-2E51BF3A8B6A}"/>
              </a:ext>
            </a:extLst>
          </p:cNvPr>
          <p:cNvSpPr>
            <a:spLocks xmlns:a="http://schemas.openxmlformats.org/drawingml/2006/main" noGrp="1"/>
          </p:cNvSpPr>
          <p:nvPr/>
        </p:nvSpPr>
        <p:spPr>
          <a:xfrm xmlns:a="http://schemas.openxmlformats.org/drawingml/2006/main">
            <a:off x="1828800" y="1371600"/>
            <a:ext cx="21031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tx1"/>
                </a:solidFill>
              </a:rPr>
              <a:t>784 values</a:t>
            </a:r>
            <a:endParaRPr sz="1600"/>
          </a:p>
        </p:txBody>
      </p:sp>
      <p:sp>
        <p:nvSpPr>
          <p:cNvPr id="7" name="Text 5">
            <a:extLst xmlns:a="http://schemas.openxmlformats.org/drawingml/2006/main">
              <a:ext uri="{FF2B5EF4-FFF2-40B4-BE49-F238E27FC236}">
                <a16:creationId xmlns:a16="http://schemas.microsoft.com/office/drawing/2014/main" id="{1E86D131-D777-4323-A0CC-423DD1A4E1A8}"/>
              </a:ext>
            </a:extLst>
          </p:cNvPr>
          <p:cNvSpPr>
            <a:spLocks xmlns:a="http://schemas.openxmlformats.org/drawingml/2006/main" noGrp="1"/>
          </p:cNvSpPr>
          <p:nvPr/>
        </p:nvSpPr>
        <p:spPr>
          <a:xfrm xmlns:a="http://schemas.openxmlformats.org/drawingml/2006/main">
            <a:off x="777240" y="1828800"/>
            <a:ext cx="31089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chemeClr val="accent6"/>
                </a:solidFill>
              </a:rPr>
              <a:t>How bright each pixel is. Keeps exactly where things sit in the image.</a:t>
            </a:r>
            <a:endParaRPr sz="1300"/>
          </a:p>
        </p:txBody>
      </p:sp>
      <p:sp>
        <p:nvSpPr>
          <p:cNvPr id="8" name="HOG card">
            <a:extLst xmlns:a="http://schemas.openxmlformats.org/drawingml/2006/main">
              <a:ext uri="{FF2B5EF4-FFF2-40B4-BE49-F238E27FC236}">
                <a16:creationId xmlns:a16="http://schemas.microsoft.com/office/drawing/2014/main" id="{9FF97978-CFC9-4402-9ABA-CD7D62898FC5}"/>
              </a:ext>
            </a:extLst>
          </p:cNvPr>
          <p:cNvSpPr>
            <a:spLocks xmlns:a="http://schemas.openxmlformats.org/drawingml/2006/main" noGrp="1"/>
          </p:cNvSpPr>
          <p:nvPr/>
        </p:nvSpPr>
        <p:spPr>
          <a:xfrm xmlns:a="http://schemas.openxmlformats.org/drawingml/2006/main">
            <a:off x="548640" y="2926080"/>
            <a:ext cx="3566160" cy="1554480"/>
          </a:xfrm>
          <a:prstGeom xmlns:a="http://schemas.openxmlformats.org/drawingml/2006/main" prst="roundRect">
            <a:avLst>
              <a:gd name="adj" fmla="val 9412"/>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9" name="Pill HOG">
            <a:extLst xmlns:a="http://schemas.openxmlformats.org/drawingml/2006/main">
              <a:ext uri="{FF2B5EF4-FFF2-40B4-BE49-F238E27FC236}">
                <a16:creationId xmlns:a16="http://schemas.microsoft.com/office/drawing/2014/main" id="{3FC0A439-A53A-4914-8B4C-35BCBEC63823}"/>
              </a:ext>
            </a:extLst>
          </p:cNvPr>
          <p:cNvSpPr>
            <a:spLocks xmlns:a="http://schemas.openxmlformats.org/drawingml/2006/main" noGrp="1"/>
          </p:cNvSpPr>
          <p:nvPr/>
        </p:nvSpPr>
        <p:spPr>
          <a:xfrm xmlns:a="http://schemas.openxmlformats.org/drawingml/2006/main">
            <a:off x="777240" y="3108960"/>
            <a:ext cx="868680" cy="310896"/>
          </a:xfrm>
          <a:prstGeom xmlns:a="http://schemas.openxmlformats.org/drawingml/2006/main" prst="roundRect">
            <a:avLst>
              <a:gd name="adj" fmla="val 50000"/>
            </a:avLst>
          </a:prstGeom>
          <a:solidFill xmlns:a="http://schemas.openxmlformats.org/drawingml/2006/main">
            <a:schemeClr val="accent2"/>
          </a:solidFill>
          <a:ln xmlns:a="http://schemas.openxmlformats.org/drawingml/2006/main" w="12700">
            <a:solidFill>
              <a:schemeClr val="accent2"/>
            </a:solidFill>
            <a:prstDash val="solid"/>
          </a:ln>
        </p:spPr>
      </p:sp>
      <p:sp>
        <p:nvSpPr>
          <p:cNvPr id="10" name="Text 8">
            <a:extLst xmlns:a="http://schemas.openxmlformats.org/drawingml/2006/main">
              <a:ext uri="{FF2B5EF4-FFF2-40B4-BE49-F238E27FC236}">
                <a16:creationId xmlns:a16="http://schemas.microsoft.com/office/drawing/2014/main" id="{7125EDD8-12B7-4034-B7E7-FDE3127BEEDD}"/>
              </a:ext>
            </a:extLst>
          </p:cNvPr>
          <p:cNvSpPr>
            <a:spLocks xmlns:a="http://schemas.openxmlformats.org/drawingml/2006/main" noGrp="1"/>
          </p:cNvSpPr>
          <p:nvPr/>
        </p:nvSpPr>
        <p:spPr>
          <a:xfrm xmlns:a="http://schemas.openxmlformats.org/drawingml/2006/main">
            <a:off x="777240" y="3108960"/>
            <a:ext cx="86868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chemeClr val="bg1"/>
                </a:solidFill>
              </a:rPr>
              <a:t>HOG</a:t>
            </a:r>
            <a:endParaRPr sz="1200"/>
          </a:p>
        </p:txBody>
      </p:sp>
      <p:sp>
        <p:nvSpPr>
          <p:cNvPr id="11" name="Text 9">
            <a:extLst xmlns:a="http://schemas.openxmlformats.org/drawingml/2006/main">
              <a:ext uri="{FF2B5EF4-FFF2-40B4-BE49-F238E27FC236}">
                <a16:creationId xmlns:a16="http://schemas.microsoft.com/office/drawing/2014/main" id="{FA9ECA9B-CA8F-4D0E-BEDD-7A1C9EB89DDB}"/>
              </a:ext>
            </a:extLst>
          </p:cNvPr>
          <p:cNvSpPr>
            <a:spLocks xmlns:a="http://schemas.openxmlformats.org/drawingml/2006/main" noGrp="1"/>
          </p:cNvSpPr>
          <p:nvPr/>
        </p:nvSpPr>
        <p:spPr>
          <a:xfrm xmlns:a="http://schemas.openxmlformats.org/drawingml/2006/main">
            <a:off x="1828800" y="3108960"/>
            <a:ext cx="21031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tx1"/>
                </a:solidFill>
              </a:rPr>
              <a:t>324 values</a:t>
            </a:r>
            <a:endParaRPr sz="1600"/>
          </a:p>
        </p:txBody>
      </p:sp>
      <p:sp>
        <p:nvSpPr>
          <p:cNvPr id="12" name="Text 10">
            <a:extLst xmlns:a="http://schemas.openxmlformats.org/drawingml/2006/main">
              <a:ext uri="{FF2B5EF4-FFF2-40B4-BE49-F238E27FC236}">
                <a16:creationId xmlns:a16="http://schemas.microsoft.com/office/drawing/2014/main" id="{1B26CF3A-CAD3-48AC-A70B-52F26FE9DE8D}"/>
              </a:ext>
            </a:extLst>
          </p:cNvPr>
          <p:cNvSpPr>
            <a:spLocks xmlns:a="http://schemas.openxmlformats.org/drawingml/2006/main" noGrp="1"/>
          </p:cNvSpPr>
          <p:nvPr/>
        </p:nvSpPr>
        <p:spPr>
          <a:xfrm xmlns:a="http://schemas.openxmlformats.org/drawingml/2006/main">
            <a:off x="777240" y="3566160"/>
            <a:ext cx="31089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chemeClr val="accent6"/>
                </a:solidFill>
              </a:rPr>
              <a:t>Which way edges point in small patches. Cares about shape more than lighting.</a:t>
            </a:r>
            <a:endParaRPr sz="1300"/>
          </a:p>
        </p:txBody>
      </p:sp>
      <p:sp>
        <p:nvSpPr>
          <p:cNvPr id="13" name="HOG picture card">
            <a:extLst xmlns:a="http://schemas.openxmlformats.org/drawingml/2006/main">
              <a:ext uri="{FF2B5EF4-FFF2-40B4-BE49-F238E27FC236}">
                <a16:creationId xmlns:a16="http://schemas.microsoft.com/office/drawing/2014/main" id="{6C713F6C-EDD1-4D46-A06F-28FE0DDC23AB}"/>
              </a:ext>
            </a:extLst>
          </p:cNvPr>
          <p:cNvSpPr>
            <a:spLocks xmlns:a="http://schemas.openxmlformats.org/drawingml/2006/main" noGrp="1"/>
          </p:cNvSpPr>
          <p:nvPr/>
        </p:nvSpPr>
        <p:spPr>
          <a:xfrm xmlns:a="http://schemas.openxmlformats.org/drawingml/2006/main">
            <a:off x="4389120" y="1188720"/>
            <a:ext cx="4206240" cy="3200400"/>
          </a:xfrm>
          <a:prstGeom xmlns:a="http://schemas.openxmlformats.org/drawingml/2006/main" prst="roundRect">
            <a:avLst>
              <a:gd name="adj" fmla="val 4571"/>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pic>
        <p:nvPicPr>
          <p:cNvPr id="14" name="Image 0">
            <a:extLst xmlns:a="http://schemas.openxmlformats.org/drawingml/2006/main">
              <a:ext uri="{FF2B5EF4-FFF2-40B4-BE49-F238E27FC236}">
                <a16:creationId xmlns:a16="http://schemas.microsoft.com/office/drawing/2014/main" id="{625E0BE6-5743-4DD4-B708-474BFFB26416}"/>
              </a:ext>
            </a:extLst>
          </p:cNvPr>
          <p:cNvPicPr>
            <a:picLocks xmlns:a="http://schemas.openxmlformats.org/drawingml/2006/main" noChangeAspect="1"/>
          </p:cNvPicPr>
          <p:nvPr/>
        </p:nvPicPr>
        <p:blipFill>
          <a:blip xmlns:r="http://schemas.openxmlformats.org/officeDocument/2006/relationships" xmlns:a="http://schemas.openxmlformats.org/drawingml/2006/main" r:embed="R42614e6abe3548b2"/>
          <a:stretch xmlns:a="http://schemas.openxmlformats.org/drawingml/2006/main">
            <a:fillRect l="0" t="0" r="0" b="0"/>
          </a:stretch>
        </p:blipFill>
        <p:spPr>
          <a:xfrm xmlns:a="http://schemas.openxmlformats.org/drawingml/2006/main">
            <a:off x="4526280" y="1371600"/>
            <a:ext cx="3931920" cy="1865376"/>
          </a:xfrm>
          <a:prstGeom xmlns:a="http://schemas.openxmlformats.org/drawingml/2006/main" prst="rect">
            <a:avLst/>
          </a:prstGeom>
        </p:spPr>
      </p:pic>
      <p:sp>
        <p:nvSpPr>
          <p:cNvPr id="15" name="Text 12">
            <a:extLst xmlns:a="http://schemas.openxmlformats.org/drawingml/2006/main">
              <a:ext uri="{FF2B5EF4-FFF2-40B4-BE49-F238E27FC236}">
                <a16:creationId xmlns:a16="http://schemas.microsoft.com/office/drawing/2014/main" id="{50012971-5F21-476B-BA91-D60381096C95}"/>
              </a:ext>
            </a:extLst>
          </p:cNvPr>
          <p:cNvSpPr>
            <a:spLocks xmlns:a="http://schemas.openxmlformats.org/drawingml/2006/main" noGrp="1"/>
          </p:cNvSpPr>
          <p:nvPr/>
        </p:nvSpPr>
        <p:spPr>
          <a:xfrm xmlns:a="http://schemas.openxmlformats.org/drawingml/2006/main">
            <a:off x="4572000" y="3474720"/>
            <a:ext cx="38404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Top row: the original 28 × 28 images. Bottom row: what HOG sees. Shirts and pullovers still look alike.</a:t>
            </a:r>
            <a:endParaRPr sz="1200"/>
          </a:p>
        </p:txBody>
      </p:sp>
      <p:sp>
        <p:nvSpPr>
          <p:cNvPr id="25" name="Slide Number Placeholder 0">
            <a:extLst xmlns:a="http://schemas.openxmlformats.org/drawingml/2006/main">
              <a:ext uri="{FF2B5EF4-FFF2-40B4-BE49-F238E27FC236}">
                <a16:creationId xmlns:a16="http://schemas.microsoft.com/office/drawing/2014/main" id="{DBD8DC35-FFD1-49A5-9995-CB3EF707FF0D}"/>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6"/>
                </a:solidFill>
              </a:defRPr>
            </a:lvl1pPr>
          </a:lstStyle>
          <a:p xmlns:a="http://schemas.openxmlformats.org/drawingml/2006/main">
            <a:pPr algn="l">
              <a:buNone/>
            </a:pPr>
            <a:fld id="{F7021451-1387-4CA6-816F-3879F97B5CBC}" type="slidenum">
              <a:rPr b="0"/>
              <a:t>5</a:t>
            </a:fld>
            <a:endParaRPr/>
          </a:p>
        </p:txBody>
      </p:sp>
    </p:spTree>
    <p:extLst>
      <p:ext uri="{BB962C8B-B14F-4D97-AF65-F5344CB8AC3E}">
        <p14:creationId xmlns:p14="http://schemas.microsoft.com/office/powerpoint/2010/main" val="61643405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A5B4DC8-4607-4267-9D58-016691EDF964}"/>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400" b="1">
                <a:solidFill>
                  <a:schemeClr val="tx1"/>
                </a:solidFill>
              </a:rPr>
              <a:t>Best of our eight models</a:t>
            </a:r>
            <a:endParaRPr sz="3400"/>
          </a:p>
        </p:txBody>
      </p:sp>
      <p:sp>
        <p:nvSpPr>
          <p:cNvPr id="3" name="Chart card">
            <a:extLst xmlns:a="http://schemas.openxmlformats.org/drawingml/2006/main">
              <a:ext uri="{FF2B5EF4-FFF2-40B4-BE49-F238E27FC236}">
                <a16:creationId xmlns:a16="http://schemas.microsoft.com/office/drawing/2014/main" id="{36ACB838-530F-47C6-A75C-BD9A36A4B756}"/>
              </a:ext>
            </a:extLst>
          </p:cNvPr>
          <p:cNvSpPr>
            <a:spLocks xmlns:a="http://schemas.openxmlformats.org/drawingml/2006/main" noGrp="1"/>
          </p:cNvSpPr>
          <p:nvPr/>
        </p:nvSpPr>
        <p:spPr>
          <a:xfrm xmlns:a="http://schemas.openxmlformats.org/drawingml/2006/main">
            <a:off x="548640" y="1188720"/>
            <a:ext cx="5212080" cy="3337560"/>
          </a:xfrm>
          <a:prstGeom xmlns:a="http://schemas.openxmlformats.org/drawingml/2006/main" prst="roundRect">
            <a:avLst>
              <a:gd name="adj" fmla="val 4384"/>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4" name="Text 2">
            <a:extLst xmlns:a="http://schemas.openxmlformats.org/drawingml/2006/main">
              <a:ext uri="{FF2B5EF4-FFF2-40B4-BE49-F238E27FC236}">
                <a16:creationId xmlns:a16="http://schemas.microsoft.com/office/drawing/2014/main" id="{5CA9EAFE-2556-4296-8A7A-B5220699D325}"/>
              </a:ext>
            </a:extLst>
          </p:cNvPr>
          <p:cNvSpPr>
            <a:spLocks xmlns:a="http://schemas.openxmlformats.org/drawingml/2006/main" noGrp="1"/>
          </p:cNvSpPr>
          <p:nvPr/>
        </p:nvSpPr>
        <p:spPr>
          <a:xfrm xmlns:a="http://schemas.openxmlformats.org/drawingml/2006/main">
            <a:off x="777240" y="1325880"/>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tx1"/>
                </a:solidFill>
              </a:rPr>
              <a:t>Test accuracy (%)</a:t>
            </a:r>
            <a:endParaRPr sz="1400"/>
          </a:p>
        </p:txBody>
      </p:sp>
      <p:graphicFrame>
        <p:nvGraphicFramePr>
          <p:cNvPr id="5" name="Chart 0">
            <a:extLst xmlns:a="http://schemas.openxmlformats.org/drawingml/2006/main">
              <a:ext uri="{FF2B5EF4-FFF2-40B4-BE49-F238E27FC236}">
                <a16:creationId xmlns:a16="http://schemas.microsoft.com/office/drawing/2014/main" id="{52F5B82F-CB1E-480A-BC7F-96353DEAF5E5}"/>
              </a:ext>
            </a:extLst>
          </p:cNvPr>
          <p:cNvGraphicFramePr/>
          <p:nvPr/>
        </p:nvGraphicFramePr>
        <p:xfrm>
          <a:off xmlns:a="http://schemas.openxmlformats.org/drawingml/2006/main" x="640080" y="1645920"/>
          <a:ext xmlns:a="http://schemas.openxmlformats.org/drawingml/2006/main" cx="5029200" cy="2606040"/>
        </p:xfrm>
        <a:graphic xmlns:a="http://schemas.openxmlformats.org/drawingml/2006/main">
          <a:graphicData uri="http://schemas.openxmlformats.org/drawingml/2006/chart">
            <c:chart xmlns:r="http://schemas.openxmlformats.org/officeDocument/2006/relationships" xmlns:c="http://schemas.openxmlformats.org/drawingml/2006/chart" r:id="Rd43d95d8b00242a2"/>
          </a:graphicData>
        </a:graphic>
      </p:graphicFrame>
      <p:sp>
        <p:nvSpPr>
          <p:cNvPr id="6" name="Text 3">
            <a:extLst xmlns:a="http://schemas.openxmlformats.org/drawingml/2006/main">
              <a:ext uri="{FF2B5EF4-FFF2-40B4-BE49-F238E27FC236}">
                <a16:creationId xmlns:a16="http://schemas.microsoft.com/office/drawing/2014/main" id="{5AAE633F-4B3A-4868-982E-95198EB96AD4}"/>
              </a:ext>
            </a:extLst>
          </p:cNvPr>
          <p:cNvSpPr>
            <a:spLocks xmlns:a="http://schemas.openxmlformats.org/drawingml/2006/main" noGrp="1"/>
          </p:cNvSpPr>
          <p:nvPr/>
        </p:nvSpPr>
        <p:spPr>
          <a:xfrm xmlns:a="http://schemas.openxmlformats.org/drawingml/2006/main">
            <a:off x="777240" y="4251960"/>
            <a:ext cx="47548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accent6"/>
                </a:solidFill>
              </a:rPr>
              <a:t>Axis starts at 80% so the gaps are easier to see</a:t>
            </a:r>
            <a:endParaRPr sz="1000"/>
          </a:p>
        </p:txBody>
      </p:sp>
      <p:sp>
        <p:nvSpPr>
          <p:cNvPr id="7" name="Winner card">
            <a:extLst xmlns:a="http://schemas.openxmlformats.org/drawingml/2006/main">
              <a:ext uri="{FF2B5EF4-FFF2-40B4-BE49-F238E27FC236}">
                <a16:creationId xmlns:a16="http://schemas.microsoft.com/office/drawing/2014/main" id="{45443FE3-831D-4B8B-936A-C77D328DAC22}"/>
              </a:ext>
            </a:extLst>
          </p:cNvPr>
          <p:cNvSpPr>
            <a:spLocks xmlns:a="http://schemas.openxmlformats.org/drawingml/2006/main" noGrp="1"/>
          </p:cNvSpPr>
          <p:nvPr/>
        </p:nvSpPr>
        <p:spPr>
          <a:xfrm xmlns:a="http://schemas.openxmlformats.org/drawingml/2006/main">
            <a:off x="5989320" y="1188720"/>
            <a:ext cx="2606040" cy="3337560"/>
          </a:xfrm>
          <a:prstGeom xmlns:a="http://schemas.openxmlformats.org/drawingml/2006/main" prst="roundRect">
            <a:avLst>
              <a:gd name="adj" fmla="val 5614"/>
            </a:avLst>
          </a:prstGeom>
          <a:solidFill xmlns:a="http://schemas.openxmlformats.org/drawingml/2006/main">
            <a:schemeClr val="tx2"/>
          </a:solidFill>
          <a:ln xmlns:a="http://schemas.openxmlformats.org/drawingml/2006/main" w="12700">
            <a:solidFill>
              <a:schemeClr val="tx2"/>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8" name="Pill Picked on validation">
            <a:extLst xmlns:a="http://schemas.openxmlformats.org/drawingml/2006/main">
              <a:ext uri="{FF2B5EF4-FFF2-40B4-BE49-F238E27FC236}">
                <a16:creationId xmlns:a16="http://schemas.microsoft.com/office/drawing/2014/main" id="{75AA824D-6E5D-4362-B0B7-6941690F95CE}"/>
              </a:ext>
            </a:extLst>
          </p:cNvPr>
          <p:cNvSpPr>
            <a:spLocks xmlns:a="http://schemas.openxmlformats.org/drawingml/2006/main" noGrp="1"/>
          </p:cNvSpPr>
          <p:nvPr/>
        </p:nvSpPr>
        <p:spPr>
          <a:xfrm xmlns:a="http://schemas.openxmlformats.org/drawingml/2006/main">
            <a:off x="6172200" y="1371600"/>
            <a:ext cx="1737360" cy="292608"/>
          </a:xfrm>
          <a:prstGeom xmlns:a="http://schemas.openxmlformats.org/drawingml/2006/main" prst="roundRect">
            <a:avLst>
              <a:gd name="adj" fmla="val 50000"/>
            </a:avLst>
          </a:prstGeom>
          <a:solidFill xmlns:a="http://schemas.openxmlformats.org/drawingml/2006/main">
            <a:schemeClr val="accent1"/>
          </a:solidFill>
          <a:ln xmlns:a="http://schemas.openxmlformats.org/drawingml/2006/main" w="12700">
            <a:solidFill>
              <a:schemeClr val="accent1"/>
            </a:solidFill>
            <a:prstDash val="solid"/>
          </a:ln>
        </p:spPr>
      </p:sp>
      <p:sp>
        <p:nvSpPr>
          <p:cNvPr id="9" name="Text 6">
            <a:extLst xmlns:a="http://schemas.openxmlformats.org/drawingml/2006/main">
              <a:ext uri="{FF2B5EF4-FFF2-40B4-BE49-F238E27FC236}">
                <a16:creationId xmlns:a16="http://schemas.microsoft.com/office/drawing/2014/main" id="{39E4A332-E68D-4DA0-9121-B50A96917ECF}"/>
              </a:ext>
            </a:extLst>
          </p:cNvPr>
          <p:cNvSpPr>
            <a:spLocks xmlns:a="http://schemas.openxmlformats.org/drawingml/2006/main" noGrp="1"/>
          </p:cNvSpPr>
          <p:nvPr/>
        </p:nvSpPr>
        <p:spPr>
          <a:xfrm xmlns:a="http://schemas.openxmlformats.org/drawingml/2006/main">
            <a:off x="6172200" y="1371600"/>
            <a:ext cx="17373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chemeClr val="bg1"/>
                </a:solidFill>
              </a:rPr>
              <a:t>Picked on validation</a:t>
            </a:r>
            <a:endParaRPr sz="1000"/>
          </a:p>
        </p:txBody>
      </p:sp>
      <p:sp>
        <p:nvSpPr>
          <p:cNvPr id="10" name="Text 7">
            <a:extLst xmlns:a="http://schemas.openxmlformats.org/drawingml/2006/main">
              <a:ext uri="{FF2B5EF4-FFF2-40B4-BE49-F238E27FC236}">
                <a16:creationId xmlns:a16="http://schemas.microsoft.com/office/drawing/2014/main" id="{B04878F3-60C4-4433-B4A8-FA77EB52B2B7}"/>
              </a:ext>
            </a:extLst>
          </p:cNvPr>
          <p:cNvSpPr>
            <a:spLocks xmlns:a="http://schemas.openxmlformats.org/drawingml/2006/main" noGrp="1"/>
          </p:cNvSpPr>
          <p:nvPr/>
        </p:nvSpPr>
        <p:spPr>
          <a:xfrm xmlns:a="http://schemas.openxmlformats.org/drawingml/2006/main">
            <a:off x="6172200" y="1783080"/>
            <a:ext cx="22860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bg1"/>
                </a:solidFill>
              </a:rPr>
              <a:t>87.61%</a:t>
            </a:r>
            <a:endParaRPr sz="4400"/>
          </a:p>
        </p:txBody>
      </p:sp>
      <p:sp>
        <p:nvSpPr>
          <p:cNvPr id="11" name="Text 8">
            <a:extLst xmlns:a="http://schemas.openxmlformats.org/drawingml/2006/main">
              <a:ext uri="{FF2B5EF4-FFF2-40B4-BE49-F238E27FC236}">
                <a16:creationId xmlns:a16="http://schemas.microsoft.com/office/drawing/2014/main" id="{B91CD616-36A0-4C2E-8C2E-E2A8F66B221B}"/>
              </a:ext>
            </a:extLst>
          </p:cNvPr>
          <p:cNvSpPr>
            <a:spLocks xmlns:a="http://schemas.openxmlformats.org/drawingml/2006/main" noGrp="1"/>
          </p:cNvSpPr>
          <p:nvPr/>
        </p:nvSpPr>
        <p:spPr>
          <a:xfrm xmlns:a="http://schemas.openxmlformats.org/drawingml/2006/main">
            <a:off x="6172200" y="2514600"/>
            <a:ext cx="2240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3"/>
                </a:solidFill>
              </a:rPr>
              <a:t>of test images tagged correctly by Pixels + Random Forest</a:t>
            </a:r>
            <a:endParaRPr sz="1200"/>
          </a:p>
        </p:txBody>
      </p:sp>
      <p:sp>
        <p:nvSpPr>
          <p:cNvPr id="12" name="Text 9">
            <a:extLst xmlns:a="http://schemas.openxmlformats.org/drawingml/2006/main">
              <a:ext uri="{FF2B5EF4-FFF2-40B4-BE49-F238E27FC236}">
                <a16:creationId xmlns:a16="http://schemas.microsoft.com/office/drawing/2014/main" id="{21137B07-EB27-42B1-9DFD-DF24E99A9F95}"/>
              </a:ext>
            </a:extLst>
          </p:cNvPr>
          <p:cNvSpPr>
            <a:spLocks xmlns:a="http://schemas.openxmlformats.org/drawingml/2006/main" noGrp="1"/>
          </p:cNvSpPr>
          <p:nvPr/>
        </p:nvSpPr>
        <p:spPr>
          <a:xfrm xmlns:a="http://schemas.openxmlformats.org/drawingml/2006/main">
            <a:off x="6172200" y="3154680"/>
            <a:ext cx="1143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0.8747</a:t>
            </a:r>
            <a:endParaRPr sz="1600"/>
          </a:p>
        </p:txBody>
      </p:sp>
      <p:sp>
        <p:nvSpPr>
          <p:cNvPr id="13" name="Text 10">
            <a:extLst xmlns:a="http://schemas.openxmlformats.org/drawingml/2006/main">
              <a:ext uri="{FF2B5EF4-FFF2-40B4-BE49-F238E27FC236}">
                <a16:creationId xmlns:a16="http://schemas.microsoft.com/office/drawing/2014/main" id="{D710841F-F57E-4000-B44D-12512EEF9486}"/>
              </a:ext>
            </a:extLst>
          </p:cNvPr>
          <p:cNvSpPr>
            <a:spLocks xmlns:a="http://schemas.openxmlformats.org/drawingml/2006/main" noGrp="1"/>
          </p:cNvSpPr>
          <p:nvPr/>
        </p:nvSpPr>
        <p:spPr>
          <a:xfrm xmlns:a="http://schemas.openxmlformats.org/drawingml/2006/main">
            <a:off x="7315200" y="315468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accent3"/>
                </a:solidFill>
              </a:rPr>
              <a:t>macro F1</a:t>
            </a:r>
            <a:endParaRPr sz="1100"/>
          </a:p>
        </p:txBody>
      </p:sp>
      <p:sp>
        <p:nvSpPr>
          <p:cNvPr id="14" name="Text 11">
            <a:extLst xmlns:a="http://schemas.openxmlformats.org/drawingml/2006/main">
              <a:ext uri="{FF2B5EF4-FFF2-40B4-BE49-F238E27FC236}">
                <a16:creationId xmlns:a16="http://schemas.microsoft.com/office/drawing/2014/main" id="{6855A07F-B8CF-4830-89CD-F5EC69015575}"/>
              </a:ext>
            </a:extLst>
          </p:cNvPr>
          <p:cNvSpPr>
            <a:spLocks xmlns:a="http://schemas.openxmlformats.org/drawingml/2006/main" noGrp="1"/>
          </p:cNvSpPr>
          <p:nvPr/>
        </p:nvSpPr>
        <p:spPr>
          <a:xfrm xmlns:a="http://schemas.openxmlformats.org/drawingml/2006/main">
            <a:off x="6172200" y="3611880"/>
            <a:ext cx="1143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24.98 ms</a:t>
            </a:r>
            <a:endParaRPr sz="1600"/>
          </a:p>
        </p:txBody>
      </p:sp>
      <p:sp>
        <p:nvSpPr>
          <p:cNvPr id="15" name="Text 12">
            <a:extLst xmlns:a="http://schemas.openxmlformats.org/drawingml/2006/main">
              <a:ext uri="{FF2B5EF4-FFF2-40B4-BE49-F238E27FC236}">
                <a16:creationId xmlns:a16="http://schemas.microsoft.com/office/drawing/2014/main" id="{BB74A6CD-D3BF-474F-AF83-231C46B5AA63}"/>
              </a:ext>
            </a:extLst>
          </p:cNvPr>
          <p:cNvSpPr>
            <a:spLocks xmlns:a="http://schemas.openxmlformats.org/drawingml/2006/main" noGrp="1"/>
          </p:cNvSpPr>
          <p:nvPr/>
        </p:nvSpPr>
        <p:spPr>
          <a:xfrm xmlns:a="http://schemas.openxmlformats.org/drawingml/2006/main">
            <a:off x="7315200" y="361188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accent3"/>
                </a:solidFill>
              </a:rPr>
              <a:t>median prediction</a:t>
            </a:r>
            <a:endParaRPr sz="1100"/>
          </a:p>
        </p:txBody>
      </p:sp>
      <p:sp>
        <p:nvSpPr>
          <p:cNvPr id="16" name="Text 13">
            <a:extLst xmlns:a="http://schemas.openxmlformats.org/drawingml/2006/main">
              <a:ext uri="{FF2B5EF4-FFF2-40B4-BE49-F238E27FC236}">
                <a16:creationId xmlns:a16="http://schemas.microsoft.com/office/drawing/2014/main" id="{18914240-214A-4BDE-96C2-6BB69AB29219}"/>
              </a:ext>
            </a:extLst>
          </p:cNvPr>
          <p:cNvSpPr>
            <a:spLocks xmlns:a="http://schemas.openxmlformats.org/drawingml/2006/main" noGrp="1"/>
          </p:cNvSpPr>
          <p:nvPr/>
        </p:nvSpPr>
        <p:spPr>
          <a:xfrm xmlns:a="http://schemas.openxmlformats.org/drawingml/2006/main">
            <a:off x="6172200" y="4069080"/>
            <a:ext cx="1143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69.96 MiB</a:t>
            </a:r>
            <a:endParaRPr sz="1600"/>
          </a:p>
        </p:txBody>
      </p:sp>
      <p:sp>
        <p:nvSpPr>
          <p:cNvPr id="17" name="Text 14">
            <a:extLst xmlns:a="http://schemas.openxmlformats.org/drawingml/2006/main">
              <a:ext uri="{FF2B5EF4-FFF2-40B4-BE49-F238E27FC236}">
                <a16:creationId xmlns:a16="http://schemas.microsoft.com/office/drawing/2014/main" id="{12DFDC50-6FE2-4506-B995-72EB7DC981B1}"/>
              </a:ext>
            </a:extLst>
          </p:cNvPr>
          <p:cNvSpPr>
            <a:spLocks xmlns:a="http://schemas.openxmlformats.org/drawingml/2006/main" noGrp="1"/>
          </p:cNvSpPr>
          <p:nvPr/>
        </p:nvSpPr>
        <p:spPr>
          <a:xfrm xmlns:a="http://schemas.openxmlformats.org/drawingml/2006/main">
            <a:off x="7315200" y="406908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accent3"/>
                </a:solidFill>
              </a:rPr>
              <a:t>saved model</a:t>
            </a:r>
            <a:endParaRPr sz="1100"/>
          </a:p>
        </p:txBody>
      </p:sp>
      <p:sp>
        <p:nvSpPr>
          <p:cNvPr id="25" name="Slide Number Placeholder 0">
            <a:extLst xmlns:a="http://schemas.openxmlformats.org/drawingml/2006/main">
              <a:ext uri="{FF2B5EF4-FFF2-40B4-BE49-F238E27FC236}">
                <a16:creationId xmlns:a16="http://schemas.microsoft.com/office/drawing/2014/main" id="{8FC45FBD-24E2-4ED5-96DD-D2F05A43149A}"/>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6"/>
                </a:solidFill>
              </a:defRPr>
            </a:lvl1pPr>
          </a:lstStyle>
          <a:p xmlns:a="http://schemas.openxmlformats.org/drawingml/2006/main">
            <a:pPr algn="l">
              <a:buNone/>
            </a:pPr>
            <a:fld id="{F7021451-1387-4CA6-816F-3879F97B5CBC}" type="slidenum">
              <a:rPr b="0"/>
              <a:t>6</a:t>
            </a:fld>
            <a:endParaRPr/>
          </a:p>
        </p:txBody>
      </p:sp>
    </p:spTree>
    <p:extLst>
      <p:ext uri="{BB962C8B-B14F-4D97-AF65-F5344CB8AC3E}">
        <p14:creationId xmlns:p14="http://schemas.microsoft.com/office/powerpoint/2010/main" val="152223330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06C7790-4B0C-4FE6-8EF8-0A07F3198091}"/>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400" b="1">
                <a:solidFill>
                  <a:schemeClr val="tx1"/>
                </a:solidFill>
              </a:rPr>
              <a:t>Where it gets confused</a:t>
            </a:r>
            <a:endParaRPr sz="3400"/>
          </a:p>
        </p:txBody>
      </p:sp>
      <p:sp>
        <p:nvSpPr>
          <p:cNvPr id="3" name="Recall card">
            <a:extLst xmlns:a="http://schemas.openxmlformats.org/drawingml/2006/main">
              <a:ext uri="{FF2B5EF4-FFF2-40B4-BE49-F238E27FC236}">
                <a16:creationId xmlns:a16="http://schemas.microsoft.com/office/drawing/2014/main" id="{3FBBF622-27BA-4841-A2C0-69C81DF0E5BA}"/>
              </a:ext>
            </a:extLst>
          </p:cNvPr>
          <p:cNvSpPr>
            <a:spLocks xmlns:a="http://schemas.openxmlformats.org/drawingml/2006/main" noGrp="1"/>
          </p:cNvSpPr>
          <p:nvPr/>
        </p:nvSpPr>
        <p:spPr>
          <a:xfrm xmlns:a="http://schemas.openxmlformats.org/drawingml/2006/main">
            <a:off x="548640" y="1188720"/>
            <a:ext cx="4754880" cy="3337560"/>
          </a:xfrm>
          <a:prstGeom xmlns:a="http://schemas.openxmlformats.org/drawingml/2006/main" prst="roundRect">
            <a:avLst>
              <a:gd name="adj" fmla="val 4384"/>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4" name="Text 2">
            <a:extLst xmlns:a="http://schemas.openxmlformats.org/drawingml/2006/main">
              <a:ext uri="{FF2B5EF4-FFF2-40B4-BE49-F238E27FC236}">
                <a16:creationId xmlns:a16="http://schemas.microsoft.com/office/drawing/2014/main" id="{DF714623-3D31-444C-9789-CE2CB2F6ACED}"/>
              </a:ext>
            </a:extLst>
          </p:cNvPr>
          <p:cNvSpPr>
            <a:spLocks xmlns:a="http://schemas.openxmlformats.org/drawingml/2006/main" noGrp="1"/>
          </p:cNvSpPr>
          <p:nvPr/>
        </p:nvSpPr>
        <p:spPr>
          <a:xfrm xmlns:a="http://schemas.openxmlformats.org/drawingml/2006/main">
            <a:off x="777240" y="1325880"/>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tx1"/>
                </a:solidFill>
              </a:rPr>
              <a:t>Recall by category (%)</a:t>
            </a:r>
            <a:endParaRPr sz="1400"/>
          </a:p>
        </p:txBody>
      </p:sp>
      <p:graphicFrame>
        <p:nvGraphicFramePr>
          <p:cNvPr id="5" name="Chart 0">
            <a:extLst xmlns:a="http://schemas.openxmlformats.org/drawingml/2006/main">
              <a:ext uri="{FF2B5EF4-FFF2-40B4-BE49-F238E27FC236}">
                <a16:creationId xmlns:a16="http://schemas.microsoft.com/office/drawing/2014/main" id="{72E4C2A5-57C8-4A2C-9DDD-A7CB0C8E9636}"/>
              </a:ext>
            </a:extLst>
          </p:cNvPr>
          <p:cNvGraphicFramePr/>
          <p:nvPr/>
        </p:nvGraphicFramePr>
        <p:xfrm>
          <a:off xmlns:a="http://schemas.openxmlformats.org/drawingml/2006/main" x="640080" y="1645920"/>
          <a:ext xmlns:a="http://schemas.openxmlformats.org/drawingml/2006/main" cx="4572000" cy="2788920"/>
        </p:xfrm>
        <a:graphic xmlns:a="http://schemas.openxmlformats.org/drawingml/2006/main">
          <a:graphicData uri="http://schemas.openxmlformats.org/drawingml/2006/chart">
            <c:chart xmlns:r="http://schemas.openxmlformats.org/officeDocument/2006/relationships" xmlns:c="http://schemas.openxmlformats.org/drawingml/2006/chart" r:id="R176fd46839f04f18"/>
          </a:graphicData>
        </a:graphic>
      </p:graphicFrame>
      <p:sp>
        <p:nvSpPr>
          <p:cNvPr id="6" name="Text 3">
            <a:extLst xmlns:a="http://schemas.openxmlformats.org/drawingml/2006/main">
              <a:ext uri="{FF2B5EF4-FFF2-40B4-BE49-F238E27FC236}">
                <a16:creationId xmlns:a16="http://schemas.microsoft.com/office/drawing/2014/main" id="{694B8579-52E5-4677-8635-B0D1A372AFE0}"/>
              </a:ext>
            </a:extLst>
          </p:cNvPr>
          <p:cNvSpPr>
            <a:spLocks xmlns:a="http://schemas.openxmlformats.org/drawingml/2006/main" noGrp="1"/>
          </p:cNvSpPr>
          <p:nvPr/>
        </p:nvSpPr>
        <p:spPr>
          <a:xfrm xmlns:a="http://schemas.openxmlformats.org/drawingml/2006/main">
            <a:off x="5577840" y="1188720"/>
            <a:ext cx="30175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tx1"/>
                </a:solidFill>
              </a:rPr>
              <a:t>The most common mix-ups</a:t>
            </a:r>
            <a:endParaRPr sz="1500"/>
          </a:p>
        </p:txBody>
      </p:sp>
      <p:sp>
        <p:nvSpPr>
          <p:cNvPr id="7" name="Mix-up shirts called T-shirt/top">
            <a:extLst xmlns:a="http://schemas.openxmlformats.org/drawingml/2006/main">
              <a:ext uri="{FF2B5EF4-FFF2-40B4-BE49-F238E27FC236}">
                <a16:creationId xmlns:a16="http://schemas.microsoft.com/office/drawing/2014/main" id="{8FF51740-138F-49E4-A84D-6E42AF6AC803}"/>
              </a:ext>
            </a:extLst>
          </p:cNvPr>
          <p:cNvSpPr>
            <a:spLocks xmlns:a="http://schemas.openxmlformats.org/drawingml/2006/main" noGrp="1"/>
          </p:cNvSpPr>
          <p:nvPr/>
        </p:nvSpPr>
        <p:spPr>
          <a:xfrm xmlns:a="http://schemas.openxmlformats.org/drawingml/2006/main">
            <a:off x="5577840" y="1645920"/>
            <a:ext cx="3017520" cy="777240"/>
          </a:xfrm>
          <a:prstGeom xmlns:a="http://schemas.openxmlformats.org/drawingml/2006/main" prst="roundRect">
            <a:avLst>
              <a:gd name="adj" fmla="val 18824"/>
            </a:avLst>
          </a:prstGeom>
          <a:solidFill xmlns:a="http://schemas.openxmlformats.org/drawingml/2006/main">
            <a:schemeClr val="accent1"/>
          </a:solidFill>
          <a:ln xmlns:a="http://schemas.openxmlformats.org/drawingml/2006/main" w="12700">
            <a:solidFill>
              <a:schemeClr val="accent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8" name="Text 5">
            <a:extLst xmlns:a="http://schemas.openxmlformats.org/drawingml/2006/main">
              <a:ext uri="{FF2B5EF4-FFF2-40B4-BE49-F238E27FC236}">
                <a16:creationId xmlns:a16="http://schemas.microsoft.com/office/drawing/2014/main" id="{EECF3E5B-B6A2-4B77-BC22-78A8E924F825}"/>
              </a:ext>
            </a:extLst>
          </p:cNvPr>
          <p:cNvSpPr>
            <a:spLocks xmlns:a="http://schemas.openxmlformats.org/drawingml/2006/main" noGrp="1"/>
          </p:cNvSpPr>
          <p:nvPr/>
        </p:nvSpPr>
        <p:spPr>
          <a:xfrm xmlns:a="http://schemas.openxmlformats.org/drawingml/2006/main">
            <a:off x="5760720" y="1645920"/>
            <a:ext cx="822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chemeClr val="bg1"/>
                </a:solidFill>
              </a:rPr>
              <a:t>149</a:t>
            </a:r>
            <a:endParaRPr sz="2800"/>
          </a:p>
        </p:txBody>
      </p:sp>
      <p:sp>
        <p:nvSpPr>
          <p:cNvPr id="9" name="Text 6">
            <a:extLst xmlns:a="http://schemas.openxmlformats.org/drawingml/2006/main">
              <a:ext uri="{FF2B5EF4-FFF2-40B4-BE49-F238E27FC236}">
                <a16:creationId xmlns:a16="http://schemas.microsoft.com/office/drawing/2014/main" id="{F064A4F6-CD3F-461D-A5F8-A0DF9C9C0C13}"/>
              </a:ext>
            </a:extLst>
          </p:cNvPr>
          <p:cNvSpPr>
            <a:spLocks xmlns:a="http://schemas.openxmlformats.org/drawingml/2006/main" noGrp="1"/>
          </p:cNvSpPr>
          <p:nvPr/>
        </p:nvSpPr>
        <p:spPr>
          <a:xfrm xmlns:a="http://schemas.openxmlformats.org/drawingml/2006/main">
            <a:off x="6583680" y="1645920"/>
            <a:ext cx="1920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1"/>
                </a:solidFill>
              </a:rPr>
              <a:t>shirts called T-shirt/top</a:t>
            </a:r>
            <a:endParaRPr sz="1200"/>
          </a:p>
        </p:txBody>
      </p:sp>
      <p:sp>
        <p:nvSpPr>
          <p:cNvPr id="10" name="Mix-up shirts called Pullover">
            <a:extLst xmlns:a="http://schemas.openxmlformats.org/drawingml/2006/main">
              <a:ext uri="{FF2B5EF4-FFF2-40B4-BE49-F238E27FC236}">
                <a16:creationId xmlns:a16="http://schemas.microsoft.com/office/drawing/2014/main" id="{65414F43-81F3-44C2-8F75-EBEF44CE4D52}"/>
              </a:ext>
            </a:extLst>
          </p:cNvPr>
          <p:cNvSpPr>
            <a:spLocks xmlns:a="http://schemas.openxmlformats.org/drawingml/2006/main" noGrp="1"/>
          </p:cNvSpPr>
          <p:nvPr/>
        </p:nvSpPr>
        <p:spPr>
          <a:xfrm xmlns:a="http://schemas.openxmlformats.org/drawingml/2006/main">
            <a:off x="5577840" y="2560320"/>
            <a:ext cx="3017520" cy="777240"/>
          </a:xfrm>
          <a:prstGeom xmlns:a="http://schemas.openxmlformats.org/drawingml/2006/main" prst="roundRect">
            <a:avLst>
              <a:gd name="adj" fmla="val 18824"/>
            </a:avLst>
          </a:prstGeom>
          <a:solidFill xmlns:a="http://schemas.openxmlformats.org/drawingml/2006/main">
            <a:schemeClr val="accent3"/>
          </a:solidFill>
          <a:ln xmlns:a="http://schemas.openxmlformats.org/drawingml/2006/main" w="12700">
            <a:solidFill>
              <a:schemeClr val="accent3"/>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1" name="Text 8">
            <a:extLst xmlns:a="http://schemas.openxmlformats.org/drawingml/2006/main">
              <a:ext uri="{FF2B5EF4-FFF2-40B4-BE49-F238E27FC236}">
                <a16:creationId xmlns:a16="http://schemas.microsoft.com/office/drawing/2014/main" id="{F919232A-477F-4E46-9F8B-7242C328779F}"/>
              </a:ext>
            </a:extLst>
          </p:cNvPr>
          <p:cNvSpPr>
            <a:spLocks xmlns:a="http://schemas.openxmlformats.org/drawingml/2006/main" noGrp="1"/>
          </p:cNvSpPr>
          <p:nvPr/>
        </p:nvSpPr>
        <p:spPr>
          <a:xfrm xmlns:a="http://schemas.openxmlformats.org/drawingml/2006/main">
            <a:off x="5760720" y="2560320"/>
            <a:ext cx="822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chemeClr val="tx2"/>
                </a:solidFill>
              </a:rPr>
              <a:t>124</a:t>
            </a:r>
            <a:endParaRPr sz="2800"/>
          </a:p>
        </p:txBody>
      </p:sp>
      <p:sp>
        <p:nvSpPr>
          <p:cNvPr id="12" name="Text 9">
            <a:extLst xmlns:a="http://schemas.openxmlformats.org/drawingml/2006/main">
              <a:ext uri="{FF2B5EF4-FFF2-40B4-BE49-F238E27FC236}">
                <a16:creationId xmlns:a16="http://schemas.microsoft.com/office/drawing/2014/main" id="{A657204A-7E3A-4595-8983-5D759530F426}"/>
              </a:ext>
            </a:extLst>
          </p:cNvPr>
          <p:cNvSpPr>
            <a:spLocks xmlns:a="http://schemas.openxmlformats.org/drawingml/2006/main" noGrp="1"/>
          </p:cNvSpPr>
          <p:nvPr/>
        </p:nvSpPr>
        <p:spPr>
          <a:xfrm xmlns:a="http://schemas.openxmlformats.org/drawingml/2006/main">
            <a:off x="6583680" y="2560320"/>
            <a:ext cx="1920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tx1"/>
                </a:solidFill>
              </a:rPr>
              <a:t>shirts called Pullover</a:t>
            </a:r>
            <a:endParaRPr sz="1200"/>
          </a:p>
        </p:txBody>
      </p:sp>
      <p:sp>
        <p:nvSpPr>
          <p:cNvPr id="13" name="Mix-up pullovers called Coat">
            <a:extLst xmlns:a="http://schemas.openxmlformats.org/drawingml/2006/main">
              <a:ext uri="{FF2B5EF4-FFF2-40B4-BE49-F238E27FC236}">
                <a16:creationId xmlns:a16="http://schemas.microsoft.com/office/drawing/2014/main" id="{23F61F95-3E81-4220-B3FC-FADE39C5560F}"/>
              </a:ext>
            </a:extLst>
          </p:cNvPr>
          <p:cNvSpPr>
            <a:spLocks xmlns:a="http://schemas.openxmlformats.org/drawingml/2006/main" noGrp="1"/>
          </p:cNvSpPr>
          <p:nvPr/>
        </p:nvSpPr>
        <p:spPr>
          <a:xfrm xmlns:a="http://schemas.openxmlformats.org/drawingml/2006/main">
            <a:off x="5577840" y="3474720"/>
            <a:ext cx="3017520" cy="777240"/>
          </a:xfrm>
          <a:prstGeom xmlns:a="http://schemas.openxmlformats.org/drawingml/2006/main" prst="roundRect">
            <a:avLst>
              <a:gd name="adj" fmla="val 18824"/>
            </a:avLst>
          </a:prstGeom>
          <a:solidFill xmlns:a="http://schemas.openxmlformats.org/drawingml/2006/main">
            <a:schemeClr val="accent3"/>
          </a:solidFill>
          <a:ln xmlns:a="http://schemas.openxmlformats.org/drawingml/2006/main" w="12700">
            <a:solidFill>
              <a:schemeClr val="accent3"/>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4" name="Text 11">
            <a:extLst xmlns:a="http://schemas.openxmlformats.org/drawingml/2006/main">
              <a:ext uri="{FF2B5EF4-FFF2-40B4-BE49-F238E27FC236}">
                <a16:creationId xmlns:a16="http://schemas.microsoft.com/office/drawing/2014/main" id="{268BFAC2-DEE0-4ABD-AF2D-B0D1F9A9811E}"/>
              </a:ext>
            </a:extLst>
          </p:cNvPr>
          <p:cNvSpPr>
            <a:spLocks xmlns:a="http://schemas.openxmlformats.org/drawingml/2006/main" noGrp="1"/>
          </p:cNvSpPr>
          <p:nvPr/>
        </p:nvSpPr>
        <p:spPr>
          <a:xfrm xmlns:a="http://schemas.openxmlformats.org/drawingml/2006/main">
            <a:off x="5760720" y="3474720"/>
            <a:ext cx="822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chemeClr val="tx2"/>
                </a:solidFill>
              </a:rPr>
              <a:t>116</a:t>
            </a:r>
            <a:endParaRPr sz="2800"/>
          </a:p>
        </p:txBody>
      </p:sp>
      <p:sp>
        <p:nvSpPr>
          <p:cNvPr id="15" name="Text 12">
            <a:extLst xmlns:a="http://schemas.openxmlformats.org/drawingml/2006/main">
              <a:ext uri="{FF2B5EF4-FFF2-40B4-BE49-F238E27FC236}">
                <a16:creationId xmlns:a16="http://schemas.microsoft.com/office/drawing/2014/main" id="{25D3373F-B59E-415C-A2A1-BCE33F486204}"/>
              </a:ext>
            </a:extLst>
          </p:cNvPr>
          <p:cNvSpPr>
            <a:spLocks xmlns:a="http://schemas.openxmlformats.org/drawingml/2006/main" noGrp="1"/>
          </p:cNvSpPr>
          <p:nvPr/>
        </p:nvSpPr>
        <p:spPr>
          <a:xfrm xmlns:a="http://schemas.openxmlformats.org/drawingml/2006/main">
            <a:off x="6583680" y="3474720"/>
            <a:ext cx="1920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tx1"/>
                </a:solidFill>
              </a:rPr>
              <a:t>pullovers called Coat</a:t>
            </a:r>
            <a:endParaRPr sz="1200"/>
          </a:p>
        </p:txBody>
      </p:sp>
      <p:sp>
        <p:nvSpPr>
          <p:cNvPr id="25" name="Slide Number Placeholder 0">
            <a:extLst xmlns:a="http://schemas.openxmlformats.org/drawingml/2006/main">
              <a:ext uri="{FF2B5EF4-FFF2-40B4-BE49-F238E27FC236}">
                <a16:creationId xmlns:a16="http://schemas.microsoft.com/office/drawing/2014/main" id="{0EECC6EF-B330-47B7-82D5-B67519095ED2}"/>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6"/>
                </a:solidFill>
              </a:defRPr>
            </a:lvl1pPr>
          </a:lstStyle>
          <a:p xmlns:a="http://schemas.openxmlformats.org/drawingml/2006/main">
            <a:pPr algn="l">
              <a:buNone/>
            </a:pPr>
            <a:fld id="{F7021451-1387-4CA6-816F-3879F97B5CBC}" type="slidenum">
              <a:rPr b="0"/>
              <a:t>7</a:t>
            </a:fld>
            <a:endParaRPr/>
          </a:p>
        </p:txBody>
      </p:sp>
    </p:spTree>
    <p:extLst>
      <p:ext uri="{BB962C8B-B14F-4D97-AF65-F5344CB8AC3E}">
        <p14:creationId xmlns:p14="http://schemas.microsoft.com/office/powerpoint/2010/main" val="83823759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631F1A-9FE0-432B-9AB9-E4DF0F5F286C}"/>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400" b="1">
                <a:solidFill>
                  <a:schemeClr val="tx1"/>
                </a:solidFill>
              </a:rPr>
              <a:t>Try it in the dashboard</a:t>
            </a:r>
            <a:endParaRPr sz="3400"/>
          </a:p>
        </p:txBody>
      </p:sp>
      <p:sp>
        <p:nvSpPr>
          <p:cNvPr id="3" name="Step 1">
            <a:extLst xmlns:a="http://schemas.openxmlformats.org/drawingml/2006/main">
              <a:ext uri="{FF2B5EF4-FFF2-40B4-BE49-F238E27FC236}">
                <a16:creationId xmlns:a16="http://schemas.microsoft.com/office/drawing/2014/main" id="{8A85E4F1-E3CF-4B75-A7D1-E03AF0E1911F}"/>
              </a:ext>
            </a:extLst>
          </p:cNvPr>
          <p:cNvSpPr>
            <a:spLocks xmlns:a="http://schemas.openxmlformats.org/drawingml/2006/main" noGrp="1"/>
          </p:cNvSpPr>
          <p:nvPr/>
        </p:nvSpPr>
        <p:spPr>
          <a:xfrm xmlns:a="http://schemas.openxmlformats.org/drawingml/2006/main">
            <a:off x="548640" y="1188720"/>
            <a:ext cx="1874520" cy="2286000"/>
          </a:xfrm>
          <a:prstGeom xmlns:a="http://schemas.openxmlformats.org/drawingml/2006/main" prst="roundRect">
            <a:avLst>
              <a:gd name="adj" fmla="val 7805"/>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4" name="Number 1">
            <a:extLst xmlns:a="http://schemas.openxmlformats.org/drawingml/2006/main">
              <a:ext uri="{FF2B5EF4-FFF2-40B4-BE49-F238E27FC236}">
                <a16:creationId xmlns:a16="http://schemas.microsoft.com/office/drawing/2014/main" id="{8B86FE66-D704-45F0-B21F-42746625ABAB}"/>
              </a:ext>
            </a:extLst>
          </p:cNvPr>
          <p:cNvSpPr>
            <a:spLocks xmlns:a="http://schemas.openxmlformats.org/drawingml/2006/main" noGrp="1"/>
          </p:cNvSpPr>
          <p:nvPr/>
        </p:nvSpPr>
        <p:spPr>
          <a:xfrm xmlns:a="http://schemas.openxmlformats.org/drawingml/2006/main">
            <a:off x="731520" y="137160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5" name="Text 3">
            <a:extLst xmlns:a="http://schemas.openxmlformats.org/drawingml/2006/main">
              <a:ext uri="{FF2B5EF4-FFF2-40B4-BE49-F238E27FC236}">
                <a16:creationId xmlns:a16="http://schemas.microsoft.com/office/drawing/2014/main" id="{ECFEC375-9C05-4B35-BEB4-D35EFE6287AB}"/>
              </a:ext>
            </a:extLst>
          </p:cNvPr>
          <p:cNvSpPr>
            <a:spLocks xmlns:a="http://schemas.openxmlformats.org/drawingml/2006/main" noGrp="1"/>
          </p:cNvSpPr>
          <p:nvPr/>
        </p:nvSpPr>
        <p:spPr>
          <a:xfrm xmlns:a="http://schemas.openxmlformats.org/drawingml/2006/main">
            <a:off x="731520" y="137160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1</a:t>
            </a:r>
            <a:endParaRPr sz="1500"/>
          </a:p>
        </p:txBody>
      </p:sp>
      <p:sp>
        <p:nvSpPr>
          <p:cNvPr id="6" name="Text 4">
            <a:extLst xmlns:a="http://schemas.openxmlformats.org/drawingml/2006/main">
              <a:ext uri="{FF2B5EF4-FFF2-40B4-BE49-F238E27FC236}">
                <a16:creationId xmlns:a16="http://schemas.microsoft.com/office/drawing/2014/main" id="{1DE3C2F2-19F8-4CB8-A7B7-BBBFF48B50B3}"/>
              </a:ext>
            </a:extLst>
          </p:cNvPr>
          <p:cNvSpPr>
            <a:spLocks xmlns:a="http://schemas.openxmlformats.org/drawingml/2006/main" noGrp="1"/>
          </p:cNvSpPr>
          <p:nvPr/>
        </p:nvSpPr>
        <p:spPr>
          <a:xfrm xmlns:a="http://schemas.openxmlformats.org/drawingml/2006/main">
            <a:off x="731520" y="1965960"/>
            <a:ext cx="1554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chemeClr val="tx1"/>
                </a:solidFill>
              </a:rPr>
              <a:t>Pick an image</a:t>
            </a:r>
            <a:endParaRPr sz="1500"/>
          </a:p>
        </p:txBody>
      </p:sp>
      <p:sp>
        <p:nvSpPr>
          <p:cNvPr id="7" name="Text 5">
            <a:extLst xmlns:a="http://schemas.openxmlformats.org/drawingml/2006/main">
              <a:ext uri="{FF2B5EF4-FFF2-40B4-BE49-F238E27FC236}">
                <a16:creationId xmlns:a16="http://schemas.microsoft.com/office/drawing/2014/main" id="{FEBC653C-8CA2-46B5-AEB2-7CA675C2D030}"/>
              </a:ext>
            </a:extLst>
          </p:cNvPr>
          <p:cNvSpPr>
            <a:spLocks xmlns:a="http://schemas.openxmlformats.org/drawingml/2006/main" noGrp="1"/>
          </p:cNvSpPr>
          <p:nvPr/>
        </p:nvSpPr>
        <p:spPr>
          <a:xfrm xmlns:a="http://schemas.openxmlformats.org/drawingml/2006/main">
            <a:off x="731520" y="2423160"/>
            <a:ext cx="15544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Use a built-in sample or upload your own clothing photo.</a:t>
            </a:r>
            <a:endParaRPr sz="1200"/>
          </a:p>
        </p:txBody>
      </p:sp>
      <p:sp>
        <p:nvSpPr>
          <p:cNvPr id="8" name="Text 6">
            <a:extLst xmlns:a="http://schemas.openxmlformats.org/drawingml/2006/main">
              <a:ext uri="{FF2B5EF4-FFF2-40B4-BE49-F238E27FC236}">
                <a16:creationId xmlns:a16="http://schemas.microsoft.com/office/drawing/2014/main" id="{9816A384-85B7-40CA-A694-B8C95D1F6839}"/>
              </a:ext>
            </a:extLst>
          </p:cNvPr>
          <p:cNvSpPr>
            <a:spLocks xmlns:a="http://schemas.openxmlformats.org/drawingml/2006/main" noGrp="1"/>
          </p:cNvSpPr>
          <p:nvPr/>
        </p:nvSpPr>
        <p:spPr>
          <a:xfrm xmlns:a="http://schemas.openxmlformats.org/drawingml/2006/main">
            <a:off x="2423160" y="2194560"/>
            <a:ext cx="182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a:solidFill>
                  <a:schemeClr val="accent4"/>
                </a:solidFill>
              </a:rPr>
              <a:t>→</a:t>
            </a:r>
            <a:endParaRPr sz="1400"/>
          </a:p>
        </p:txBody>
      </p:sp>
      <p:sp>
        <p:nvSpPr>
          <p:cNvPr id="9" name="Step 2">
            <a:extLst xmlns:a="http://schemas.openxmlformats.org/drawingml/2006/main">
              <a:ext uri="{FF2B5EF4-FFF2-40B4-BE49-F238E27FC236}">
                <a16:creationId xmlns:a16="http://schemas.microsoft.com/office/drawing/2014/main" id="{45EA4209-38B8-4E29-A864-0919D449A5CE}"/>
              </a:ext>
            </a:extLst>
          </p:cNvPr>
          <p:cNvSpPr>
            <a:spLocks xmlns:a="http://schemas.openxmlformats.org/drawingml/2006/main" noGrp="1"/>
          </p:cNvSpPr>
          <p:nvPr/>
        </p:nvSpPr>
        <p:spPr>
          <a:xfrm xmlns:a="http://schemas.openxmlformats.org/drawingml/2006/main">
            <a:off x="2606040" y="1188720"/>
            <a:ext cx="1874520" cy="2286000"/>
          </a:xfrm>
          <a:prstGeom xmlns:a="http://schemas.openxmlformats.org/drawingml/2006/main" prst="roundRect">
            <a:avLst>
              <a:gd name="adj" fmla="val 7805"/>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0" name="Number 2">
            <a:extLst xmlns:a="http://schemas.openxmlformats.org/drawingml/2006/main">
              <a:ext uri="{FF2B5EF4-FFF2-40B4-BE49-F238E27FC236}">
                <a16:creationId xmlns:a16="http://schemas.microsoft.com/office/drawing/2014/main" id="{250F6B3F-BBC2-4637-A6FD-22BC3AB22F5A}"/>
              </a:ext>
            </a:extLst>
          </p:cNvPr>
          <p:cNvSpPr>
            <a:spLocks xmlns:a="http://schemas.openxmlformats.org/drawingml/2006/main" noGrp="1"/>
          </p:cNvSpPr>
          <p:nvPr/>
        </p:nvSpPr>
        <p:spPr>
          <a:xfrm xmlns:a="http://schemas.openxmlformats.org/drawingml/2006/main">
            <a:off x="2788920" y="137160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11" name="Text 9">
            <a:extLst xmlns:a="http://schemas.openxmlformats.org/drawingml/2006/main">
              <a:ext uri="{FF2B5EF4-FFF2-40B4-BE49-F238E27FC236}">
                <a16:creationId xmlns:a16="http://schemas.microsoft.com/office/drawing/2014/main" id="{C975AD9D-2CEE-4AAC-BC9A-939057EE65EB}"/>
              </a:ext>
            </a:extLst>
          </p:cNvPr>
          <p:cNvSpPr>
            <a:spLocks xmlns:a="http://schemas.openxmlformats.org/drawingml/2006/main" noGrp="1"/>
          </p:cNvSpPr>
          <p:nvPr/>
        </p:nvSpPr>
        <p:spPr>
          <a:xfrm xmlns:a="http://schemas.openxmlformats.org/drawingml/2006/main">
            <a:off x="2788920" y="137160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2</a:t>
            </a:r>
            <a:endParaRPr sz="1500"/>
          </a:p>
        </p:txBody>
      </p:sp>
      <p:sp>
        <p:nvSpPr>
          <p:cNvPr id="12" name="Text 10">
            <a:extLst xmlns:a="http://schemas.openxmlformats.org/drawingml/2006/main">
              <a:ext uri="{FF2B5EF4-FFF2-40B4-BE49-F238E27FC236}">
                <a16:creationId xmlns:a16="http://schemas.microsoft.com/office/drawing/2014/main" id="{FE1368C3-9CC3-475E-9719-1FD53CC8145B}"/>
              </a:ext>
            </a:extLst>
          </p:cNvPr>
          <p:cNvSpPr>
            <a:spLocks xmlns:a="http://schemas.openxmlformats.org/drawingml/2006/main" noGrp="1"/>
          </p:cNvSpPr>
          <p:nvPr/>
        </p:nvSpPr>
        <p:spPr>
          <a:xfrm xmlns:a="http://schemas.openxmlformats.org/drawingml/2006/main">
            <a:off x="2788920" y="1965960"/>
            <a:ext cx="1554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chemeClr val="tx1"/>
                </a:solidFill>
              </a:rPr>
              <a:t>Choose a model</a:t>
            </a:r>
            <a:endParaRPr sz="1500"/>
          </a:p>
        </p:txBody>
      </p:sp>
      <p:sp>
        <p:nvSpPr>
          <p:cNvPr id="13" name="Text 11">
            <a:extLst xmlns:a="http://schemas.openxmlformats.org/drawingml/2006/main">
              <a:ext uri="{FF2B5EF4-FFF2-40B4-BE49-F238E27FC236}">
                <a16:creationId xmlns:a16="http://schemas.microsoft.com/office/drawing/2014/main" id="{740AD1BC-4140-421F-94F8-9F738E7240A1}"/>
              </a:ext>
            </a:extLst>
          </p:cNvPr>
          <p:cNvSpPr>
            <a:spLocks xmlns:a="http://schemas.openxmlformats.org/drawingml/2006/main" noGrp="1"/>
          </p:cNvSpPr>
          <p:nvPr/>
        </p:nvSpPr>
        <p:spPr>
          <a:xfrm xmlns:a="http://schemas.openxmlformats.org/drawingml/2006/main">
            <a:off x="2788920" y="2423160"/>
            <a:ext cx="15544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Default is Pixels + Random Forest. Switch it in settings.</a:t>
            </a:r>
            <a:endParaRPr sz="1200"/>
          </a:p>
        </p:txBody>
      </p:sp>
      <p:sp>
        <p:nvSpPr>
          <p:cNvPr id="14" name="Text 12">
            <a:extLst xmlns:a="http://schemas.openxmlformats.org/drawingml/2006/main">
              <a:ext uri="{FF2B5EF4-FFF2-40B4-BE49-F238E27FC236}">
                <a16:creationId xmlns:a16="http://schemas.microsoft.com/office/drawing/2014/main" id="{F790E968-532C-487D-8E2B-EA70ED6ACCC2}"/>
              </a:ext>
            </a:extLst>
          </p:cNvPr>
          <p:cNvSpPr>
            <a:spLocks xmlns:a="http://schemas.openxmlformats.org/drawingml/2006/main" noGrp="1"/>
          </p:cNvSpPr>
          <p:nvPr/>
        </p:nvSpPr>
        <p:spPr>
          <a:xfrm xmlns:a="http://schemas.openxmlformats.org/drawingml/2006/main">
            <a:off x="4480560" y="2194560"/>
            <a:ext cx="182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a:solidFill>
                  <a:schemeClr val="accent4"/>
                </a:solidFill>
              </a:rPr>
              <a:t>→</a:t>
            </a:r>
            <a:endParaRPr sz="1400"/>
          </a:p>
        </p:txBody>
      </p:sp>
      <p:sp>
        <p:nvSpPr>
          <p:cNvPr id="15" name="Step 3">
            <a:extLst xmlns:a="http://schemas.openxmlformats.org/drawingml/2006/main">
              <a:ext uri="{FF2B5EF4-FFF2-40B4-BE49-F238E27FC236}">
                <a16:creationId xmlns:a16="http://schemas.microsoft.com/office/drawing/2014/main" id="{E4329606-AB62-4072-BC17-5489CB3B31B1}"/>
              </a:ext>
            </a:extLst>
          </p:cNvPr>
          <p:cNvSpPr>
            <a:spLocks xmlns:a="http://schemas.openxmlformats.org/drawingml/2006/main" noGrp="1"/>
          </p:cNvSpPr>
          <p:nvPr/>
        </p:nvSpPr>
        <p:spPr>
          <a:xfrm xmlns:a="http://schemas.openxmlformats.org/drawingml/2006/main">
            <a:off x="4663440" y="1188720"/>
            <a:ext cx="1874520" cy="2286000"/>
          </a:xfrm>
          <a:prstGeom xmlns:a="http://schemas.openxmlformats.org/drawingml/2006/main" prst="roundRect">
            <a:avLst>
              <a:gd name="adj" fmla="val 7805"/>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6" name="Number 3">
            <a:extLst xmlns:a="http://schemas.openxmlformats.org/drawingml/2006/main">
              <a:ext uri="{FF2B5EF4-FFF2-40B4-BE49-F238E27FC236}">
                <a16:creationId xmlns:a16="http://schemas.microsoft.com/office/drawing/2014/main" id="{4F5537CC-7C86-4212-8B22-1A8B722D540B}"/>
              </a:ext>
            </a:extLst>
          </p:cNvPr>
          <p:cNvSpPr>
            <a:spLocks xmlns:a="http://schemas.openxmlformats.org/drawingml/2006/main" noGrp="1"/>
          </p:cNvSpPr>
          <p:nvPr/>
        </p:nvSpPr>
        <p:spPr>
          <a:xfrm xmlns:a="http://schemas.openxmlformats.org/drawingml/2006/main">
            <a:off x="4846320" y="137160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17" name="Text 15">
            <a:extLst xmlns:a="http://schemas.openxmlformats.org/drawingml/2006/main">
              <a:ext uri="{FF2B5EF4-FFF2-40B4-BE49-F238E27FC236}">
                <a16:creationId xmlns:a16="http://schemas.microsoft.com/office/drawing/2014/main" id="{D2102261-CF5F-4766-A01B-26BC665E0FBF}"/>
              </a:ext>
            </a:extLst>
          </p:cNvPr>
          <p:cNvSpPr>
            <a:spLocks xmlns:a="http://schemas.openxmlformats.org/drawingml/2006/main" noGrp="1"/>
          </p:cNvSpPr>
          <p:nvPr/>
        </p:nvSpPr>
        <p:spPr>
          <a:xfrm xmlns:a="http://schemas.openxmlformats.org/drawingml/2006/main">
            <a:off x="4846320" y="137160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3</a:t>
            </a:r>
            <a:endParaRPr sz="1500"/>
          </a:p>
        </p:txBody>
      </p:sp>
      <p:sp>
        <p:nvSpPr>
          <p:cNvPr id="18" name="Text 16">
            <a:extLst xmlns:a="http://schemas.openxmlformats.org/drawingml/2006/main">
              <a:ext uri="{FF2B5EF4-FFF2-40B4-BE49-F238E27FC236}">
                <a16:creationId xmlns:a16="http://schemas.microsoft.com/office/drawing/2014/main" id="{4AD27375-9670-4C05-B340-97A20141B36F}"/>
              </a:ext>
            </a:extLst>
          </p:cNvPr>
          <p:cNvSpPr>
            <a:spLocks xmlns:a="http://schemas.openxmlformats.org/drawingml/2006/main" noGrp="1"/>
          </p:cNvSpPr>
          <p:nvPr/>
        </p:nvSpPr>
        <p:spPr>
          <a:xfrm xmlns:a="http://schemas.openxmlformats.org/drawingml/2006/main">
            <a:off x="4846320" y="1965960"/>
            <a:ext cx="1554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chemeClr val="tx1"/>
                </a:solidFill>
              </a:rPr>
              <a:t>Quick preview</a:t>
            </a:r>
            <a:endParaRPr sz="1500"/>
          </a:p>
        </p:txBody>
      </p:sp>
      <p:sp>
        <p:nvSpPr>
          <p:cNvPr id="19" name="Text 17">
            <a:extLst xmlns:a="http://schemas.openxmlformats.org/drawingml/2006/main">
              <a:ext uri="{FF2B5EF4-FFF2-40B4-BE49-F238E27FC236}">
                <a16:creationId xmlns:a16="http://schemas.microsoft.com/office/drawing/2014/main" id="{A8728372-0B0C-498E-A2CA-F85BF9E8DDC0}"/>
              </a:ext>
            </a:extLst>
          </p:cNvPr>
          <p:cNvSpPr>
            <a:spLocks xmlns:a="http://schemas.openxmlformats.org/drawingml/2006/main" noGrp="1"/>
          </p:cNvSpPr>
          <p:nvPr/>
        </p:nvSpPr>
        <p:spPr>
          <a:xfrm xmlns:a="http://schemas.openxmlformats.org/drawingml/2006/main">
            <a:off x="4846320" y="2423160"/>
            <a:ext cx="15544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See the 28 × 28 version the model actually looks at.</a:t>
            </a:r>
            <a:endParaRPr sz="1200"/>
          </a:p>
        </p:txBody>
      </p:sp>
      <p:sp>
        <p:nvSpPr>
          <p:cNvPr id="20" name="Text 18">
            <a:extLst xmlns:a="http://schemas.openxmlformats.org/drawingml/2006/main">
              <a:ext uri="{FF2B5EF4-FFF2-40B4-BE49-F238E27FC236}">
                <a16:creationId xmlns:a16="http://schemas.microsoft.com/office/drawing/2014/main" id="{3961E292-1D22-4AEB-8F9B-9508A8957F6A}"/>
              </a:ext>
            </a:extLst>
          </p:cNvPr>
          <p:cNvSpPr>
            <a:spLocks xmlns:a="http://schemas.openxmlformats.org/drawingml/2006/main" noGrp="1"/>
          </p:cNvSpPr>
          <p:nvPr/>
        </p:nvSpPr>
        <p:spPr>
          <a:xfrm xmlns:a="http://schemas.openxmlformats.org/drawingml/2006/main">
            <a:off x="6537960" y="2194560"/>
            <a:ext cx="182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a:solidFill>
                  <a:schemeClr val="accent4"/>
                </a:solidFill>
              </a:rPr>
              <a:t>→</a:t>
            </a:r>
            <a:endParaRPr sz="1400"/>
          </a:p>
        </p:txBody>
      </p:sp>
      <p:sp>
        <p:nvSpPr>
          <p:cNvPr id="21" name="Step 4">
            <a:extLst xmlns:a="http://schemas.openxmlformats.org/drawingml/2006/main">
              <a:ext uri="{FF2B5EF4-FFF2-40B4-BE49-F238E27FC236}">
                <a16:creationId xmlns:a16="http://schemas.microsoft.com/office/drawing/2014/main" id="{D41905EB-9084-491A-8CF7-3961118AD362}"/>
              </a:ext>
            </a:extLst>
          </p:cNvPr>
          <p:cNvSpPr>
            <a:spLocks xmlns:a="http://schemas.openxmlformats.org/drawingml/2006/main" noGrp="1"/>
          </p:cNvSpPr>
          <p:nvPr/>
        </p:nvSpPr>
        <p:spPr>
          <a:xfrm xmlns:a="http://schemas.openxmlformats.org/drawingml/2006/main">
            <a:off x="6720840" y="1188720"/>
            <a:ext cx="1874520" cy="2286000"/>
          </a:xfrm>
          <a:prstGeom xmlns:a="http://schemas.openxmlformats.org/drawingml/2006/main" prst="roundRect">
            <a:avLst>
              <a:gd name="adj" fmla="val 7805"/>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22" name="Number 4">
            <a:extLst xmlns:a="http://schemas.openxmlformats.org/drawingml/2006/main">
              <a:ext uri="{FF2B5EF4-FFF2-40B4-BE49-F238E27FC236}">
                <a16:creationId xmlns:a16="http://schemas.microsoft.com/office/drawing/2014/main" id="{93682E3E-FA22-493D-8F9E-DC16CF27B5DA}"/>
              </a:ext>
            </a:extLst>
          </p:cNvPr>
          <p:cNvSpPr>
            <a:spLocks xmlns:a="http://schemas.openxmlformats.org/drawingml/2006/main" noGrp="1"/>
          </p:cNvSpPr>
          <p:nvPr/>
        </p:nvSpPr>
        <p:spPr>
          <a:xfrm xmlns:a="http://schemas.openxmlformats.org/drawingml/2006/main">
            <a:off x="6903720" y="137160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23" name="Text 21">
            <a:extLst xmlns:a="http://schemas.openxmlformats.org/drawingml/2006/main">
              <a:ext uri="{FF2B5EF4-FFF2-40B4-BE49-F238E27FC236}">
                <a16:creationId xmlns:a16="http://schemas.microsoft.com/office/drawing/2014/main" id="{D57327F2-9EB5-4D23-A108-4D25213DAA35}"/>
              </a:ext>
            </a:extLst>
          </p:cNvPr>
          <p:cNvSpPr>
            <a:spLocks xmlns:a="http://schemas.openxmlformats.org/drawingml/2006/main" noGrp="1"/>
          </p:cNvSpPr>
          <p:nvPr/>
        </p:nvSpPr>
        <p:spPr>
          <a:xfrm xmlns:a="http://schemas.openxmlformats.org/drawingml/2006/main">
            <a:off x="6903720" y="137160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4</a:t>
            </a:r>
            <a:endParaRPr sz="1500"/>
          </a:p>
        </p:txBody>
      </p:sp>
      <p:sp>
        <p:nvSpPr>
          <p:cNvPr id="24" name="Text 22">
            <a:extLst xmlns:a="http://schemas.openxmlformats.org/drawingml/2006/main">
              <a:ext uri="{FF2B5EF4-FFF2-40B4-BE49-F238E27FC236}">
                <a16:creationId xmlns:a16="http://schemas.microsoft.com/office/drawing/2014/main" id="{A00F7FBF-9516-4A38-8616-8EB7B8E3A3C6}"/>
              </a:ext>
            </a:extLst>
          </p:cNvPr>
          <p:cNvSpPr>
            <a:spLocks xmlns:a="http://schemas.openxmlformats.org/drawingml/2006/main" noGrp="1"/>
          </p:cNvSpPr>
          <p:nvPr/>
        </p:nvSpPr>
        <p:spPr>
          <a:xfrm xmlns:a="http://schemas.openxmlformats.org/drawingml/2006/main">
            <a:off x="6903720" y="1965960"/>
            <a:ext cx="1554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chemeClr val="tx1"/>
                </a:solidFill>
              </a:rPr>
              <a:t>Get a prediction</a:t>
            </a:r>
            <a:endParaRPr sz="1500"/>
          </a:p>
        </p:txBody>
      </p:sp>
      <p:sp>
        <p:nvSpPr>
          <p:cNvPr id="25" name="Text 23">
            <a:extLst xmlns:a="http://schemas.openxmlformats.org/drawingml/2006/main">
              <a:ext uri="{FF2B5EF4-FFF2-40B4-BE49-F238E27FC236}">
                <a16:creationId xmlns:a16="http://schemas.microsoft.com/office/drawing/2014/main" id="{B0F10C24-3CC8-4532-AB92-8FC9C63CE49C}"/>
              </a:ext>
            </a:extLst>
          </p:cNvPr>
          <p:cNvSpPr>
            <a:spLocks xmlns:a="http://schemas.openxmlformats.org/drawingml/2006/main" noGrp="1"/>
          </p:cNvSpPr>
          <p:nvPr/>
        </p:nvSpPr>
        <p:spPr>
          <a:xfrm xmlns:a="http://schemas.openxmlformats.org/drawingml/2006/main">
            <a:off x="6903720" y="2423160"/>
            <a:ext cx="15544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6"/>
                </a:solidFill>
              </a:rPr>
              <a:t>The category shows up with the prediction time.</a:t>
            </a:r>
            <a:endParaRPr sz="1200"/>
          </a:p>
        </p:txBody>
      </p:sp>
      <p:sp>
        <p:nvSpPr>
          <p:cNvPr id="26" name="Pill inventory-image-tagging.streamlit.app">
            <a:extLst xmlns:a="http://schemas.openxmlformats.org/drawingml/2006/main">
              <a:ext uri="{FF2B5EF4-FFF2-40B4-BE49-F238E27FC236}">
                <a16:creationId xmlns:a16="http://schemas.microsoft.com/office/drawing/2014/main" id="{1EBFBCEC-3F24-4E80-81C9-D2ADA8BABB44}"/>
              </a:ext>
            </a:extLst>
          </p:cNvPr>
          <p:cNvSpPr>
            <a:spLocks xmlns:a="http://schemas.openxmlformats.org/drawingml/2006/main" noGrp="1"/>
          </p:cNvSpPr>
          <p:nvPr/>
        </p:nvSpPr>
        <p:spPr>
          <a:xfrm xmlns:a="http://schemas.openxmlformats.org/drawingml/2006/main">
            <a:off x="548640" y="3749040"/>
            <a:ext cx="3840480" cy="411480"/>
          </a:xfrm>
          <a:prstGeom xmlns:a="http://schemas.openxmlformats.org/drawingml/2006/main" prst="roundRect">
            <a:avLst>
              <a:gd name="adj" fmla="val 50000"/>
            </a:avLst>
          </a:prstGeom>
          <a:solidFill xmlns:a="http://schemas.openxmlformats.org/drawingml/2006/main">
            <a:schemeClr val="tx2"/>
          </a:solidFill>
          <a:ln xmlns:a="http://schemas.openxmlformats.org/drawingml/2006/main" w="12700">
            <a:solidFill>
              <a:schemeClr val="tx2"/>
            </a:solidFill>
            <a:prstDash val="solid"/>
          </a:ln>
        </p:spPr>
      </p:sp>
      <p:sp>
        <p:nvSpPr>
          <p:cNvPr id="27" name="Text 25">
            <a:extLst xmlns:a="http://schemas.openxmlformats.org/drawingml/2006/main">
              <a:ext uri="{FF2B5EF4-FFF2-40B4-BE49-F238E27FC236}">
                <a16:creationId xmlns:a16="http://schemas.microsoft.com/office/drawing/2014/main" id="{0F1CE82E-CD1E-420C-9FB1-2D139D0C8B37}"/>
              </a:ext>
            </a:extLst>
          </p:cNvPr>
          <p:cNvSpPr>
            <a:spLocks xmlns:a="http://schemas.openxmlformats.org/drawingml/2006/main" noGrp="1"/>
          </p:cNvSpPr>
          <p:nvPr/>
        </p:nvSpPr>
        <p:spPr>
          <a:xfrm xmlns:a="http://schemas.openxmlformats.org/drawingml/2006/main">
            <a:off x="548640" y="3749040"/>
            <a:ext cx="3840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chemeClr val="bg1"/>
                </a:solidFill>
              </a:rPr>
              <a:t>inventory-image-tagging.streamlit.app</a:t>
            </a:r>
            <a:endParaRPr sz="1300"/>
          </a:p>
        </p:txBody>
      </p:sp>
      <p:sp>
        <p:nvSpPr>
          <p:cNvPr id="28" name="Text 26">
            <a:extLst xmlns:a="http://schemas.openxmlformats.org/drawingml/2006/main">
              <a:ext uri="{FF2B5EF4-FFF2-40B4-BE49-F238E27FC236}">
                <a16:creationId xmlns:a16="http://schemas.microsoft.com/office/drawing/2014/main" id="{0AF31BF5-5199-4274-8F44-733111295856}"/>
              </a:ext>
            </a:extLst>
          </p:cNvPr>
          <p:cNvSpPr>
            <a:spLocks xmlns:a="http://schemas.openxmlformats.org/drawingml/2006/main" noGrp="1"/>
          </p:cNvSpPr>
          <p:nvPr/>
        </p:nvSpPr>
        <p:spPr>
          <a:xfrm xmlns:a="http://schemas.openxmlformats.org/drawingml/2006/main">
            <a:off x="4572000" y="3703320"/>
            <a:ext cx="4023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accent6"/>
                </a:solidFill>
              </a:rPr>
              <a:t>Ordinary photos are experimental. Only the 28 × 28 benchmark images have measured accuracy.</a:t>
            </a:r>
            <a:endParaRPr sz="1200"/>
          </a:p>
        </p:txBody>
      </p:sp>
      <p:sp>
        <p:nvSpPr>
          <p:cNvPr id="29" name="Slide Number Placeholder 0">
            <a:extLst xmlns:a="http://schemas.openxmlformats.org/drawingml/2006/main">
              <a:ext uri="{FF2B5EF4-FFF2-40B4-BE49-F238E27FC236}">
                <a16:creationId xmlns:a16="http://schemas.microsoft.com/office/drawing/2014/main" id="{231C0AC2-5DFF-4F97-B291-550B900FC6BA}"/>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6"/>
                </a:solidFill>
              </a:defRPr>
            </a:lvl1pPr>
          </a:lstStyle>
          <a:p xmlns:a="http://schemas.openxmlformats.org/drawingml/2006/main">
            <a:pPr algn="l">
              <a:buNone/>
            </a:pPr>
            <a:fld id="{F7021451-1387-4CA6-816F-3879F97B5CBC}" type="slidenum">
              <a:rPr b="0"/>
              <a:t>8</a:t>
            </a:fld>
            <a:endParaRPr/>
          </a:p>
        </p:txBody>
      </p:sp>
    </p:spTree>
    <p:extLst>
      <p:ext uri="{BB962C8B-B14F-4D97-AF65-F5344CB8AC3E}">
        <p14:creationId xmlns:p14="http://schemas.microsoft.com/office/powerpoint/2010/main" val="55630171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B3F20FE-4D34-4B90-AAB0-65E5A76A649F}"/>
              </a:ext>
            </a:extLst>
          </p:cNvPr>
          <p:cNvSpPr>
            <a:spLocks xmlns:a="http://schemas.openxmlformats.org/drawingml/2006/main" noGrp="1"/>
          </p:cNvSpPr>
          <p:nvPr>
            <p:ph type="title" idx="100" hasCustomPrompt="1"/>
          </p:nvPr>
        </p:nvSpPr>
        <p:spPr>
          <a:xfrm xmlns:a="http://schemas.openxmlformats.org/drawingml/2006/main">
            <a:off x="548640" y="36576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400" b="1">
                <a:solidFill>
                  <a:schemeClr val="bg1"/>
                </a:solidFill>
              </a:rPr>
              <a:t>What we learned, what's next</a:t>
            </a:r>
            <a:endParaRPr sz="3400"/>
          </a:p>
        </p:txBody>
      </p:sp>
      <p:sp>
        <p:nvSpPr>
          <p:cNvPr id="3" name="What we learned">
            <a:extLst xmlns:a="http://schemas.openxmlformats.org/drawingml/2006/main">
              <a:ext uri="{FF2B5EF4-FFF2-40B4-BE49-F238E27FC236}">
                <a16:creationId xmlns:a16="http://schemas.microsoft.com/office/drawing/2014/main" id="{01ACAC9B-40FF-4344-A2BC-A2EBCB15032F}"/>
              </a:ext>
            </a:extLst>
          </p:cNvPr>
          <p:cNvSpPr>
            <a:spLocks xmlns:a="http://schemas.openxmlformats.org/drawingml/2006/main" noGrp="1"/>
          </p:cNvSpPr>
          <p:nvPr/>
        </p:nvSpPr>
        <p:spPr>
          <a:xfrm xmlns:a="http://schemas.openxmlformats.org/drawingml/2006/main">
            <a:off x="548640" y="1188720"/>
            <a:ext cx="3931920" cy="3291840"/>
          </a:xfrm>
          <a:prstGeom xmlns:a="http://schemas.openxmlformats.org/drawingml/2006/main" prst="roundRect">
            <a:avLst>
              <a:gd name="adj" fmla="val 4444"/>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4" name="Text 2">
            <a:extLst xmlns:a="http://schemas.openxmlformats.org/drawingml/2006/main">
              <a:ext uri="{FF2B5EF4-FFF2-40B4-BE49-F238E27FC236}">
                <a16:creationId xmlns:a16="http://schemas.microsoft.com/office/drawing/2014/main" id="{14389D5C-CB5F-46C1-9D77-0705CB98BD29}"/>
              </a:ext>
            </a:extLst>
          </p:cNvPr>
          <p:cNvSpPr>
            <a:spLocks xmlns:a="http://schemas.openxmlformats.org/drawingml/2006/main" noGrp="1"/>
          </p:cNvSpPr>
          <p:nvPr/>
        </p:nvSpPr>
        <p:spPr>
          <a:xfrm xmlns:a="http://schemas.openxmlformats.org/drawingml/2006/main">
            <a:off x="822960" y="1371600"/>
            <a:ext cx="3383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chemeClr val="tx2"/>
                </a:solidFill>
              </a:rPr>
              <a:t>What we learned</a:t>
            </a:r>
            <a:endParaRPr sz="1800"/>
          </a:p>
        </p:txBody>
      </p:sp>
      <p:sp>
        <p:nvSpPr>
          <p:cNvPr id="5" name="Number 1">
            <a:extLst xmlns:a="http://schemas.openxmlformats.org/drawingml/2006/main">
              <a:ext uri="{FF2B5EF4-FFF2-40B4-BE49-F238E27FC236}">
                <a16:creationId xmlns:a16="http://schemas.microsoft.com/office/drawing/2014/main" id="{A5694C0E-2096-455F-8046-DD280AA8B448}"/>
              </a:ext>
            </a:extLst>
          </p:cNvPr>
          <p:cNvSpPr>
            <a:spLocks xmlns:a="http://schemas.openxmlformats.org/drawingml/2006/main" noGrp="1"/>
          </p:cNvSpPr>
          <p:nvPr/>
        </p:nvSpPr>
        <p:spPr>
          <a:xfrm xmlns:a="http://schemas.openxmlformats.org/drawingml/2006/main">
            <a:off x="822960" y="1965960"/>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6" name="Text 4">
            <a:extLst xmlns:a="http://schemas.openxmlformats.org/drawingml/2006/main">
              <a:ext uri="{FF2B5EF4-FFF2-40B4-BE49-F238E27FC236}">
                <a16:creationId xmlns:a16="http://schemas.microsoft.com/office/drawing/2014/main" id="{D87F4458-6C67-4676-B52A-2A81DDE39E87}"/>
              </a:ext>
            </a:extLst>
          </p:cNvPr>
          <p:cNvSpPr>
            <a:spLocks xmlns:a="http://schemas.openxmlformats.org/drawingml/2006/main" noGrp="1"/>
          </p:cNvSpPr>
          <p:nvPr/>
        </p:nvSpPr>
        <p:spPr>
          <a:xfrm xmlns:a="http://schemas.openxmlformats.org/drawingml/2006/main">
            <a:off x="822960" y="196596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1</a:t>
            </a:r>
            <a:endParaRPr sz="1500"/>
          </a:p>
        </p:txBody>
      </p:sp>
      <p:sp>
        <p:nvSpPr>
          <p:cNvPr id="7" name="Text 5">
            <a:extLst xmlns:a="http://schemas.openxmlformats.org/drawingml/2006/main">
              <a:ext uri="{FF2B5EF4-FFF2-40B4-BE49-F238E27FC236}">
                <a16:creationId xmlns:a16="http://schemas.microsoft.com/office/drawing/2014/main" id="{10EA6077-F050-4BAF-9721-A4FE72D5F106}"/>
              </a:ext>
            </a:extLst>
          </p:cNvPr>
          <p:cNvSpPr>
            <a:spLocks xmlns:a="http://schemas.openxmlformats.org/drawingml/2006/main" noGrp="1"/>
          </p:cNvSpPr>
          <p:nvPr/>
        </p:nvSpPr>
        <p:spPr>
          <a:xfrm xmlns:a="http://schemas.openxmlformats.org/drawingml/2006/main">
            <a:off x="1417320" y="1920240"/>
            <a:ext cx="28346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tx1"/>
                </a:solidFill>
              </a:rPr>
              <a:t>Pixels + Random Forest led the eight: 87.61% accuracy, macro F1 0.8747.</a:t>
            </a:r>
            <a:endParaRPr sz="1300"/>
          </a:p>
        </p:txBody>
      </p:sp>
      <p:sp>
        <p:nvSpPr>
          <p:cNvPr id="8" name="Number 2">
            <a:extLst xmlns:a="http://schemas.openxmlformats.org/drawingml/2006/main">
              <a:ext uri="{FF2B5EF4-FFF2-40B4-BE49-F238E27FC236}">
                <a16:creationId xmlns:a16="http://schemas.microsoft.com/office/drawing/2014/main" id="{49EFB92F-DD0E-4E9F-9890-1CBAA0AFB8DC}"/>
              </a:ext>
            </a:extLst>
          </p:cNvPr>
          <p:cNvSpPr>
            <a:spLocks xmlns:a="http://schemas.openxmlformats.org/drawingml/2006/main" noGrp="1"/>
          </p:cNvSpPr>
          <p:nvPr/>
        </p:nvSpPr>
        <p:spPr>
          <a:xfrm xmlns:a="http://schemas.openxmlformats.org/drawingml/2006/main">
            <a:off x="822960" y="2770632"/>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9" name="Text 7">
            <a:extLst xmlns:a="http://schemas.openxmlformats.org/drawingml/2006/main">
              <a:ext uri="{FF2B5EF4-FFF2-40B4-BE49-F238E27FC236}">
                <a16:creationId xmlns:a16="http://schemas.microsoft.com/office/drawing/2014/main" id="{1273ADD2-6AC4-45CF-9216-E55C03884D25}"/>
              </a:ext>
            </a:extLst>
          </p:cNvPr>
          <p:cNvSpPr>
            <a:spLocks xmlns:a="http://schemas.openxmlformats.org/drawingml/2006/main" noGrp="1"/>
          </p:cNvSpPr>
          <p:nvPr/>
        </p:nvSpPr>
        <p:spPr>
          <a:xfrm xmlns:a="http://schemas.openxmlformats.org/drawingml/2006/main">
            <a:off x="822960" y="277063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2</a:t>
            </a:r>
            <a:endParaRPr sz="1500"/>
          </a:p>
        </p:txBody>
      </p:sp>
      <p:sp>
        <p:nvSpPr>
          <p:cNvPr id="10" name="Text 8">
            <a:extLst xmlns:a="http://schemas.openxmlformats.org/drawingml/2006/main">
              <a:ext uri="{FF2B5EF4-FFF2-40B4-BE49-F238E27FC236}">
                <a16:creationId xmlns:a16="http://schemas.microsoft.com/office/drawing/2014/main" id="{B33A92D4-0769-4CC0-8FA4-9E42FEFFF89E}"/>
              </a:ext>
            </a:extLst>
          </p:cNvPr>
          <p:cNvSpPr>
            <a:spLocks xmlns:a="http://schemas.openxmlformats.org/drawingml/2006/main" noGrp="1"/>
          </p:cNvSpPr>
          <p:nvPr/>
        </p:nvSpPr>
        <p:spPr>
          <a:xfrm xmlns:a="http://schemas.openxmlformats.org/drawingml/2006/main">
            <a:off x="1417320" y="2724912"/>
            <a:ext cx="28346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tx1"/>
                </a:solidFill>
              </a:rPr>
              <a:t>HOG helped Logistic Regression and Linear SVM a little, and hurt k-NN and Random Forest.</a:t>
            </a:r>
            <a:endParaRPr sz="1300"/>
          </a:p>
        </p:txBody>
      </p:sp>
      <p:sp>
        <p:nvSpPr>
          <p:cNvPr id="11" name="Number 3">
            <a:extLst xmlns:a="http://schemas.openxmlformats.org/drawingml/2006/main">
              <a:ext uri="{FF2B5EF4-FFF2-40B4-BE49-F238E27FC236}">
                <a16:creationId xmlns:a16="http://schemas.microsoft.com/office/drawing/2014/main" id="{078C34FA-5F16-4399-81AF-8503557AD9A5}"/>
              </a:ext>
            </a:extLst>
          </p:cNvPr>
          <p:cNvSpPr>
            <a:spLocks xmlns:a="http://schemas.openxmlformats.org/drawingml/2006/main" noGrp="1"/>
          </p:cNvSpPr>
          <p:nvPr/>
        </p:nvSpPr>
        <p:spPr>
          <a:xfrm xmlns:a="http://schemas.openxmlformats.org/drawingml/2006/main">
            <a:off x="822960" y="3575304"/>
            <a:ext cx="420624" cy="420624"/>
          </a:xfrm>
          <a:prstGeom xmlns:a="http://schemas.openxmlformats.org/drawingml/2006/main" prst="ellipse">
            <a:avLst/>
          </a:prstGeom>
          <a:solidFill xmlns:a="http://schemas.openxmlformats.org/drawingml/2006/main">
            <a:schemeClr val="tx2"/>
          </a:solidFill>
          <a:ln xmlns:a="http://schemas.openxmlformats.org/drawingml/2006/main" w="12700">
            <a:solidFill>
              <a:schemeClr val="tx2"/>
            </a:solidFill>
            <a:prstDash val="solid"/>
          </a:ln>
        </p:spPr>
      </p:sp>
      <p:sp>
        <p:nvSpPr>
          <p:cNvPr id="12" name="Text 10">
            <a:extLst xmlns:a="http://schemas.openxmlformats.org/drawingml/2006/main">
              <a:ext uri="{FF2B5EF4-FFF2-40B4-BE49-F238E27FC236}">
                <a16:creationId xmlns:a16="http://schemas.microsoft.com/office/drawing/2014/main" id="{D2540A45-5984-4A0A-A4FF-1DD15AEBF825}"/>
              </a:ext>
            </a:extLst>
          </p:cNvPr>
          <p:cNvSpPr>
            <a:spLocks xmlns:a="http://schemas.openxmlformats.org/drawingml/2006/main" noGrp="1"/>
          </p:cNvSpPr>
          <p:nvPr/>
        </p:nvSpPr>
        <p:spPr>
          <a:xfrm xmlns:a="http://schemas.openxmlformats.org/drawingml/2006/main">
            <a:off x="822960" y="3575304"/>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3</a:t>
            </a:r>
            <a:endParaRPr sz="1500"/>
          </a:p>
        </p:txBody>
      </p:sp>
      <p:sp>
        <p:nvSpPr>
          <p:cNvPr id="13" name="Text 11">
            <a:extLst xmlns:a="http://schemas.openxmlformats.org/drawingml/2006/main">
              <a:ext uri="{FF2B5EF4-FFF2-40B4-BE49-F238E27FC236}">
                <a16:creationId xmlns:a16="http://schemas.microsoft.com/office/drawing/2014/main" id="{B71957A2-3281-40DB-9721-03CE9FF8CCA1}"/>
              </a:ext>
            </a:extLst>
          </p:cNvPr>
          <p:cNvSpPr>
            <a:spLocks xmlns:a="http://schemas.openxmlformats.org/drawingml/2006/main" noGrp="1"/>
          </p:cNvSpPr>
          <p:nvPr/>
        </p:nvSpPr>
        <p:spPr>
          <a:xfrm xmlns:a="http://schemas.openxmlformats.org/drawingml/2006/main">
            <a:off x="1417320" y="3529584"/>
            <a:ext cx="28346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tx1"/>
                </a:solidFill>
              </a:rPr>
              <a:t>Shirts stay the hardest category.</a:t>
            </a:r>
            <a:endParaRPr sz="1300"/>
          </a:p>
        </p:txBody>
      </p:sp>
      <p:sp>
        <p:nvSpPr>
          <p:cNvPr id="14" name="Still open">
            <a:extLst xmlns:a="http://schemas.openxmlformats.org/drawingml/2006/main">
              <a:ext uri="{FF2B5EF4-FFF2-40B4-BE49-F238E27FC236}">
                <a16:creationId xmlns:a16="http://schemas.microsoft.com/office/drawing/2014/main" id="{1BCF1750-EDB9-4434-B2E2-EF19FB42F18C}"/>
              </a:ext>
            </a:extLst>
          </p:cNvPr>
          <p:cNvSpPr>
            <a:spLocks xmlns:a="http://schemas.openxmlformats.org/drawingml/2006/main" noGrp="1"/>
          </p:cNvSpPr>
          <p:nvPr/>
        </p:nvSpPr>
        <p:spPr>
          <a:xfrm xmlns:a="http://schemas.openxmlformats.org/drawingml/2006/main">
            <a:off x="4663440" y="1188720"/>
            <a:ext cx="3931920" cy="3291840"/>
          </a:xfrm>
          <a:prstGeom xmlns:a="http://schemas.openxmlformats.org/drawingml/2006/main" prst="roundRect">
            <a:avLst>
              <a:gd name="adj" fmla="val 4444"/>
            </a:avLst>
          </a:prstGeom>
          <a:solidFill xmlns:a="http://schemas.openxmlformats.org/drawingml/2006/main">
            <a:schemeClr val="bg1"/>
          </a:solidFill>
          <a:ln xmlns:a="http://schemas.openxmlformats.org/drawingml/2006/main" w="12700">
            <a:solidFill>
              <a:schemeClr val="bg1"/>
            </a:solidFill>
            <a:prstDash val="solid"/>
          </a:ln>
          <a:effectLst xmlns:a="http://schemas.openxmlformats.org/drawingml/2006/main">
            <a:outerShdw blurRad="101600" dist="25400" dir="5400000" sx="100000" sy="100000" kx="0" ky="0" algn="bl" rotWithShape="0">
              <a:srgbClr val="263340">
                <a:alpha val="12000"/>
              </a:srgbClr>
            </a:outerShdw>
          </a:effectLst>
        </p:spPr>
      </p:sp>
      <p:sp>
        <p:nvSpPr>
          <p:cNvPr id="15" name="Text 13">
            <a:extLst xmlns:a="http://schemas.openxmlformats.org/drawingml/2006/main">
              <a:ext uri="{FF2B5EF4-FFF2-40B4-BE49-F238E27FC236}">
                <a16:creationId xmlns:a16="http://schemas.microsoft.com/office/drawing/2014/main" id="{3B4BA3B7-14B1-45DC-B9BA-6BBDE6CA2913}"/>
              </a:ext>
            </a:extLst>
          </p:cNvPr>
          <p:cNvSpPr>
            <a:spLocks xmlns:a="http://schemas.openxmlformats.org/drawingml/2006/main" noGrp="1"/>
          </p:cNvSpPr>
          <p:nvPr/>
        </p:nvSpPr>
        <p:spPr>
          <a:xfrm xmlns:a="http://schemas.openxmlformats.org/drawingml/2006/main">
            <a:off x="4937760" y="1371600"/>
            <a:ext cx="3383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chemeClr val="accent1"/>
                </a:solidFill>
              </a:rPr>
              <a:t>Still open</a:t>
            </a:r>
            <a:endParaRPr sz="1800"/>
          </a:p>
        </p:txBody>
      </p:sp>
      <p:sp>
        <p:nvSpPr>
          <p:cNvPr id="16" name="Number 1">
            <a:extLst xmlns:a="http://schemas.openxmlformats.org/drawingml/2006/main">
              <a:ext uri="{FF2B5EF4-FFF2-40B4-BE49-F238E27FC236}">
                <a16:creationId xmlns:a16="http://schemas.microsoft.com/office/drawing/2014/main" id="{3EDAE411-D512-4C2A-A931-CF1E4CD37E75}"/>
              </a:ext>
            </a:extLst>
          </p:cNvPr>
          <p:cNvSpPr>
            <a:spLocks xmlns:a="http://schemas.openxmlformats.org/drawingml/2006/main" noGrp="1"/>
          </p:cNvSpPr>
          <p:nvPr/>
        </p:nvSpPr>
        <p:spPr>
          <a:xfrm xmlns:a="http://schemas.openxmlformats.org/drawingml/2006/main">
            <a:off x="4937760" y="1965960"/>
            <a:ext cx="420624" cy="420624"/>
          </a:xfrm>
          <a:prstGeom xmlns:a="http://schemas.openxmlformats.org/drawingml/2006/main" prst="ellipse">
            <a:avLst/>
          </a:prstGeom>
          <a:solidFill xmlns:a="http://schemas.openxmlformats.org/drawingml/2006/main">
            <a:schemeClr val="accent1"/>
          </a:solidFill>
          <a:ln xmlns:a="http://schemas.openxmlformats.org/drawingml/2006/main" w="12700">
            <a:solidFill>
              <a:schemeClr val="accent1"/>
            </a:solidFill>
            <a:prstDash val="solid"/>
          </a:ln>
        </p:spPr>
      </p:sp>
      <p:sp>
        <p:nvSpPr>
          <p:cNvPr id="17" name="Text 15">
            <a:extLst xmlns:a="http://schemas.openxmlformats.org/drawingml/2006/main">
              <a:ext uri="{FF2B5EF4-FFF2-40B4-BE49-F238E27FC236}">
                <a16:creationId xmlns:a16="http://schemas.microsoft.com/office/drawing/2014/main" id="{9CA7715C-A07B-438A-8D7C-E517F64EC1B2}"/>
              </a:ext>
            </a:extLst>
          </p:cNvPr>
          <p:cNvSpPr>
            <a:spLocks xmlns:a="http://schemas.openxmlformats.org/drawingml/2006/main" noGrp="1"/>
          </p:cNvSpPr>
          <p:nvPr/>
        </p:nvSpPr>
        <p:spPr>
          <a:xfrm xmlns:a="http://schemas.openxmlformats.org/drawingml/2006/main">
            <a:off x="4937760" y="196596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1</a:t>
            </a:r>
            <a:endParaRPr sz="1500"/>
          </a:p>
        </p:txBody>
      </p:sp>
      <p:sp>
        <p:nvSpPr>
          <p:cNvPr id="18" name="Text 16">
            <a:extLst xmlns:a="http://schemas.openxmlformats.org/drawingml/2006/main">
              <a:ext uri="{FF2B5EF4-FFF2-40B4-BE49-F238E27FC236}">
                <a16:creationId xmlns:a16="http://schemas.microsoft.com/office/drawing/2014/main" id="{9A03FCEF-9D4F-41E4-B257-852F25120B61}"/>
              </a:ext>
            </a:extLst>
          </p:cNvPr>
          <p:cNvSpPr>
            <a:spLocks xmlns:a="http://schemas.openxmlformats.org/drawingml/2006/main" noGrp="1"/>
          </p:cNvSpPr>
          <p:nvPr/>
        </p:nvSpPr>
        <p:spPr>
          <a:xfrm xmlns:a="http://schemas.openxmlformats.org/drawingml/2006/main">
            <a:off x="5532120" y="1920240"/>
            <a:ext cx="28346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tx1"/>
                </a:solidFill>
              </a:rPr>
              <a:t>We used one split and one seed, with a limited search.</a:t>
            </a:r>
            <a:endParaRPr sz="1300"/>
          </a:p>
        </p:txBody>
      </p:sp>
      <p:sp>
        <p:nvSpPr>
          <p:cNvPr id="19" name="Number 2">
            <a:extLst xmlns:a="http://schemas.openxmlformats.org/drawingml/2006/main">
              <a:ext uri="{FF2B5EF4-FFF2-40B4-BE49-F238E27FC236}">
                <a16:creationId xmlns:a16="http://schemas.microsoft.com/office/drawing/2014/main" id="{E5EF52F8-BFC5-491F-B6E7-8BEBB2BAB576}"/>
              </a:ext>
            </a:extLst>
          </p:cNvPr>
          <p:cNvSpPr>
            <a:spLocks xmlns:a="http://schemas.openxmlformats.org/drawingml/2006/main" noGrp="1"/>
          </p:cNvSpPr>
          <p:nvPr/>
        </p:nvSpPr>
        <p:spPr>
          <a:xfrm xmlns:a="http://schemas.openxmlformats.org/drawingml/2006/main">
            <a:off x="4937760" y="2770632"/>
            <a:ext cx="420624" cy="420624"/>
          </a:xfrm>
          <a:prstGeom xmlns:a="http://schemas.openxmlformats.org/drawingml/2006/main" prst="ellipse">
            <a:avLst/>
          </a:prstGeom>
          <a:solidFill xmlns:a="http://schemas.openxmlformats.org/drawingml/2006/main">
            <a:schemeClr val="accent1"/>
          </a:solidFill>
          <a:ln xmlns:a="http://schemas.openxmlformats.org/drawingml/2006/main" w="12700">
            <a:solidFill>
              <a:schemeClr val="accent1"/>
            </a:solidFill>
            <a:prstDash val="solid"/>
          </a:ln>
        </p:spPr>
      </p:sp>
      <p:sp>
        <p:nvSpPr>
          <p:cNvPr id="20" name="Text 18">
            <a:extLst xmlns:a="http://schemas.openxmlformats.org/drawingml/2006/main">
              <a:ext uri="{FF2B5EF4-FFF2-40B4-BE49-F238E27FC236}">
                <a16:creationId xmlns:a16="http://schemas.microsoft.com/office/drawing/2014/main" id="{39324D5A-BED4-47D4-B721-1083B51148C3}"/>
              </a:ext>
            </a:extLst>
          </p:cNvPr>
          <p:cNvSpPr>
            <a:spLocks xmlns:a="http://schemas.openxmlformats.org/drawingml/2006/main" noGrp="1"/>
          </p:cNvSpPr>
          <p:nvPr/>
        </p:nvSpPr>
        <p:spPr>
          <a:xfrm xmlns:a="http://schemas.openxmlformats.org/drawingml/2006/main">
            <a:off x="4937760" y="277063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2</a:t>
            </a:r>
            <a:endParaRPr sz="1500"/>
          </a:p>
        </p:txBody>
      </p:sp>
      <p:sp>
        <p:nvSpPr>
          <p:cNvPr id="21" name="Text 19">
            <a:extLst xmlns:a="http://schemas.openxmlformats.org/drawingml/2006/main">
              <a:ext uri="{FF2B5EF4-FFF2-40B4-BE49-F238E27FC236}">
                <a16:creationId xmlns:a16="http://schemas.microsoft.com/office/drawing/2014/main" id="{28BAEEE3-F122-4104-8918-9548C537AE2C}"/>
              </a:ext>
            </a:extLst>
          </p:cNvPr>
          <p:cNvSpPr>
            <a:spLocks xmlns:a="http://schemas.openxmlformats.org/drawingml/2006/main" noGrp="1"/>
          </p:cNvSpPr>
          <p:nvPr/>
        </p:nvSpPr>
        <p:spPr>
          <a:xfrm xmlns:a="http://schemas.openxmlformats.org/drawingml/2006/main">
            <a:off x="5532120" y="2724912"/>
            <a:ext cx="28346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tx1"/>
                </a:solidFill>
              </a:rPr>
              <a:t>Ordinary photos, near-duplicates and new categories are untested.</a:t>
            </a:r>
            <a:endParaRPr sz="1300"/>
          </a:p>
        </p:txBody>
      </p:sp>
      <p:sp>
        <p:nvSpPr>
          <p:cNvPr id="22" name="Number 3">
            <a:extLst xmlns:a="http://schemas.openxmlformats.org/drawingml/2006/main">
              <a:ext uri="{FF2B5EF4-FFF2-40B4-BE49-F238E27FC236}">
                <a16:creationId xmlns:a16="http://schemas.microsoft.com/office/drawing/2014/main" id="{BF0F530B-5AE6-4673-9684-0F710B326852}"/>
              </a:ext>
            </a:extLst>
          </p:cNvPr>
          <p:cNvSpPr>
            <a:spLocks xmlns:a="http://schemas.openxmlformats.org/drawingml/2006/main" noGrp="1"/>
          </p:cNvSpPr>
          <p:nvPr/>
        </p:nvSpPr>
        <p:spPr>
          <a:xfrm xmlns:a="http://schemas.openxmlformats.org/drawingml/2006/main">
            <a:off x="4937760" y="3575304"/>
            <a:ext cx="420624" cy="420624"/>
          </a:xfrm>
          <a:prstGeom xmlns:a="http://schemas.openxmlformats.org/drawingml/2006/main" prst="ellipse">
            <a:avLst/>
          </a:prstGeom>
          <a:solidFill xmlns:a="http://schemas.openxmlformats.org/drawingml/2006/main">
            <a:schemeClr val="accent1"/>
          </a:solidFill>
          <a:ln xmlns:a="http://schemas.openxmlformats.org/drawingml/2006/main" w="12700">
            <a:solidFill>
              <a:schemeClr val="accent1"/>
            </a:solidFill>
            <a:prstDash val="solid"/>
          </a:ln>
        </p:spPr>
      </p:sp>
      <p:sp>
        <p:nvSpPr>
          <p:cNvPr id="23" name="Text 21">
            <a:extLst xmlns:a="http://schemas.openxmlformats.org/drawingml/2006/main">
              <a:ext uri="{FF2B5EF4-FFF2-40B4-BE49-F238E27FC236}">
                <a16:creationId xmlns:a16="http://schemas.microsoft.com/office/drawing/2014/main" id="{86B01A41-4DB7-45A0-BA78-DF833960767D}"/>
              </a:ext>
            </a:extLst>
          </p:cNvPr>
          <p:cNvSpPr>
            <a:spLocks xmlns:a="http://schemas.openxmlformats.org/drawingml/2006/main" noGrp="1"/>
          </p:cNvSpPr>
          <p:nvPr/>
        </p:nvSpPr>
        <p:spPr>
          <a:xfrm xmlns:a="http://schemas.openxmlformats.org/drawingml/2006/main">
            <a:off x="4937760" y="3575304"/>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chemeClr val="bg1"/>
                </a:solidFill>
              </a:rPr>
              <a:t>3</a:t>
            </a:r>
            <a:endParaRPr sz="1500"/>
          </a:p>
        </p:txBody>
      </p:sp>
      <p:sp>
        <p:nvSpPr>
          <p:cNvPr id="24" name="Text 22">
            <a:extLst xmlns:a="http://schemas.openxmlformats.org/drawingml/2006/main">
              <a:ext uri="{FF2B5EF4-FFF2-40B4-BE49-F238E27FC236}">
                <a16:creationId xmlns:a16="http://schemas.microsoft.com/office/drawing/2014/main" id="{F1904C36-D831-403C-9AE5-283A4D6D82BF}"/>
              </a:ext>
            </a:extLst>
          </p:cNvPr>
          <p:cNvSpPr>
            <a:spLocks xmlns:a="http://schemas.openxmlformats.org/drawingml/2006/main" noGrp="1"/>
          </p:cNvSpPr>
          <p:nvPr/>
        </p:nvSpPr>
        <p:spPr>
          <a:xfrm xmlns:a="http://schemas.openxmlformats.org/drawingml/2006/main">
            <a:off x="5532120" y="3529584"/>
            <a:ext cx="28346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chemeClr val="tx1"/>
                </a:solidFill>
              </a:rPr>
              <a:t>Phase 2: a small CNN on the same split.</a:t>
            </a:r>
            <a:endParaRPr sz="1300"/>
          </a:p>
        </p:txBody>
      </p:sp>
      <p:sp>
        <p:nvSpPr>
          <p:cNvPr id="25" name="Slide Number Placeholder 0">
            <a:extLst xmlns:a="http://schemas.openxmlformats.org/drawingml/2006/main">
              <a:ext uri="{FF2B5EF4-FFF2-40B4-BE49-F238E27FC236}">
                <a16:creationId xmlns:a16="http://schemas.microsoft.com/office/drawing/2014/main" id="{3DF0AA77-2096-4CF7-A798-2D58503E99C0}"/>
              </a:ext>
            </a:extLst>
          </p:cNvPr>
          <p:cNvSpPr>
            <a:spLocks xmlns:a="http://schemas.openxmlformats.org/drawingml/2006/main" noGrp="1"/>
          </p:cNvSpPr>
          <p:nvPr>
            <p:ph type="sldNum" idx="4294967295"/>
          </p:nvPr>
        </p:nvSpPr>
        <p:spPr>
          <a:xfrm xmlns:a="http://schemas.openxmlformats.org/drawingml/2006/main">
            <a:off x="8229600" y="4754880"/>
            <a:ext cx="365760" cy="22860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5"/>
                </a:solidFill>
              </a:defRPr>
            </a:lvl1pPr>
          </a:lstStyle>
          <a:p xmlns:a="http://schemas.openxmlformats.org/drawingml/2006/main">
            <a:pPr algn="l">
              <a:buNone/>
            </a:pPr>
            <a:fld id="{F7021451-1387-4CA6-816F-3879F97B5CBC}" type="slidenum">
              <a:rPr b="0"/>
              <a:t>9</a:t>
            </a:fld>
            <a:endParaRPr/>
          </a:p>
        </p:txBody>
      </p:sp>
    </p:spTree>
    <p:extLst>
      <p:ext uri="{BB962C8B-B14F-4D97-AF65-F5344CB8AC3E}">
        <p14:creationId xmlns:p14="http://schemas.microsoft.com/office/powerpoint/2010/main" val="594518631"/>
      </p:ext>
    </p:extLst>
  </p:cSld>
</p:sld>
</file>

<file path=ppt/theme/theme1.xml><?xml version="1.0" encoding="utf-8"?>
<a:theme xmlns:a="http://schemas.openxmlformats.org/drawingml/2006/main" name="Quiet Slate">
  <a:themeElements>
    <a:clrScheme name="Quiet Slate">
      <a:dk1>
        <a:srgbClr val="263340"/>
      </a:dk1>
      <a:lt1>
        <a:srgbClr val="FFFFFF"/>
      </a:lt1>
      <a:dk2>
        <a:srgbClr val="3E5565"/>
      </a:dk2>
      <a:lt2>
        <a:srgbClr val="F3F5F7"/>
      </a:lt2>
      <a:accent1>
        <a:srgbClr val="C9785D"/>
      </a:accent1>
      <a:accent2>
        <a:srgbClr val="7C9BAA"/>
      </a:accent2>
      <a:accent3>
        <a:srgbClr val="DCE4E9"/>
      </a:accent3>
      <a:accent4>
        <a:srgbClr val="9AA5B1"/>
      </a:accent4>
      <a:accent5>
        <a:srgbClr val="B8C4CC"/>
      </a:accent5>
      <a:accent6>
        <a:srgbClr val="6B7A86"/>
      </a:accent6>
      <a:hlink>
        <a:srgbClr val="3E5565"/>
      </a:hlink>
      <a:folHlink>
        <a:srgbClr val="6B7A86"/>
      </a:folHlink>
    </a:clrScheme>
    <a:fontScheme name="Quiet S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Quiet Slat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Inventory Image Tagging - Phase 1</dc:title>
  <dc:subject>PptxGenJS Presentation</dc:subject>
  <dc:creator>Aryan, Divyanshu Singh, Jatin Kumar Singh, Jatin Verma, Kushagra Bhardwaj</dc:creator>
  <cp:lastModifiedBy>Aryan, Divyanshu Singh, Jatin Kumar Singh, Jatin Verma, Kushagra Bhardwaj</cp:lastModifiedBy>
  <cp:revision>1</cp:revision>
  <dcterms:created xsi:type="dcterms:W3CDTF">2026-10-26T20:49:28Z</dcterms:created>
  <dcterms:modified xsi:type="dcterms:W3CDTF">2026-10-26T20:49:28Z</dcterms:modified>
</cp:coreProperties>
</file>